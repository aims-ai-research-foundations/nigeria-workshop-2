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3"/>
    <p:sldMasterId id="2147483699" r:id="rId4"/>
    <p:sldMasterId id="2147483700" r:id="rId5"/>
    <p:sldMasterId id="214748370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y="6858000" cx="12192000"/>
  <p:notesSz cx="6858000" cy="9144000"/>
  <p:embeddedFontLst>
    <p:embeddedFont>
      <p:font typeface="Nunito"/>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Nunito-italic.fntdata"/><Relationship Id="rId61" Type="http://schemas.openxmlformats.org/officeDocument/2006/relationships/font" Target="fonts/Nunito-bold.fntdata"/><Relationship Id="rId20" Type="http://schemas.openxmlformats.org/officeDocument/2006/relationships/slide" Target="slides/slide13.xml"/><Relationship Id="rId63" Type="http://schemas.openxmlformats.org/officeDocument/2006/relationships/font" Target="fonts/Nunito-bold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Nunito-regular.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Z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Combined session, two parts: Part 1 Pedagogical Concepts (30 min) + Part 2 AI vs RI Activities (30 min). Week 1 splits the parts around lunch: close Part 1 on the recap slide, reopen after lunch with the Part 2 title slide. Week 2 runs them back-to-back.</a:t>
            </a:r>
            <a:endParaRPr/>
          </a:p>
        </p:txBody>
      </p:sp>
      <p:sp>
        <p:nvSpPr>
          <p:cNvPr id="321" name="Google Shape;321;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8" name="Google Shape;358;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 name="Google Shape;36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 name="Google Shape;423;p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1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p1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2" name="Google Shape;52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p1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8" name="Google Shape;548;p1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p1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p1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4" name="Google Shape;614;p1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Talk-through, not a handout (~3 min): read the two filled rows aloud, then ask the room to propose the missing Understand/Apply and Evaluate/Create entries verbally. Do not distribute paper.</a:t>
            </a:r>
            <a:endParaRPr/>
          </a:p>
        </p:txBody>
      </p:sp>
      <p:sp>
        <p:nvSpPr>
          <p:cNvPr id="634" name="Google Shape;634;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Part 2 opener. If delivering after the lunch split, re-anchor quickly with the two-ladders recap on the next slide before moving into the toolkit.</a:t>
            </a:r>
            <a:endParaRPr/>
          </a:p>
        </p:txBody>
      </p:sp>
      <p:sp>
        <p:nvSpPr>
          <p:cNvPr id="656" name="Google Shape;656;p17: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1" name="Google Shape;671;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2" name="Google Shape;672;p18: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Gloss if asked: the Conversational Framework is Diana Laurillard's (UCL) taxonomy of learning-activity types (acquisition, discussion, practice, production...). One sentence only — Bloom is today's focus. GCSB = Google Cloud Skills Boost, where students do the online Spotlight activities.</a:t>
            </a:r>
            <a:endParaRPr/>
          </a:p>
        </p:txBody>
      </p:sp>
      <p:sp>
        <p:nvSpPr>
          <p:cNvPr id="714" name="Google Shape;714;p19: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f734bca4e0_2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1" name="Google Shape;721;g3f734bca4e0_2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ZA"/>
              <a:t>TRANSFER: insert after the slide titled 'The Toolkit on UCL Extend' (local deck #20, the site-tree slide). First of three screenshot slides from this pack; keep them in pack order, between the tree slide and the 'One home for everything: UCL Extend' counts slide.</a:t>
            </a:r>
            <a:endParaRPr/>
          </a:p>
          <a:p>
            <a:pPr indent="0" lvl="0" marL="0" rtl="0" algn="l">
              <a:spcBef>
                <a:spcPts val="0"/>
              </a:spcBef>
              <a:spcAft>
                <a:spcPts val="0"/>
              </a:spcAft>
              <a:buNone/>
            </a:pPr>
            <a:r>
              <a:rPr lang="en-ZA"/>
              <a:t>1 min. The live course page, captured 2026-08-16: UCL and AIMS, with support from Google.org, hosted by the UCL Centre for Engineering Education. The tree on the previous slide is this single course page, live with all ten sessions. Access for participants: enrolment details are shared during the workshop; never show an enrolment key on screen.</a:t>
            </a:r>
            <a:endParaRPr/>
          </a:p>
        </p:txBody>
      </p:sp>
      <p:sp>
        <p:nvSpPr>
          <p:cNvPr id="722" name="Google Shape;722;g3f734bca4e0_2_75:notes"/>
          <p:cNvSpPr txBox="1"/>
          <p:nvPr>
            <p:ph idx="12" type="sldNum"/>
          </p:nvPr>
        </p:nvSpPr>
        <p:spPr>
          <a:xfrm>
            <a:off x="0" y="0"/>
            <a:ext cx="3000000" cy="30000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f734bca4e0_2_8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9" name="Google Shape;729;g3f734bca4e0_2_8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ZA"/>
              <a:t>TRANSFER: insert directly after 'UCL Extend: the toolkit's home' from this pack.</a:t>
            </a:r>
            <a:endParaRPr/>
          </a:p>
          <a:p>
            <a:pPr indent="0" lvl="0" marL="0" rtl="0" algn="l">
              <a:spcBef>
                <a:spcPts val="0"/>
              </a:spcBef>
              <a:spcAft>
                <a:spcPts val="0"/>
              </a:spcAft>
              <a:buNone/>
            </a:pPr>
            <a:r>
              <a:rPr lang="en-ZA"/>
              <a:t>1 min. The whole toolkit is one course page: a section per session (Session 0 to Session 9), plus the Google DeepMind course links, Assessment, How to use this toolkit, Templates and design files, and License. Each section expands in place. Captured 2026-08-16 with all ten sessions live (the site held only Session 5 until UCL's end-of-July upload).</a:t>
            </a:r>
            <a:endParaRPr/>
          </a:p>
        </p:txBody>
      </p:sp>
      <p:sp>
        <p:nvSpPr>
          <p:cNvPr id="730" name="Google Shape;730;g3f734bca4e0_2_83:notes"/>
          <p:cNvSpPr txBox="1"/>
          <p:nvPr>
            <p:ph idx="12" type="sldNum"/>
          </p:nvPr>
        </p:nvSpPr>
        <p:spPr>
          <a:xfrm>
            <a:off x="0" y="0"/>
            <a:ext cx="3000000" cy="30000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f734bca4e0_2_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8" name="Google Shape;738;g3f734bca4e0_2_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ZA"/>
              <a:t>TRANSFER: insert directly after 'Ten sessions, one page each' from this pack, so the three screenshot slides sit between the tree slide and the counts slide ('One home for everything: UCL Extend').</a:t>
            </a:r>
            <a:endParaRPr/>
          </a:p>
          <a:p>
            <a:pPr indent="0" lvl="0" marL="0" rtl="0" algn="l">
              <a:spcBef>
                <a:spcPts val="0"/>
              </a:spcBef>
              <a:spcAft>
                <a:spcPts val="0"/>
              </a:spcAft>
              <a:buNone/>
            </a:pPr>
            <a:r>
              <a:rPr lang="en-ZA"/>
              <a:t>2 min. Inside Session 5, the format every session follows: session intro and aims, spotlight pre-learning, then the resources: the session slide-deck (5.1), ten activity files 5.2 to 5.11 spanning AI and RI at Short, Medium and Long, handouts and Student/Teacher lab notebooks under Resources, and duplicable learning designs (a master plus 3-hour and 1-hour exemplars). Caution: live counts on 2026-08-16 were 10 slide-decks and 20 notebooks (10 Student+Teacher pairs, including 0.6A and 1.5); deck slide 21 says 21 notebook files and slide 23 lists 8 labs. Re-check before quoting numbers.</a:t>
            </a:r>
            <a:endParaRPr/>
          </a:p>
        </p:txBody>
      </p:sp>
      <p:sp>
        <p:nvSpPr>
          <p:cNvPr id="739" name="Google Shape;739;g3f734bca4e0_2_91:notes"/>
          <p:cNvSpPr txBox="1"/>
          <p:nvPr>
            <p:ph idx="12" type="sldNum"/>
          </p:nvPr>
        </p:nvSpPr>
        <p:spPr>
          <a:xfrm>
            <a:off x="0" y="0"/>
            <a:ext cx="3000000" cy="30000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1" name="Google Shape;751;p21: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5" name="Google Shape;775;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Make the link explicit here (it returns as takeaway 02): longer formats climb Bloom — Short activities sit around Understand/Apply, Medium around Analyze/Evaluate, Long (with notebooks) reach Create.</a:t>
            </a:r>
            <a:endParaRPr/>
          </a:p>
        </p:txBody>
      </p:sp>
      <p:sp>
        <p:nvSpPr>
          <p:cNvPr id="776" name="Google Shape;776;p22: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4" name="Google Shape;794;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24: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1" name="Google Shape;811;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2" name="Google Shape;812;p25: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p26: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8" name="Google Shape;848;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9" name="Google Shape;849;p27: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7" name="Google Shape;867;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8" name="Google Shape;868;p28: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6" name="Google Shape;886;p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7" name="Google Shape;887;p29: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6" name="Google Shape;906;p30: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4" name="Google Shape;924;p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31: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7" name="Google Shape;947;p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TODO before delivery: this QR code is still the PILOT Mentimeter. Build the Nigeria Mentimeter from the 10-question 'Quizz' bank (classify: AI or RI + Bloom level) in the AI vs RI activities Drive folder, then replace this QR. Timing: cap the live run at ~5 questions (~5 min) — the full bank of 10 does not fit the 30-min half.</a:t>
            </a:r>
            <a:endParaRPr/>
          </a:p>
        </p:txBody>
      </p:sp>
      <p:sp>
        <p:nvSpPr>
          <p:cNvPr id="948" name="Google Shape;948;p32: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f6b7876707_0_2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4" name="Google Shape;954;g3f6b7876707_0_2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A = AI Activity / Apply.</a:t>
            </a:r>
            <a:endParaRPr/>
          </a:p>
        </p:txBody>
      </p:sp>
      <p:sp>
        <p:nvSpPr>
          <p:cNvPr id="955" name="Google Shape;955;g3f6b7876707_0_2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f6b7876707_0_3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6" name="Google Shape;966;g3f6b7876707_0_3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A = AI Activity / Apply. A coding task executing a known, specified procedure (the BPE algorithm). RI/Apply: wrong type (pure tech, no stakeholders) and an impossible pairing (Apply is cognitive). AI/Respond: impossible pairing (Respond is affective). AI/Create: level too high; implementing a given algorithm is applying a procedure, not designing a new scheme.</a:t>
            </a:r>
            <a:endParaRPr/>
          </a:p>
        </p:txBody>
      </p:sp>
      <p:sp>
        <p:nvSpPr>
          <p:cNvPr id="967" name="Google Shape;967;g3f6b7876707_0_3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3f6b7876707_0_3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8" name="Google Shape;978;g3f6b7876707_0_3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B = RI Activity / Respond.</a:t>
            </a:r>
            <a:endParaRPr/>
          </a:p>
        </p:txBody>
      </p:sp>
      <p:sp>
        <p:nvSpPr>
          <p:cNvPr id="979" name="Google Shape;979;g3f6b7876707_0_3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f6b7876707_0_3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0" name="Google Shape;990;g3f6b7876707_0_3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B = RI Activity / Respond. Participants engage with a provided framing (the Fair Trade analogy) in a structured discussion: that is Responding. AI/Value: wrong type and impossible pairing (Value is affective). RI/Value: level too high; the discussion is scaffolded by a given analogy, no own position is demanded yet. AI/Analyze: wrong type; no model, code or measurement is touched.</a:t>
            </a:r>
            <a:endParaRPr/>
          </a:p>
        </p:txBody>
      </p:sp>
      <p:sp>
        <p:nvSpPr>
          <p:cNvPr id="991" name="Google Shape;991;g3f6b7876707_0_3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3f6b7876707_0_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2" name="Google Shape;1002;g3f6b7876707_0_3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B = AI Activity / Analyze.</a:t>
            </a:r>
            <a:endParaRPr/>
          </a:p>
        </p:txBody>
      </p:sp>
      <p:sp>
        <p:nvSpPr>
          <p:cNvPr id="1003" name="Google Shape;1003;g3f6b7876707_0_3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f6b7876707_0_3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4" name="Google Shape;1014;g3f6b7876707_0_3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B = AI Activity / Analyze. Differentiating and diagnosing patterns across cases is textbook Analyze. AI/Apply: level too low, nothing is executed; the work is comparison and diagnosis. RI/Value: wrong type; purely technical, no human-impact dimension. AI/Value: impossible pairing (Value is affective).</a:t>
            </a:r>
            <a:endParaRPr/>
          </a:p>
        </p:txBody>
      </p:sp>
      <p:sp>
        <p:nvSpPr>
          <p:cNvPr id="1015" name="Google Shape;1015;g3f6b7876707_0_3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f6b7876707_0_3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6" name="Google Shape;1026;g3f6b7876707_0_3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D = RI Activity / Value.</a:t>
            </a:r>
            <a:endParaRPr/>
          </a:p>
        </p:txBody>
      </p:sp>
      <p:sp>
        <p:nvSpPr>
          <p:cNvPr id="1027" name="Google Shape;1027;g3f6b7876707_0_3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f6b7876707_0_3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8" name="Google Shape;1038;g3f6b7876707_0_3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D = RI Activity / Value. Articulating what the idea means for your own institution is attaching worth to it: Valuing. AI/Understand: wrong type; the task is about significance for your community, not how the tech works. RI/Respond: level too low; participants must own a position. AI/Respond: wrong type and impossible pairing.</a:t>
            </a:r>
            <a:endParaRPr/>
          </a:p>
        </p:txBody>
      </p:sp>
      <p:sp>
        <p:nvSpPr>
          <p:cNvPr id="1039" name="Google Shape;1039;g3f6b7876707_0_3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f6b7876707_0_3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0" name="Google Shape;1050;g3f6b7876707_0_3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A = AI Activity / Apply.</a:t>
            </a:r>
            <a:endParaRPr/>
          </a:p>
        </p:txBody>
      </p:sp>
      <p:sp>
        <p:nvSpPr>
          <p:cNvPr id="1051" name="Google Shape;1051;g3f6b7876707_0_3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f6b7876707_0_3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2" name="Google Shape;1062;g3f6b7876707_0_3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A = AI Activity / Apply. Carrying out estimation procedures and running an experiment: Apply. RI/Respond: wrong type; a compute-budget exercise with no stakeholder reflection. AI/Understand: level too low; participants calculate and experiment, not just explain. AI/Organize: impossible pairing (Organize is affective).</a:t>
            </a:r>
            <a:endParaRPr/>
          </a:p>
        </p:txBody>
      </p:sp>
      <p:sp>
        <p:nvSpPr>
          <p:cNvPr id="1063" name="Google Shape;1063;g3f6b7876707_0_3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f6b7876707_0_4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4" name="Google Shape;1074;g3f6b7876707_0_4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C = RI Activity / Organize.</a:t>
            </a:r>
            <a:endParaRPr/>
          </a:p>
        </p:txBody>
      </p:sp>
      <p:sp>
        <p:nvSpPr>
          <p:cNvPr id="1075" name="Google Shape;1075;g3f6b7876707_0_4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f6b7876707_0_4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6" name="Google Shape;1086;g3f6b7876707_0_4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C = RI Activity / Organize. Turning a representation gap into a concrete inclusion proposal means prioritising and integrating values into a plan of action: Organization. AI/Analyze: wrong type; the gap is about communities and representation, not model mechanics. RI/Respond: level too low; a structured proposal is demanded. AI/Organize: impossible pairing and wrong type.</a:t>
            </a:r>
            <a:endParaRPr/>
          </a:p>
        </p:txBody>
      </p:sp>
      <p:sp>
        <p:nvSpPr>
          <p:cNvPr id="1087" name="Google Shape;1087;g3f6b7876707_0_4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3f6b7876707_0_4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8" name="Google Shape;1098;g3f6b7876707_0_4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B = AI Activity / Apply.</a:t>
            </a:r>
            <a:endParaRPr/>
          </a:p>
        </p:txBody>
      </p:sp>
      <p:sp>
        <p:nvSpPr>
          <p:cNvPr id="1099" name="Google Shape;1099;g3f6b7876707_0_4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f6b7876707_0_4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0" name="Google Shape;1110;g3f6b7876707_0_4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B = AI Activity / Apply. Hands-on implementation of a known technique on a dataset: Apply. AI/Understand: level too low; building and fine-tuning, not explaining. RI/Apply: wrong type (a technical build, despite the local-language dataset) and impossible pairing. AI/Value: impossible pairing (Value is affective).</a:t>
            </a:r>
            <a:endParaRPr/>
          </a:p>
        </p:txBody>
      </p:sp>
      <p:sp>
        <p:nvSpPr>
          <p:cNvPr id="1111" name="Google Shape;1111;g3f6b7876707_0_4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3f6b7876707_0_4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2" name="Google Shape;1122;g3f6b7876707_0_4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D = RI Activity / Value.</a:t>
            </a:r>
            <a:endParaRPr/>
          </a:p>
        </p:txBody>
      </p:sp>
      <p:sp>
        <p:nvSpPr>
          <p:cNvPr id="1123" name="Google Shape;1123;g3f6b7876707_0_4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f6b7876707_0_4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4" name="Google Shape;1134;g3f6b7876707_0_4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D = RI Activity / Value. Each role must adopt and defend a position about what matters (patient safety, duty of care, accountability): committing to worth is Valuing. AI/Analyze: tempting because the premise contains a technical flaw (no validation set), but the task is the human-impact negotiation. AI/Value: impossible pairing. RI/Respond: level too low; participants advocate and defend value positions in role.</a:t>
            </a:r>
            <a:endParaRPr/>
          </a:p>
        </p:txBody>
      </p:sp>
      <p:sp>
        <p:nvSpPr>
          <p:cNvPr id="1135" name="Google Shape;1135;g3f6b7876707_0_4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f6b7876707_0_4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6" name="Google Shape;1146;g3f6b7876707_0_4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B = AI Activity / Create.</a:t>
            </a:r>
            <a:endParaRPr/>
          </a:p>
        </p:txBody>
      </p:sp>
      <p:sp>
        <p:nvSpPr>
          <p:cNvPr id="1147" name="Google Shape;1147;g3f6b7876707_0_4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3f6b7876707_0_4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8" name="Google Shape;1158;g3f6b7876707_0_4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B = AI Activity / Create. Producing and justifying a new design for a new task is Create. AI/Apply: level too low; no given recipe is executed, the architecture is the participant's own construction. RI/Analyze: wrong type (design is technical) and impossible pairing (Analyze is cognitive). AI/Organize: impossible pairing (Organize is affective).</a:t>
            </a:r>
            <a:endParaRPr/>
          </a:p>
        </p:txBody>
      </p:sp>
      <p:sp>
        <p:nvSpPr>
          <p:cNvPr id="1159" name="Google Shape;1159;g3f6b7876707_0_4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3f6b7876707_0_4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0" name="Google Shape;1170;g3f6b7876707_0_4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Give the room about 45 seconds; vote A/B/C/D by show of hands. Correct answer (revealed in green on the next slide): D = RI Activity / Organize.</a:t>
            </a:r>
            <a:endParaRPr/>
          </a:p>
        </p:txBody>
      </p:sp>
      <p:sp>
        <p:nvSpPr>
          <p:cNvPr id="1171" name="Google Shape;1171;g3f6b7876707_0_4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3f6b7876707_0_5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2" name="Google Shape;1182;g3f6b7876707_0_5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ZA" sz="1200" u="none" cap="none" strike="noStrike">
                <a:solidFill>
                  <a:schemeClr val="dk1"/>
                </a:solidFill>
                <a:latin typeface="Arial"/>
                <a:ea typeface="Arial"/>
                <a:cs typeface="Arial"/>
                <a:sym typeface="Arial"/>
              </a:rPr>
              <a:t>Correct: D = RI Activity / Organize. Reconciling multiple stakeholders' interests into one coherent engagement plan is integrating values into a system: Organization. AI/Create: wrong type; nothing technical is built, the deliverable is a stakeholder-and-values plan. RI/Respond: level too low; the plan must synthesise competing interests. RI/Value: slightly too low; several stakeholders' values are organised into a structured plan, not just one commitment.</a:t>
            </a:r>
            <a:endParaRPr/>
          </a:p>
        </p:txBody>
      </p:sp>
      <p:sp>
        <p:nvSpPr>
          <p:cNvPr id="1183" name="Google Shape;1183;g3f6b7876707_0_5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4" name="Google Shape;1194;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5" name="Google Shape;1195;p34:notes"/>
          <p:cNvSpPr txBox="1"/>
          <p:nvPr>
            <p:ph idx="12" type="sldNum"/>
          </p:nvPr>
        </p:nvSpPr>
        <p:spPr>
          <a:xfrm>
            <a:off x="3884613" y="8685213"/>
            <a:ext cx="29721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7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00"/>
          </a:xfrm>
          <a:prstGeom prst="rect">
            <a:avLst/>
          </a:prstGeom>
          <a:noFill/>
          <a:ln>
            <a:noFill/>
          </a:ln>
        </p:spPr>
        <p:txBody>
          <a:bodyPr anchorCtr="0" anchor="t" bIns="0" lIns="0" spcFirstLastPara="1" rIns="0" wrap="square" tIns="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4"/>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 type="body"/>
          </p:nvPr>
        </p:nvSpPr>
        <p:spPr>
          <a:xfrm>
            <a:off x="839788" y="1681163"/>
            <a:ext cx="5157900" cy="8238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900" cy="368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00" cy="8238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00" cy="368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100" cy="16002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3200"/>
              <a:buNone/>
              <a:defRPr sz="3200"/>
            </a:lvl1pPr>
            <a:lvl2pPr indent="-228600" lvl="1" marL="914400" algn="l">
              <a:lnSpc>
                <a:spcPct val="90000"/>
              </a:lnSpc>
              <a:spcBef>
                <a:spcPts val="500"/>
              </a:spcBef>
              <a:spcAft>
                <a:spcPts val="0"/>
              </a:spcAft>
              <a:buClr>
                <a:schemeClr val="dk1"/>
              </a:buClr>
              <a:buSzPts val="2800"/>
              <a:buNone/>
              <a:defRPr sz="2800"/>
            </a:lvl2pPr>
            <a:lvl3pPr indent="-228600" lvl="2" marL="1371600" algn="l">
              <a:lnSpc>
                <a:spcPct val="90000"/>
              </a:lnSpc>
              <a:spcBef>
                <a:spcPts val="500"/>
              </a:spcBef>
              <a:spcAft>
                <a:spcPts val="0"/>
              </a:spcAft>
              <a:buClr>
                <a:schemeClr val="dk1"/>
              </a:buClr>
              <a:buSzPts val="2400"/>
              <a:buNone/>
              <a:defRPr sz="2400"/>
            </a:lvl3pPr>
            <a:lvl4pPr indent="-228600" lvl="3" marL="1828800" algn="l">
              <a:lnSpc>
                <a:spcPct val="90000"/>
              </a:lnSpc>
              <a:spcBef>
                <a:spcPts val="500"/>
              </a:spcBef>
              <a:spcAft>
                <a:spcPts val="0"/>
              </a:spcAft>
              <a:buClr>
                <a:schemeClr val="dk1"/>
              </a:buClr>
              <a:buSzPts val="2000"/>
              <a:buNone/>
              <a:defRPr sz="2000"/>
            </a:lvl4pPr>
            <a:lvl5pPr indent="-228600" lvl="4" marL="2286000" algn="l">
              <a:lnSpc>
                <a:spcPct val="90000"/>
              </a:lnSpc>
              <a:spcBef>
                <a:spcPts val="500"/>
              </a:spcBef>
              <a:spcAft>
                <a:spcPts val="0"/>
              </a:spcAft>
              <a:buClr>
                <a:schemeClr val="dk1"/>
              </a:buClr>
              <a:buSzPts val="2000"/>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100" cy="16002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5183188" y="987425"/>
            <a:ext cx="6172200" cy="4873500"/>
          </a:xfrm>
          <a:prstGeom prst="rect">
            <a:avLst/>
          </a:prstGeom>
          <a:noFill/>
          <a:ln>
            <a:noFill/>
          </a:ln>
        </p:spPr>
      </p:sp>
      <p:sp>
        <p:nvSpPr>
          <p:cNvPr id="68" name="Google Shape;68;p10"/>
          <p:cNvSpPr txBox="1"/>
          <p:nvPr>
            <p:ph idx="1"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4075950" y="-1100943"/>
            <a:ext cx="4040100" cy="10515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00" y="1956625"/>
            <a:ext cx="5811900" cy="2628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1799400" y="-596075"/>
            <a:ext cx="5811900" cy="7734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84" name="Shape 84"/>
        <p:cNvGrpSpPr/>
        <p:nvPr/>
      </p:nvGrpSpPr>
      <p:grpSpPr>
        <a:xfrm>
          <a:off x="0" y="0"/>
          <a:ext cx="0" cy="0"/>
          <a:chOff x="0" y="0"/>
          <a:chExt cx="0" cy="0"/>
        </a:xfrm>
      </p:grpSpPr>
      <p:pic>
        <p:nvPicPr>
          <p:cNvPr id="85" name="Google Shape;85;p13"/>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6" name="Shape 8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3" name="Shape 93"/>
        <p:cNvGrpSpPr/>
        <p:nvPr/>
      </p:nvGrpSpPr>
      <p:grpSpPr>
        <a:xfrm>
          <a:off x="0" y="0"/>
          <a:ext cx="0" cy="0"/>
          <a:chOff x="0" y="0"/>
          <a:chExt cx="0" cy="0"/>
        </a:xfrm>
      </p:grpSpPr>
      <p:sp>
        <p:nvSpPr>
          <p:cNvPr id="94" name="Google Shape;94;p16"/>
          <p:cNvSpPr txBox="1"/>
          <p:nvPr>
            <p:ph type="ctrTitle"/>
          </p:nvPr>
        </p:nvSpPr>
        <p:spPr>
          <a:xfrm>
            <a:off x="1524000" y="1122363"/>
            <a:ext cx="9144000" cy="23877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95" name="Google Shape;95;p16"/>
          <p:cNvSpPr txBox="1"/>
          <p:nvPr>
            <p:ph idx="1" type="subTitle"/>
          </p:nvPr>
        </p:nvSpPr>
        <p:spPr>
          <a:xfrm>
            <a:off x="1524000" y="3602038"/>
            <a:ext cx="9144000" cy="1655700"/>
          </a:xfrm>
          <a:prstGeom prst="rect">
            <a:avLst/>
          </a:prstGeom>
          <a:noFill/>
          <a:ln>
            <a:noFill/>
          </a:ln>
        </p:spPr>
        <p:txBody>
          <a:bodyPr anchorCtr="0" anchor="t" bIns="0" lIns="0" spcFirstLastPara="1" rIns="0" wrap="square" tIns="0">
            <a:noAutofit/>
          </a:bodyPr>
          <a:lstStyle>
            <a:lvl1pPr lvl="0" algn="ctr">
              <a:lnSpc>
                <a:spcPct val="90000"/>
              </a:lnSpc>
              <a:spcBef>
                <a:spcPts val="11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96" name="Google Shape;96;p16"/>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97" name="Google Shape;97;p16"/>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98" name="Google Shape;98;p16"/>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9" name="Shape 99"/>
        <p:cNvGrpSpPr/>
        <p:nvPr/>
      </p:nvGrpSpPr>
      <p:grpSpPr>
        <a:xfrm>
          <a:off x="0" y="0"/>
          <a:ext cx="0" cy="0"/>
          <a:chOff x="0" y="0"/>
          <a:chExt cx="0" cy="0"/>
        </a:xfrm>
      </p:grpSpPr>
      <p:sp>
        <p:nvSpPr>
          <p:cNvPr id="100" name="Google Shape;100;p17"/>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1" name="Google Shape;101;p17"/>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02" name="Google Shape;102;p17"/>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3" name="Google Shape;103;p17"/>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4" name="Google Shape;104;p17"/>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5" name="Shape 105"/>
        <p:cNvGrpSpPr/>
        <p:nvPr/>
      </p:nvGrpSpPr>
      <p:grpSpPr>
        <a:xfrm>
          <a:off x="0" y="0"/>
          <a:ext cx="0" cy="0"/>
          <a:chOff x="0" y="0"/>
          <a:chExt cx="0" cy="0"/>
        </a:xfrm>
      </p:grpSpPr>
      <p:sp>
        <p:nvSpPr>
          <p:cNvPr id="106" name="Google Shape;106;p18"/>
          <p:cNvSpPr txBox="1"/>
          <p:nvPr>
            <p:ph type="title"/>
          </p:nvPr>
        </p:nvSpPr>
        <p:spPr>
          <a:xfrm>
            <a:off x="831850" y="1709738"/>
            <a:ext cx="10515600" cy="28527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7" name="Google Shape;107;p18"/>
          <p:cNvSpPr txBox="1"/>
          <p:nvPr>
            <p:ph idx="1" type="body"/>
          </p:nvPr>
        </p:nvSpPr>
        <p:spPr>
          <a:xfrm>
            <a:off x="831850" y="4589463"/>
            <a:ext cx="10515600" cy="1500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900"/>
              <a:buNone/>
              <a:defRPr sz="19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08" name="Google Shape;108;p18"/>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9" name="Google Shape;109;p18"/>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0" name="Google Shape;110;p18"/>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1" name="Shape 111"/>
        <p:cNvGrpSpPr/>
        <p:nvPr/>
      </p:nvGrpSpPr>
      <p:grpSpPr>
        <a:xfrm>
          <a:off x="0" y="0"/>
          <a:ext cx="0" cy="0"/>
          <a:chOff x="0" y="0"/>
          <a:chExt cx="0" cy="0"/>
        </a:xfrm>
      </p:grpSpPr>
      <p:sp>
        <p:nvSpPr>
          <p:cNvPr id="112" name="Google Shape;112;p19"/>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3" name="Google Shape;113;p19"/>
          <p:cNvSpPr txBox="1"/>
          <p:nvPr>
            <p:ph idx="1" type="body"/>
          </p:nvPr>
        </p:nvSpPr>
        <p:spPr>
          <a:xfrm>
            <a:off x="838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14" name="Google Shape;114;p19"/>
          <p:cNvSpPr txBox="1"/>
          <p:nvPr>
            <p:ph idx="2" type="body"/>
          </p:nvPr>
        </p:nvSpPr>
        <p:spPr>
          <a:xfrm>
            <a:off x="6172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15" name="Google Shape;115;p19"/>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6" name="Google Shape;116;p19"/>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7" name="Google Shape;117;p19"/>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8" name="Shape 118"/>
        <p:cNvGrpSpPr/>
        <p:nvPr/>
      </p:nvGrpSpPr>
      <p:grpSpPr>
        <a:xfrm>
          <a:off x="0" y="0"/>
          <a:ext cx="0" cy="0"/>
          <a:chOff x="0" y="0"/>
          <a:chExt cx="0" cy="0"/>
        </a:xfrm>
      </p:grpSpPr>
      <p:sp>
        <p:nvSpPr>
          <p:cNvPr id="119" name="Google Shape;119;p20"/>
          <p:cNvSpPr txBox="1"/>
          <p:nvPr>
            <p:ph type="title"/>
          </p:nvPr>
        </p:nvSpPr>
        <p:spPr>
          <a:xfrm>
            <a:off x="839788" y="365125"/>
            <a:ext cx="10515600" cy="1325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0" name="Google Shape;120;p20"/>
          <p:cNvSpPr txBox="1"/>
          <p:nvPr>
            <p:ph idx="1" type="body"/>
          </p:nvPr>
        </p:nvSpPr>
        <p:spPr>
          <a:xfrm>
            <a:off x="839788" y="1681163"/>
            <a:ext cx="5157900" cy="8241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1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900"/>
              <a:buNone/>
              <a:defRPr b="1" sz="19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1" name="Google Shape;121;p20"/>
          <p:cNvSpPr txBox="1"/>
          <p:nvPr>
            <p:ph idx="2" type="body"/>
          </p:nvPr>
        </p:nvSpPr>
        <p:spPr>
          <a:xfrm>
            <a:off x="839788" y="2505075"/>
            <a:ext cx="5157900" cy="36849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22" name="Google Shape;122;p20"/>
          <p:cNvSpPr txBox="1"/>
          <p:nvPr>
            <p:ph idx="3" type="body"/>
          </p:nvPr>
        </p:nvSpPr>
        <p:spPr>
          <a:xfrm>
            <a:off x="6172200" y="1681163"/>
            <a:ext cx="5183100" cy="8241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1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900"/>
              <a:buNone/>
              <a:defRPr b="1" sz="19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3" name="Google Shape;123;p20"/>
          <p:cNvSpPr txBox="1"/>
          <p:nvPr>
            <p:ph idx="4" type="body"/>
          </p:nvPr>
        </p:nvSpPr>
        <p:spPr>
          <a:xfrm>
            <a:off x="6172200" y="2505075"/>
            <a:ext cx="5183100" cy="36849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24" name="Google Shape;124;p20"/>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5" name="Google Shape;125;p20"/>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6" name="Google Shape;126;p20"/>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7" name="Shape 127"/>
        <p:cNvGrpSpPr/>
        <p:nvPr/>
      </p:nvGrpSpPr>
      <p:grpSpPr>
        <a:xfrm>
          <a:off x="0" y="0"/>
          <a:ext cx="0" cy="0"/>
          <a:chOff x="0" y="0"/>
          <a:chExt cx="0" cy="0"/>
        </a:xfrm>
      </p:grpSpPr>
      <p:sp>
        <p:nvSpPr>
          <p:cNvPr id="128" name="Google Shape;128;p21"/>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9" name="Google Shape;129;p21"/>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0" name="Google Shape;130;p21"/>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1" name="Google Shape;131;p21"/>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2" name="Shape 132"/>
        <p:cNvGrpSpPr/>
        <p:nvPr/>
      </p:nvGrpSpPr>
      <p:grpSpPr>
        <a:xfrm>
          <a:off x="0" y="0"/>
          <a:ext cx="0" cy="0"/>
          <a:chOff x="0" y="0"/>
          <a:chExt cx="0" cy="0"/>
        </a:xfrm>
      </p:grpSpPr>
      <p:sp>
        <p:nvSpPr>
          <p:cNvPr id="133" name="Google Shape;133;p22"/>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4" name="Google Shape;134;p22"/>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5" name="Google Shape;135;p22"/>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6" name="Shape 136"/>
        <p:cNvGrpSpPr/>
        <p:nvPr/>
      </p:nvGrpSpPr>
      <p:grpSpPr>
        <a:xfrm>
          <a:off x="0" y="0"/>
          <a:ext cx="0" cy="0"/>
          <a:chOff x="0" y="0"/>
          <a:chExt cx="0" cy="0"/>
        </a:xfrm>
      </p:grpSpPr>
      <p:sp>
        <p:nvSpPr>
          <p:cNvPr id="137" name="Google Shape;137;p23"/>
          <p:cNvSpPr txBox="1"/>
          <p:nvPr>
            <p:ph type="title"/>
          </p:nvPr>
        </p:nvSpPr>
        <p:spPr>
          <a:xfrm>
            <a:off x="839788" y="457200"/>
            <a:ext cx="3932100" cy="1600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8" name="Google Shape;138;p23"/>
          <p:cNvSpPr txBox="1"/>
          <p:nvPr>
            <p:ph idx="1" type="body"/>
          </p:nvPr>
        </p:nvSpPr>
        <p:spPr>
          <a:xfrm>
            <a:off x="5183188" y="987425"/>
            <a:ext cx="6172500" cy="487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3200"/>
              <a:buNone/>
              <a:defRPr sz="3200"/>
            </a:lvl1pPr>
            <a:lvl2pPr indent="-228600" lvl="1" marL="914400" algn="l">
              <a:lnSpc>
                <a:spcPct val="90000"/>
              </a:lnSpc>
              <a:spcBef>
                <a:spcPts val="500"/>
              </a:spcBef>
              <a:spcAft>
                <a:spcPts val="0"/>
              </a:spcAft>
              <a:buClr>
                <a:schemeClr val="dk1"/>
              </a:buClr>
              <a:buSzPts val="2800"/>
              <a:buNone/>
              <a:defRPr sz="2800"/>
            </a:lvl2pPr>
            <a:lvl3pPr indent="-228600" lvl="2" marL="1371600" algn="l">
              <a:lnSpc>
                <a:spcPct val="90000"/>
              </a:lnSpc>
              <a:spcBef>
                <a:spcPts val="500"/>
              </a:spcBef>
              <a:spcAft>
                <a:spcPts val="0"/>
              </a:spcAft>
              <a:buClr>
                <a:schemeClr val="dk1"/>
              </a:buClr>
              <a:buSzPts val="2400"/>
              <a:buNone/>
              <a:defRPr sz="2400"/>
            </a:lvl3pPr>
            <a:lvl4pPr indent="-228600" lvl="3" marL="1828800" algn="l">
              <a:lnSpc>
                <a:spcPct val="90000"/>
              </a:lnSpc>
              <a:spcBef>
                <a:spcPts val="500"/>
              </a:spcBef>
              <a:spcAft>
                <a:spcPts val="0"/>
              </a:spcAft>
              <a:buClr>
                <a:schemeClr val="dk1"/>
              </a:buClr>
              <a:buSzPts val="2000"/>
              <a:buNone/>
              <a:defRPr sz="2000"/>
            </a:lvl4pPr>
            <a:lvl5pPr indent="-228600" lvl="4" marL="2286000" algn="l">
              <a:lnSpc>
                <a:spcPct val="90000"/>
              </a:lnSpc>
              <a:spcBef>
                <a:spcPts val="500"/>
              </a:spcBef>
              <a:spcAft>
                <a:spcPts val="0"/>
              </a:spcAft>
              <a:buClr>
                <a:schemeClr val="dk1"/>
              </a:buClr>
              <a:buSzPts val="2000"/>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9" name="Google Shape;139;p23"/>
          <p:cNvSpPr txBox="1"/>
          <p:nvPr>
            <p:ph idx="2"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500"/>
              <a:buNone/>
              <a:defRPr sz="15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100"/>
              <a:buNone/>
              <a:defRPr sz="1100"/>
            </a:lvl4pPr>
            <a:lvl5pPr indent="-228600" lvl="4" marL="2286000" algn="l">
              <a:lnSpc>
                <a:spcPct val="90000"/>
              </a:lnSpc>
              <a:spcBef>
                <a:spcPts val="500"/>
              </a:spcBef>
              <a:spcAft>
                <a:spcPts val="0"/>
              </a:spcAft>
              <a:buClr>
                <a:schemeClr val="dk1"/>
              </a:buClr>
              <a:buSzPts val="1100"/>
              <a:buNone/>
              <a:defRPr sz="1100"/>
            </a:lvl5pPr>
            <a:lvl6pPr indent="-228600" lvl="5" marL="2743200" algn="l">
              <a:lnSpc>
                <a:spcPct val="90000"/>
              </a:lnSpc>
              <a:spcBef>
                <a:spcPts val="500"/>
              </a:spcBef>
              <a:spcAft>
                <a:spcPts val="0"/>
              </a:spcAft>
              <a:buClr>
                <a:schemeClr val="dk1"/>
              </a:buClr>
              <a:buSzPts val="1100"/>
              <a:buNone/>
              <a:defRPr sz="1100"/>
            </a:lvl6pPr>
            <a:lvl7pPr indent="-228600" lvl="6" marL="3200400" algn="l">
              <a:lnSpc>
                <a:spcPct val="90000"/>
              </a:lnSpc>
              <a:spcBef>
                <a:spcPts val="500"/>
              </a:spcBef>
              <a:spcAft>
                <a:spcPts val="0"/>
              </a:spcAft>
              <a:buClr>
                <a:schemeClr val="dk1"/>
              </a:buClr>
              <a:buSzPts val="1100"/>
              <a:buNone/>
              <a:defRPr sz="1100"/>
            </a:lvl7pPr>
            <a:lvl8pPr indent="-228600" lvl="7" marL="3657600" algn="l">
              <a:lnSpc>
                <a:spcPct val="90000"/>
              </a:lnSpc>
              <a:spcBef>
                <a:spcPts val="500"/>
              </a:spcBef>
              <a:spcAft>
                <a:spcPts val="0"/>
              </a:spcAft>
              <a:buClr>
                <a:schemeClr val="dk1"/>
              </a:buClr>
              <a:buSzPts val="1100"/>
              <a:buNone/>
              <a:defRPr sz="1100"/>
            </a:lvl8pPr>
            <a:lvl9pPr indent="-228600" lvl="8" marL="4114800" algn="l">
              <a:lnSpc>
                <a:spcPct val="90000"/>
              </a:lnSpc>
              <a:spcBef>
                <a:spcPts val="500"/>
              </a:spcBef>
              <a:spcAft>
                <a:spcPts val="0"/>
              </a:spcAft>
              <a:buClr>
                <a:schemeClr val="dk1"/>
              </a:buClr>
              <a:buSzPts val="1100"/>
              <a:buNone/>
              <a:defRPr sz="1100"/>
            </a:lvl9pPr>
          </a:lstStyle>
          <a:p/>
        </p:txBody>
      </p:sp>
      <p:sp>
        <p:nvSpPr>
          <p:cNvPr id="140" name="Google Shape;140;p23"/>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41" name="Google Shape;141;p23"/>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42" name="Google Shape;142;p23"/>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3" name="Shape 143"/>
        <p:cNvGrpSpPr/>
        <p:nvPr/>
      </p:nvGrpSpPr>
      <p:grpSpPr>
        <a:xfrm>
          <a:off x="0" y="0"/>
          <a:ext cx="0" cy="0"/>
          <a:chOff x="0" y="0"/>
          <a:chExt cx="0" cy="0"/>
        </a:xfrm>
      </p:grpSpPr>
      <p:sp>
        <p:nvSpPr>
          <p:cNvPr id="144" name="Google Shape;144;p24"/>
          <p:cNvSpPr txBox="1"/>
          <p:nvPr>
            <p:ph type="title"/>
          </p:nvPr>
        </p:nvSpPr>
        <p:spPr>
          <a:xfrm>
            <a:off x="839788" y="457200"/>
            <a:ext cx="3932100" cy="1600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45" name="Google Shape;145;p24"/>
          <p:cNvSpPr/>
          <p:nvPr>
            <p:ph idx="2" type="pic"/>
          </p:nvPr>
        </p:nvSpPr>
        <p:spPr>
          <a:xfrm>
            <a:off x="5183188" y="987425"/>
            <a:ext cx="6172500" cy="4873500"/>
          </a:xfrm>
          <a:prstGeom prst="rect">
            <a:avLst/>
          </a:prstGeom>
          <a:noFill/>
          <a:ln>
            <a:noFill/>
          </a:ln>
        </p:spPr>
      </p:sp>
      <p:sp>
        <p:nvSpPr>
          <p:cNvPr id="146" name="Google Shape;146;p24"/>
          <p:cNvSpPr txBox="1"/>
          <p:nvPr>
            <p:ph idx="1"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500"/>
              <a:buNone/>
              <a:defRPr sz="15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100"/>
              <a:buNone/>
              <a:defRPr sz="1100"/>
            </a:lvl4pPr>
            <a:lvl5pPr indent="-228600" lvl="4" marL="2286000" algn="l">
              <a:lnSpc>
                <a:spcPct val="90000"/>
              </a:lnSpc>
              <a:spcBef>
                <a:spcPts val="500"/>
              </a:spcBef>
              <a:spcAft>
                <a:spcPts val="0"/>
              </a:spcAft>
              <a:buClr>
                <a:schemeClr val="dk1"/>
              </a:buClr>
              <a:buSzPts val="1100"/>
              <a:buNone/>
              <a:defRPr sz="1100"/>
            </a:lvl5pPr>
            <a:lvl6pPr indent="-228600" lvl="5" marL="2743200" algn="l">
              <a:lnSpc>
                <a:spcPct val="90000"/>
              </a:lnSpc>
              <a:spcBef>
                <a:spcPts val="500"/>
              </a:spcBef>
              <a:spcAft>
                <a:spcPts val="0"/>
              </a:spcAft>
              <a:buClr>
                <a:schemeClr val="dk1"/>
              </a:buClr>
              <a:buSzPts val="1100"/>
              <a:buNone/>
              <a:defRPr sz="1100"/>
            </a:lvl6pPr>
            <a:lvl7pPr indent="-228600" lvl="6" marL="3200400" algn="l">
              <a:lnSpc>
                <a:spcPct val="90000"/>
              </a:lnSpc>
              <a:spcBef>
                <a:spcPts val="500"/>
              </a:spcBef>
              <a:spcAft>
                <a:spcPts val="0"/>
              </a:spcAft>
              <a:buClr>
                <a:schemeClr val="dk1"/>
              </a:buClr>
              <a:buSzPts val="1100"/>
              <a:buNone/>
              <a:defRPr sz="1100"/>
            </a:lvl7pPr>
            <a:lvl8pPr indent="-228600" lvl="7" marL="3657600" algn="l">
              <a:lnSpc>
                <a:spcPct val="90000"/>
              </a:lnSpc>
              <a:spcBef>
                <a:spcPts val="500"/>
              </a:spcBef>
              <a:spcAft>
                <a:spcPts val="0"/>
              </a:spcAft>
              <a:buClr>
                <a:schemeClr val="dk1"/>
              </a:buClr>
              <a:buSzPts val="1100"/>
              <a:buNone/>
              <a:defRPr sz="1100"/>
            </a:lvl8pPr>
            <a:lvl9pPr indent="-228600" lvl="8" marL="4114800" algn="l">
              <a:lnSpc>
                <a:spcPct val="90000"/>
              </a:lnSpc>
              <a:spcBef>
                <a:spcPts val="500"/>
              </a:spcBef>
              <a:spcAft>
                <a:spcPts val="0"/>
              </a:spcAft>
              <a:buClr>
                <a:schemeClr val="dk1"/>
              </a:buClr>
              <a:buSzPts val="1100"/>
              <a:buNone/>
              <a:defRPr sz="1100"/>
            </a:lvl9pPr>
          </a:lstStyle>
          <a:p/>
        </p:txBody>
      </p:sp>
      <p:sp>
        <p:nvSpPr>
          <p:cNvPr id="147" name="Google Shape;147;p24"/>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48" name="Google Shape;148;p24"/>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49" name="Google Shape;149;p24"/>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0" name="Shape 150"/>
        <p:cNvGrpSpPr/>
        <p:nvPr/>
      </p:nvGrpSpPr>
      <p:grpSpPr>
        <a:xfrm>
          <a:off x="0" y="0"/>
          <a:ext cx="0" cy="0"/>
          <a:chOff x="0" y="0"/>
          <a:chExt cx="0" cy="0"/>
        </a:xfrm>
      </p:grpSpPr>
      <p:sp>
        <p:nvSpPr>
          <p:cNvPr id="151" name="Google Shape;151;p25"/>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52" name="Google Shape;152;p25"/>
          <p:cNvSpPr txBox="1"/>
          <p:nvPr>
            <p:ph idx="1" type="body"/>
          </p:nvPr>
        </p:nvSpPr>
        <p:spPr>
          <a:xfrm rot="5400000">
            <a:off x="4075950" y="-1100943"/>
            <a:ext cx="4040100" cy="10515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53" name="Google Shape;153;p25"/>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54" name="Google Shape;154;p25"/>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55" name="Google Shape;155;p25"/>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6" name="Shape 156"/>
        <p:cNvGrpSpPr/>
        <p:nvPr/>
      </p:nvGrpSpPr>
      <p:grpSpPr>
        <a:xfrm>
          <a:off x="0" y="0"/>
          <a:ext cx="0" cy="0"/>
          <a:chOff x="0" y="0"/>
          <a:chExt cx="0" cy="0"/>
        </a:xfrm>
      </p:grpSpPr>
      <p:sp>
        <p:nvSpPr>
          <p:cNvPr id="157" name="Google Shape;157;p26"/>
          <p:cNvSpPr txBox="1"/>
          <p:nvPr>
            <p:ph type="title"/>
          </p:nvPr>
        </p:nvSpPr>
        <p:spPr>
          <a:xfrm rot="5400000">
            <a:off x="7133400" y="1956625"/>
            <a:ext cx="5811900" cy="2628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58" name="Google Shape;158;p26"/>
          <p:cNvSpPr txBox="1"/>
          <p:nvPr>
            <p:ph idx="1" type="body"/>
          </p:nvPr>
        </p:nvSpPr>
        <p:spPr>
          <a:xfrm rot="5400000">
            <a:off x="1799400" y="-596075"/>
            <a:ext cx="5811900" cy="7734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59" name="Google Shape;159;p26"/>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60" name="Google Shape;160;p26"/>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61" name="Google Shape;161;p26"/>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162" name="Shape 162"/>
        <p:cNvGrpSpPr/>
        <p:nvPr/>
      </p:nvGrpSpPr>
      <p:grpSpPr>
        <a:xfrm>
          <a:off x="0" y="0"/>
          <a:ext cx="0" cy="0"/>
          <a:chOff x="0" y="0"/>
          <a:chExt cx="0" cy="0"/>
        </a:xfrm>
      </p:grpSpPr>
      <p:pic>
        <p:nvPicPr>
          <p:cNvPr id="163" name="Google Shape;163;p27"/>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4" name="Shape 164"/>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1" name="Shape 171"/>
        <p:cNvGrpSpPr/>
        <p:nvPr/>
      </p:nvGrpSpPr>
      <p:grpSpPr>
        <a:xfrm>
          <a:off x="0" y="0"/>
          <a:ext cx="0" cy="0"/>
          <a:chOff x="0" y="0"/>
          <a:chExt cx="0" cy="0"/>
        </a:xfrm>
      </p:grpSpPr>
      <p:sp>
        <p:nvSpPr>
          <p:cNvPr id="172" name="Google Shape;172;p30"/>
          <p:cNvSpPr txBox="1"/>
          <p:nvPr>
            <p:ph type="ctrTitle"/>
          </p:nvPr>
        </p:nvSpPr>
        <p:spPr>
          <a:xfrm>
            <a:off x="1524000" y="1122363"/>
            <a:ext cx="9144000" cy="23877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73" name="Google Shape;173;p30"/>
          <p:cNvSpPr txBox="1"/>
          <p:nvPr>
            <p:ph idx="1" type="subTitle"/>
          </p:nvPr>
        </p:nvSpPr>
        <p:spPr>
          <a:xfrm>
            <a:off x="1524000" y="3602038"/>
            <a:ext cx="9144000" cy="1655700"/>
          </a:xfrm>
          <a:prstGeom prst="rect">
            <a:avLst/>
          </a:prstGeom>
          <a:noFill/>
          <a:ln>
            <a:noFill/>
          </a:ln>
        </p:spPr>
        <p:txBody>
          <a:bodyPr anchorCtr="0" anchor="t" bIns="0" lIns="0" spcFirstLastPara="1" rIns="0" wrap="square" tIns="0">
            <a:noAutofit/>
          </a:bodyPr>
          <a:lstStyle>
            <a:lvl1pPr lvl="0" algn="ctr">
              <a:lnSpc>
                <a:spcPct val="90000"/>
              </a:lnSpc>
              <a:spcBef>
                <a:spcPts val="11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4" name="Google Shape;174;p30"/>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75" name="Google Shape;175;p30"/>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76" name="Google Shape;176;p30"/>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7" name="Shape 177"/>
        <p:cNvGrpSpPr/>
        <p:nvPr/>
      </p:nvGrpSpPr>
      <p:grpSpPr>
        <a:xfrm>
          <a:off x="0" y="0"/>
          <a:ext cx="0" cy="0"/>
          <a:chOff x="0" y="0"/>
          <a:chExt cx="0" cy="0"/>
        </a:xfrm>
      </p:grpSpPr>
      <p:sp>
        <p:nvSpPr>
          <p:cNvPr id="178" name="Google Shape;178;p31"/>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79" name="Google Shape;179;p31"/>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80" name="Google Shape;180;p31"/>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81" name="Google Shape;181;p31"/>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82" name="Google Shape;182;p31"/>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3" name="Shape 183"/>
        <p:cNvGrpSpPr/>
        <p:nvPr/>
      </p:nvGrpSpPr>
      <p:grpSpPr>
        <a:xfrm>
          <a:off x="0" y="0"/>
          <a:ext cx="0" cy="0"/>
          <a:chOff x="0" y="0"/>
          <a:chExt cx="0" cy="0"/>
        </a:xfrm>
      </p:grpSpPr>
      <p:sp>
        <p:nvSpPr>
          <p:cNvPr id="184" name="Google Shape;184;p32"/>
          <p:cNvSpPr txBox="1"/>
          <p:nvPr>
            <p:ph type="title"/>
          </p:nvPr>
        </p:nvSpPr>
        <p:spPr>
          <a:xfrm>
            <a:off x="831850" y="1709738"/>
            <a:ext cx="10515600" cy="28527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85" name="Google Shape;185;p32"/>
          <p:cNvSpPr txBox="1"/>
          <p:nvPr>
            <p:ph idx="1" type="body"/>
          </p:nvPr>
        </p:nvSpPr>
        <p:spPr>
          <a:xfrm>
            <a:off x="831850" y="4589463"/>
            <a:ext cx="10515600" cy="1500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900"/>
              <a:buNone/>
              <a:defRPr sz="19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86" name="Google Shape;186;p32"/>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87" name="Google Shape;187;p32"/>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88" name="Google Shape;188;p32"/>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9" name="Shape 189"/>
        <p:cNvGrpSpPr/>
        <p:nvPr/>
      </p:nvGrpSpPr>
      <p:grpSpPr>
        <a:xfrm>
          <a:off x="0" y="0"/>
          <a:ext cx="0" cy="0"/>
          <a:chOff x="0" y="0"/>
          <a:chExt cx="0" cy="0"/>
        </a:xfrm>
      </p:grpSpPr>
      <p:sp>
        <p:nvSpPr>
          <p:cNvPr id="190" name="Google Shape;190;p33"/>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91" name="Google Shape;191;p33"/>
          <p:cNvSpPr txBox="1"/>
          <p:nvPr>
            <p:ph idx="1" type="body"/>
          </p:nvPr>
        </p:nvSpPr>
        <p:spPr>
          <a:xfrm>
            <a:off x="838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92" name="Google Shape;192;p33"/>
          <p:cNvSpPr txBox="1"/>
          <p:nvPr>
            <p:ph idx="2" type="body"/>
          </p:nvPr>
        </p:nvSpPr>
        <p:spPr>
          <a:xfrm>
            <a:off x="6172200" y="1825625"/>
            <a:ext cx="5181600" cy="435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93" name="Google Shape;193;p33"/>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94" name="Google Shape;194;p33"/>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95" name="Google Shape;195;p33"/>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6" name="Shape 196"/>
        <p:cNvGrpSpPr/>
        <p:nvPr/>
      </p:nvGrpSpPr>
      <p:grpSpPr>
        <a:xfrm>
          <a:off x="0" y="0"/>
          <a:ext cx="0" cy="0"/>
          <a:chOff x="0" y="0"/>
          <a:chExt cx="0" cy="0"/>
        </a:xfrm>
      </p:grpSpPr>
      <p:sp>
        <p:nvSpPr>
          <p:cNvPr id="197" name="Google Shape;197;p34"/>
          <p:cNvSpPr txBox="1"/>
          <p:nvPr>
            <p:ph type="title"/>
          </p:nvPr>
        </p:nvSpPr>
        <p:spPr>
          <a:xfrm>
            <a:off x="839788" y="365125"/>
            <a:ext cx="10515600" cy="1325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98" name="Google Shape;198;p34"/>
          <p:cNvSpPr txBox="1"/>
          <p:nvPr>
            <p:ph idx="1" type="body"/>
          </p:nvPr>
        </p:nvSpPr>
        <p:spPr>
          <a:xfrm>
            <a:off x="839788" y="1681163"/>
            <a:ext cx="5157900" cy="8241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1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900"/>
              <a:buNone/>
              <a:defRPr b="1" sz="19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99" name="Google Shape;199;p34"/>
          <p:cNvSpPr txBox="1"/>
          <p:nvPr>
            <p:ph idx="2" type="body"/>
          </p:nvPr>
        </p:nvSpPr>
        <p:spPr>
          <a:xfrm>
            <a:off x="839788" y="2505075"/>
            <a:ext cx="5157900" cy="36849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200" name="Google Shape;200;p34"/>
          <p:cNvSpPr txBox="1"/>
          <p:nvPr>
            <p:ph idx="3" type="body"/>
          </p:nvPr>
        </p:nvSpPr>
        <p:spPr>
          <a:xfrm>
            <a:off x="6172200" y="1681163"/>
            <a:ext cx="5183100" cy="8241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11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900"/>
              <a:buNone/>
              <a:defRPr b="1" sz="19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01" name="Google Shape;201;p34"/>
          <p:cNvSpPr txBox="1"/>
          <p:nvPr>
            <p:ph idx="4" type="body"/>
          </p:nvPr>
        </p:nvSpPr>
        <p:spPr>
          <a:xfrm>
            <a:off x="6172200" y="2505075"/>
            <a:ext cx="5183100" cy="36849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202" name="Google Shape;202;p34"/>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03" name="Google Shape;203;p34"/>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04" name="Google Shape;204;p34"/>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5" name="Shape 205"/>
        <p:cNvGrpSpPr/>
        <p:nvPr/>
      </p:nvGrpSpPr>
      <p:grpSpPr>
        <a:xfrm>
          <a:off x="0" y="0"/>
          <a:ext cx="0" cy="0"/>
          <a:chOff x="0" y="0"/>
          <a:chExt cx="0" cy="0"/>
        </a:xfrm>
      </p:grpSpPr>
      <p:sp>
        <p:nvSpPr>
          <p:cNvPr id="206" name="Google Shape;206;p35"/>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07" name="Google Shape;207;p35"/>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08" name="Google Shape;208;p35"/>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09" name="Google Shape;209;p35"/>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0" name="Shape 210"/>
        <p:cNvGrpSpPr/>
        <p:nvPr/>
      </p:nvGrpSpPr>
      <p:grpSpPr>
        <a:xfrm>
          <a:off x="0" y="0"/>
          <a:ext cx="0" cy="0"/>
          <a:chOff x="0" y="0"/>
          <a:chExt cx="0" cy="0"/>
        </a:xfrm>
      </p:grpSpPr>
      <p:sp>
        <p:nvSpPr>
          <p:cNvPr id="211" name="Google Shape;211;p36"/>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12" name="Google Shape;212;p36"/>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13" name="Google Shape;213;p36"/>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4" name="Shape 214"/>
        <p:cNvGrpSpPr/>
        <p:nvPr/>
      </p:nvGrpSpPr>
      <p:grpSpPr>
        <a:xfrm>
          <a:off x="0" y="0"/>
          <a:ext cx="0" cy="0"/>
          <a:chOff x="0" y="0"/>
          <a:chExt cx="0" cy="0"/>
        </a:xfrm>
      </p:grpSpPr>
      <p:sp>
        <p:nvSpPr>
          <p:cNvPr id="215" name="Google Shape;215;p37"/>
          <p:cNvSpPr txBox="1"/>
          <p:nvPr>
            <p:ph type="title"/>
          </p:nvPr>
        </p:nvSpPr>
        <p:spPr>
          <a:xfrm>
            <a:off x="839788" y="457200"/>
            <a:ext cx="3932100" cy="1600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16" name="Google Shape;216;p37"/>
          <p:cNvSpPr txBox="1"/>
          <p:nvPr>
            <p:ph idx="1" type="body"/>
          </p:nvPr>
        </p:nvSpPr>
        <p:spPr>
          <a:xfrm>
            <a:off x="5183188" y="987425"/>
            <a:ext cx="6172500" cy="487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3200"/>
              <a:buNone/>
              <a:defRPr sz="3200"/>
            </a:lvl1pPr>
            <a:lvl2pPr indent="-228600" lvl="1" marL="914400" algn="l">
              <a:lnSpc>
                <a:spcPct val="90000"/>
              </a:lnSpc>
              <a:spcBef>
                <a:spcPts val="500"/>
              </a:spcBef>
              <a:spcAft>
                <a:spcPts val="0"/>
              </a:spcAft>
              <a:buClr>
                <a:schemeClr val="dk1"/>
              </a:buClr>
              <a:buSzPts val="2800"/>
              <a:buNone/>
              <a:defRPr sz="2800"/>
            </a:lvl2pPr>
            <a:lvl3pPr indent="-228600" lvl="2" marL="1371600" algn="l">
              <a:lnSpc>
                <a:spcPct val="90000"/>
              </a:lnSpc>
              <a:spcBef>
                <a:spcPts val="500"/>
              </a:spcBef>
              <a:spcAft>
                <a:spcPts val="0"/>
              </a:spcAft>
              <a:buClr>
                <a:schemeClr val="dk1"/>
              </a:buClr>
              <a:buSzPts val="2400"/>
              <a:buNone/>
              <a:defRPr sz="2400"/>
            </a:lvl3pPr>
            <a:lvl4pPr indent="-228600" lvl="3" marL="1828800" algn="l">
              <a:lnSpc>
                <a:spcPct val="90000"/>
              </a:lnSpc>
              <a:spcBef>
                <a:spcPts val="500"/>
              </a:spcBef>
              <a:spcAft>
                <a:spcPts val="0"/>
              </a:spcAft>
              <a:buClr>
                <a:schemeClr val="dk1"/>
              </a:buClr>
              <a:buSzPts val="2000"/>
              <a:buNone/>
              <a:defRPr sz="2000"/>
            </a:lvl4pPr>
            <a:lvl5pPr indent="-228600" lvl="4" marL="2286000" algn="l">
              <a:lnSpc>
                <a:spcPct val="90000"/>
              </a:lnSpc>
              <a:spcBef>
                <a:spcPts val="500"/>
              </a:spcBef>
              <a:spcAft>
                <a:spcPts val="0"/>
              </a:spcAft>
              <a:buClr>
                <a:schemeClr val="dk1"/>
              </a:buClr>
              <a:buSzPts val="2000"/>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17" name="Google Shape;217;p37"/>
          <p:cNvSpPr txBox="1"/>
          <p:nvPr>
            <p:ph idx="2"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500"/>
              <a:buNone/>
              <a:defRPr sz="15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100"/>
              <a:buNone/>
              <a:defRPr sz="1100"/>
            </a:lvl4pPr>
            <a:lvl5pPr indent="-228600" lvl="4" marL="2286000" algn="l">
              <a:lnSpc>
                <a:spcPct val="90000"/>
              </a:lnSpc>
              <a:spcBef>
                <a:spcPts val="500"/>
              </a:spcBef>
              <a:spcAft>
                <a:spcPts val="0"/>
              </a:spcAft>
              <a:buClr>
                <a:schemeClr val="dk1"/>
              </a:buClr>
              <a:buSzPts val="1100"/>
              <a:buNone/>
              <a:defRPr sz="1100"/>
            </a:lvl5pPr>
            <a:lvl6pPr indent="-228600" lvl="5" marL="2743200" algn="l">
              <a:lnSpc>
                <a:spcPct val="90000"/>
              </a:lnSpc>
              <a:spcBef>
                <a:spcPts val="500"/>
              </a:spcBef>
              <a:spcAft>
                <a:spcPts val="0"/>
              </a:spcAft>
              <a:buClr>
                <a:schemeClr val="dk1"/>
              </a:buClr>
              <a:buSzPts val="1100"/>
              <a:buNone/>
              <a:defRPr sz="1100"/>
            </a:lvl6pPr>
            <a:lvl7pPr indent="-228600" lvl="6" marL="3200400" algn="l">
              <a:lnSpc>
                <a:spcPct val="90000"/>
              </a:lnSpc>
              <a:spcBef>
                <a:spcPts val="500"/>
              </a:spcBef>
              <a:spcAft>
                <a:spcPts val="0"/>
              </a:spcAft>
              <a:buClr>
                <a:schemeClr val="dk1"/>
              </a:buClr>
              <a:buSzPts val="1100"/>
              <a:buNone/>
              <a:defRPr sz="1100"/>
            </a:lvl7pPr>
            <a:lvl8pPr indent="-228600" lvl="7" marL="3657600" algn="l">
              <a:lnSpc>
                <a:spcPct val="90000"/>
              </a:lnSpc>
              <a:spcBef>
                <a:spcPts val="500"/>
              </a:spcBef>
              <a:spcAft>
                <a:spcPts val="0"/>
              </a:spcAft>
              <a:buClr>
                <a:schemeClr val="dk1"/>
              </a:buClr>
              <a:buSzPts val="1100"/>
              <a:buNone/>
              <a:defRPr sz="1100"/>
            </a:lvl8pPr>
            <a:lvl9pPr indent="-228600" lvl="8" marL="4114800" algn="l">
              <a:lnSpc>
                <a:spcPct val="90000"/>
              </a:lnSpc>
              <a:spcBef>
                <a:spcPts val="500"/>
              </a:spcBef>
              <a:spcAft>
                <a:spcPts val="0"/>
              </a:spcAft>
              <a:buClr>
                <a:schemeClr val="dk1"/>
              </a:buClr>
              <a:buSzPts val="1100"/>
              <a:buNone/>
              <a:defRPr sz="1100"/>
            </a:lvl9pPr>
          </a:lstStyle>
          <a:p/>
        </p:txBody>
      </p:sp>
      <p:sp>
        <p:nvSpPr>
          <p:cNvPr id="218" name="Google Shape;218;p37"/>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19" name="Google Shape;219;p37"/>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20" name="Google Shape;220;p37"/>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1" name="Shape 221"/>
        <p:cNvGrpSpPr/>
        <p:nvPr/>
      </p:nvGrpSpPr>
      <p:grpSpPr>
        <a:xfrm>
          <a:off x="0" y="0"/>
          <a:ext cx="0" cy="0"/>
          <a:chOff x="0" y="0"/>
          <a:chExt cx="0" cy="0"/>
        </a:xfrm>
      </p:grpSpPr>
      <p:sp>
        <p:nvSpPr>
          <p:cNvPr id="222" name="Google Shape;222;p38"/>
          <p:cNvSpPr txBox="1"/>
          <p:nvPr>
            <p:ph type="title"/>
          </p:nvPr>
        </p:nvSpPr>
        <p:spPr>
          <a:xfrm>
            <a:off x="839788" y="457200"/>
            <a:ext cx="3932100" cy="1600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23" name="Google Shape;223;p38"/>
          <p:cNvSpPr/>
          <p:nvPr>
            <p:ph idx="2" type="pic"/>
          </p:nvPr>
        </p:nvSpPr>
        <p:spPr>
          <a:xfrm>
            <a:off x="5183188" y="987425"/>
            <a:ext cx="6172500" cy="4873500"/>
          </a:xfrm>
          <a:prstGeom prst="rect">
            <a:avLst/>
          </a:prstGeom>
          <a:noFill/>
          <a:ln>
            <a:noFill/>
          </a:ln>
        </p:spPr>
      </p:sp>
      <p:sp>
        <p:nvSpPr>
          <p:cNvPr id="224" name="Google Shape;224;p38"/>
          <p:cNvSpPr txBox="1"/>
          <p:nvPr>
            <p:ph idx="1" type="body"/>
          </p:nvPr>
        </p:nvSpPr>
        <p:spPr>
          <a:xfrm>
            <a:off x="839788" y="2057400"/>
            <a:ext cx="3932100" cy="3811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500"/>
              <a:buNone/>
              <a:defRPr sz="15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100"/>
              <a:buNone/>
              <a:defRPr sz="1100"/>
            </a:lvl4pPr>
            <a:lvl5pPr indent="-228600" lvl="4" marL="2286000" algn="l">
              <a:lnSpc>
                <a:spcPct val="90000"/>
              </a:lnSpc>
              <a:spcBef>
                <a:spcPts val="500"/>
              </a:spcBef>
              <a:spcAft>
                <a:spcPts val="0"/>
              </a:spcAft>
              <a:buClr>
                <a:schemeClr val="dk1"/>
              </a:buClr>
              <a:buSzPts val="1100"/>
              <a:buNone/>
              <a:defRPr sz="1100"/>
            </a:lvl5pPr>
            <a:lvl6pPr indent="-228600" lvl="5" marL="2743200" algn="l">
              <a:lnSpc>
                <a:spcPct val="90000"/>
              </a:lnSpc>
              <a:spcBef>
                <a:spcPts val="500"/>
              </a:spcBef>
              <a:spcAft>
                <a:spcPts val="0"/>
              </a:spcAft>
              <a:buClr>
                <a:schemeClr val="dk1"/>
              </a:buClr>
              <a:buSzPts val="1100"/>
              <a:buNone/>
              <a:defRPr sz="1100"/>
            </a:lvl6pPr>
            <a:lvl7pPr indent="-228600" lvl="6" marL="3200400" algn="l">
              <a:lnSpc>
                <a:spcPct val="90000"/>
              </a:lnSpc>
              <a:spcBef>
                <a:spcPts val="500"/>
              </a:spcBef>
              <a:spcAft>
                <a:spcPts val="0"/>
              </a:spcAft>
              <a:buClr>
                <a:schemeClr val="dk1"/>
              </a:buClr>
              <a:buSzPts val="1100"/>
              <a:buNone/>
              <a:defRPr sz="1100"/>
            </a:lvl7pPr>
            <a:lvl8pPr indent="-228600" lvl="7" marL="3657600" algn="l">
              <a:lnSpc>
                <a:spcPct val="90000"/>
              </a:lnSpc>
              <a:spcBef>
                <a:spcPts val="500"/>
              </a:spcBef>
              <a:spcAft>
                <a:spcPts val="0"/>
              </a:spcAft>
              <a:buClr>
                <a:schemeClr val="dk1"/>
              </a:buClr>
              <a:buSzPts val="1100"/>
              <a:buNone/>
              <a:defRPr sz="1100"/>
            </a:lvl8pPr>
            <a:lvl9pPr indent="-228600" lvl="8" marL="4114800" algn="l">
              <a:lnSpc>
                <a:spcPct val="90000"/>
              </a:lnSpc>
              <a:spcBef>
                <a:spcPts val="500"/>
              </a:spcBef>
              <a:spcAft>
                <a:spcPts val="0"/>
              </a:spcAft>
              <a:buClr>
                <a:schemeClr val="dk1"/>
              </a:buClr>
              <a:buSzPts val="1100"/>
              <a:buNone/>
              <a:defRPr sz="1100"/>
            </a:lvl9pPr>
          </a:lstStyle>
          <a:p/>
        </p:txBody>
      </p:sp>
      <p:sp>
        <p:nvSpPr>
          <p:cNvPr id="225" name="Google Shape;225;p38"/>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26" name="Google Shape;226;p38"/>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27" name="Google Shape;227;p38"/>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8" name="Shape 228"/>
        <p:cNvGrpSpPr/>
        <p:nvPr/>
      </p:nvGrpSpPr>
      <p:grpSpPr>
        <a:xfrm>
          <a:off x="0" y="0"/>
          <a:ext cx="0" cy="0"/>
          <a:chOff x="0" y="0"/>
          <a:chExt cx="0" cy="0"/>
        </a:xfrm>
      </p:grpSpPr>
      <p:sp>
        <p:nvSpPr>
          <p:cNvPr id="229" name="Google Shape;229;p39"/>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30" name="Google Shape;230;p39"/>
          <p:cNvSpPr txBox="1"/>
          <p:nvPr>
            <p:ph idx="1" type="body"/>
          </p:nvPr>
        </p:nvSpPr>
        <p:spPr>
          <a:xfrm rot="5400000">
            <a:off x="4075950" y="-1100943"/>
            <a:ext cx="4040100" cy="10515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231" name="Google Shape;231;p39"/>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32" name="Google Shape;232;p39"/>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33" name="Google Shape;233;p39"/>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4" name="Shape 234"/>
        <p:cNvGrpSpPr/>
        <p:nvPr/>
      </p:nvGrpSpPr>
      <p:grpSpPr>
        <a:xfrm>
          <a:off x="0" y="0"/>
          <a:ext cx="0" cy="0"/>
          <a:chOff x="0" y="0"/>
          <a:chExt cx="0" cy="0"/>
        </a:xfrm>
      </p:grpSpPr>
      <p:sp>
        <p:nvSpPr>
          <p:cNvPr id="235" name="Google Shape;235;p40"/>
          <p:cNvSpPr txBox="1"/>
          <p:nvPr>
            <p:ph type="title"/>
          </p:nvPr>
        </p:nvSpPr>
        <p:spPr>
          <a:xfrm rot="5400000">
            <a:off x="7133400" y="1956625"/>
            <a:ext cx="5811900" cy="2628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36" name="Google Shape;236;p40"/>
          <p:cNvSpPr txBox="1"/>
          <p:nvPr>
            <p:ph idx="1" type="body"/>
          </p:nvPr>
        </p:nvSpPr>
        <p:spPr>
          <a:xfrm rot="5400000">
            <a:off x="1799400" y="-596075"/>
            <a:ext cx="5811900" cy="77343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100"/>
              </a:spcBef>
              <a:spcAft>
                <a:spcPts val="0"/>
              </a:spcAft>
              <a:buClr>
                <a:schemeClr val="dk1"/>
              </a:buClr>
              <a:buSzPts val="1900"/>
              <a:buNone/>
              <a:defRPr/>
            </a:lvl1pPr>
            <a:lvl2pPr indent="-228600" lvl="1" marL="914400" algn="l">
              <a:lnSpc>
                <a:spcPct val="90000"/>
              </a:lnSpc>
              <a:spcBef>
                <a:spcPts val="500"/>
              </a:spcBef>
              <a:spcAft>
                <a:spcPts val="0"/>
              </a:spcAft>
              <a:buClr>
                <a:schemeClr val="dk1"/>
              </a:buClr>
              <a:buSzPts val="1900"/>
              <a:buNone/>
              <a:defRPr/>
            </a:lvl2pPr>
            <a:lvl3pPr indent="-228600" lvl="2" marL="1371600" algn="l">
              <a:lnSpc>
                <a:spcPct val="90000"/>
              </a:lnSpc>
              <a:spcBef>
                <a:spcPts val="500"/>
              </a:spcBef>
              <a:spcAft>
                <a:spcPts val="0"/>
              </a:spcAft>
              <a:buClr>
                <a:schemeClr val="dk1"/>
              </a:buClr>
              <a:buSzPts val="1900"/>
              <a:buNone/>
              <a:defRPr/>
            </a:lvl3pPr>
            <a:lvl4pPr indent="-228600" lvl="3" marL="1828800" algn="l">
              <a:lnSpc>
                <a:spcPct val="90000"/>
              </a:lnSpc>
              <a:spcBef>
                <a:spcPts val="500"/>
              </a:spcBef>
              <a:spcAft>
                <a:spcPts val="0"/>
              </a:spcAft>
              <a:buClr>
                <a:schemeClr val="dk1"/>
              </a:buClr>
              <a:buSzPts val="1900"/>
              <a:buNone/>
              <a:defRPr/>
            </a:lvl4pPr>
            <a:lvl5pPr indent="-228600" lvl="4" marL="2286000" algn="l">
              <a:lnSpc>
                <a:spcPct val="90000"/>
              </a:lnSpc>
              <a:spcBef>
                <a:spcPts val="500"/>
              </a:spcBef>
              <a:spcAft>
                <a:spcPts val="0"/>
              </a:spcAft>
              <a:buClr>
                <a:schemeClr val="dk1"/>
              </a:buClr>
              <a:buSzPts val="1900"/>
              <a:buNone/>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237" name="Google Shape;237;p40"/>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38" name="Google Shape;238;p40"/>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239" name="Google Shape;239;p40"/>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240" name="Shape 240"/>
        <p:cNvGrpSpPr/>
        <p:nvPr/>
      </p:nvGrpSpPr>
      <p:grpSpPr>
        <a:xfrm>
          <a:off x="0" y="0"/>
          <a:ext cx="0" cy="0"/>
          <a:chOff x="0" y="0"/>
          <a:chExt cx="0" cy="0"/>
        </a:xfrm>
      </p:grpSpPr>
      <p:pic>
        <p:nvPicPr>
          <p:cNvPr id="241" name="Google Shape;241;p41"/>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42" name="Shape 24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9" name="Shape 249"/>
        <p:cNvGrpSpPr/>
        <p:nvPr/>
      </p:nvGrpSpPr>
      <p:grpSpPr>
        <a:xfrm>
          <a:off x="0" y="0"/>
          <a:ext cx="0" cy="0"/>
          <a:chOff x="0" y="0"/>
          <a:chExt cx="0" cy="0"/>
        </a:xfrm>
      </p:grpSpPr>
      <p:sp>
        <p:nvSpPr>
          <p:cNvPr id="250" name="Google Shape;250;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2" name="Google Shape;252;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3" name="Shape 253"/>
        <p:cNvGrpSpPr/>
        <p:nvPr/>
      </p:nvGrpSpPr>
      <p:grpSpPr>
        <a:xfrm>
          <a:off x="0" y="0"/>
          <a:ext cx="0" cy="0"/>
          <a:chOff x="0" y="0"/>
          <a:chExt cx="0" cy="0"/>
        </a:xfrm>
      </p:grpSpPr>
      <p:sp>
        <p:nvSpPr>
          <p:cNvPr id="254" name="Google Shape;254;p4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4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56" name="Google Shape;256;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9" name="Shape 259"/>
        <p:cNvGrpSpPr/>
        <p:nvPr/>
      </p:nvGrpSpPr>
      <p:grpSpPr>
        <a:xfrm>
          <a:off x="0" y="0"/>
          <a:ext cx="0" cy="0"/>
          <a:chOff x="0" y="0"/>
          <a:chExt cx="0" cy="0"/>
        </a:xfrm>
      </p:grpSpPr>
      <p:sp>
        <p:nvSpPr>
          <p:cNvPr id="260" name="Google Shape;260;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2" name="Google Shape;262;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3" name="Google Shape;263;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4" name="Google Shape;264;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5" name="Shape 265"/>
        <p:cNvGrpSpPr/>
        <p:nvPr/>
      </p:nvGrpSpPr>
      <p:grpSpPr>
        <a:xfrm>
          <a:off x="0" y="0"/>
          <a:ext cx="0" cy="0"/>
          <a:chOff x="0" y="0"/>
          <a:chExt cx="0" cy="0"/>
        </a:xfrm>
      </p:grpSpPr>
      <p:sp>
        <p:nvSpPr>
          <p:cNvPr id="266" name="Google Shape;266;p4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4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8" name="Google Shape;26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9" name="Google Shape;26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0" name="Google Shape;27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1" name="Shape 271"/>
        <p:cNvGrpSpPr/>
        <p:nvPr/>
      </p:nvGrpSpPr>
      <p:grpSpPr>
        <a:xfrm>
          <a:off x="0" y="0"/>
          <a:ext cx="0" cy="0"/>
          <a:chOff x="0" y="0"/>
          <a:chExt cx="0" cy="0"/>
        </a:xfrm>
      </p:grpSpPr>
      <p:sp>
        <p:nvSpPr>
          <p:cNvPr id="272" name="Google Shape;272;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3" name="Google Shape;273;p4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74" name="Google Shape;274;p4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75" name="Google Shape;275;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6" name="Google Shape;276;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8" name="Shape 278"/>
        <p:cNvGrpSpPr/>
        <p:nvPr/>
      </p:nvGrpSpPr>
      <p:grpSpPr>
        <a:xfrm>
          <a:off x="0" y="0"/>
          <a:ext cx="0" cy="0"/>
          <a:chOff x="0" y="0"/>
          <a:chExt cx="0" cy="0"/>
        </a:xfrm>
      </p:grpSpPr>
      <p:sp>
        <p:nvSpPr>
          <p:cNvPr id="279" name="Google Shape;279;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4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1" name="Google Shape;281;p4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82" name="Google Shape;282;p4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3" name="Google Shape;283;p4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84" name="Google Shape;284;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7" name="Shape 287"/>
        <p:cNvGrpSpPr/>
        <p:nvPr/>
      </p:nvGrpSpPr>
      <p:grpSpPr>
        <a:xfrm>
          <a:off x="0" y="0"/>
          <a:ext cx="0" cy="0"/>
          <a:chOff x="0" y="0"/>
          <a:chExt cx="0" cy="0"/>
        </a:xfrm>
      </p:grpSpPr>
      <p:sp>
        <p:nvSpPr>
          <p:cNvPr id="288" name="Google Shape;288;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 name="Google Shape;289;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0" name="Google Shape;290;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1" name="Google Shape;291;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92" name="Shape 292"/>
        <p:cNvGrpSpPr/>
        <p:nvPr/>
      </p:nvGrpSpPr>
      <p:grpSpPr>
        <a:xfrm>
          <a:off x="0" y="0"/>
          <a:ext cx="0" cy="0"/>
          <a:chOff x="0" y="0"/>
          <a:chExt cx="0" cy="0"/>
        </a:xfrm>
      </p:grpSpPr>
      <p:sp>
        <p:nvSpPr>
          <p:cNvPr id="293" name="Google Shape;293;p5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4" name="Google Shape;294;p5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95" name="Google Shape;295;p5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96" name="Google Shape;296;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7" name="Google Shape;297;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8" name="Google Shape;298;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99" name="Shape 299"/>
        <p:cNvGrpSpPr/>
        <p:nvPr/>
      </p:nvGrpSpPr>
      <p:grpSpPr>
        <a:xfrm>
          <a:off x="0" y="0"/>
          <a:ext cx="0" cy="0"/>
          <a:chOff x="0" y="0"/>
          <a:chExt cx="0" cy="0"/>
        </a:xfrm>
      </p:grpSpPr>
      <p:sp>
        <p:nvSpPr>
          <p:cNvPr id="300" name="Google Shape;300;p5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1" name="Google Shape;301;p52"/>
          <p:cNvSpPr/>
          <p:nvPr>
            <p:ph idx="2" type="pic"/>
          </p:nvPr>
        </p:nvSpPr>
        <p:spPr>
          <a:xfrm>
            <a:off x="1792288" y="612775"/>
            <a:ext cx="5486400" cy="4114800"/>
          </a:xfrm>
          <a:prstGeom prst="rect">
            <a:avLst/>
          </a:prstGeom>
          <a:noFill/>
          <a:ln>
            <a:noFill/>
          </a:ln>
        </p:spPr>
      </p:sp>
      <p:sp>
        <p:nvSpPr>
          <p:cNvPr id="302" name="Google Shape;302;p5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03" name="Google Shape;303;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4" name="Google Shape;304;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5" name="Google Shape;305;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06" name="Shape 306"/>
        <p:cNvGrpSpPr/>
        <p:nvPr/>
      </p:nvGrpSpPr>
      <p:grpSpPr>
        <a:xfrm>
          <a:off x="0" y="0"/>
          <a:ext cx="0" cy="0"/>
          <a:chOff x="0" y="0"/>
          <a:chExt cx="0" cy="0"/>
        </a:xfrm>
      </p:grpSpPr>
      <p:sp>
        <p:nvSpPr>
          <p:cNvPr id="307" name="Google Shape;307;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5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9" name="Google Shape;309;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0" name="Google Shape;310;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1" name="Google Shape;311;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2" name="Shape 312"/>
        <p:cNvGrpSpPr/>
        <p:nvPr/>
      </p:nvGrpSpPr>
      <p:grpSpPr>
        <a:xfrm>
          <a:off x="0" y="0"/>
          <a:ext cx="0" cy="0"/>
          <a:chOff x="0" y="0"/>
          <a:chExt cx="0" cy="0"/>
        </a:xfrm>
      </p:grpSpPr>
      <p:sp>
        <p:nvSpPr>
          <p:cNvPr id="313" name="Google Shape;313;p5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4" name="Google Shape;314;p5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5" name="Google Shape;315;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6" name="Google Shape;316;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7" name="Google Shape;317;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4.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7.xml"/><Relationship Id="rId10" Type="http://schemas.openxmlformats.org/officeDocument/2006/relationships/slideLayout" Target="../slideLayouts/slideLayout36.xml"/><Relationship Id="rId13" Type="http://schemas.openxmlformats.org/officeDocument/2006/relationships/slideLayout" Target="../slideLayouts/slideLayout39.xml"/><Relationship Id="rId12" Type="http://schemas.openxmlformats.org/officeDocument/2006/relationships/slideLayout" Target="../slideLayouts/slideLayout38.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5.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50.xml"/><Relationship Id="rId10" Type="http://schemas.openxmlformats.org/officeDocument/2006/relationships/slideLayout" Target="../slideLayouts/slideLayout49.xml"/><Relationship Id="rId12" Type="http://schemas.openxmlformats.org/officeDocument/2006/relationships/theme" Target="../theme/theme1.xml"/><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9" Type="http://schemas.openxmlformats.org/officeDocument/2006/relationships/slideLayout" Target="../slideLayouts/slideLayout48.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1"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5"/>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1"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89" name="Google Shape;89;p15"/>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1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9pPr>
          </a:lstStyle>
          <a:p/>
        </p:txBody>
      </p:sp>
      <p:sp>
        <p:nvSpPr>
          <p:cNvPr id="90" name="Google Shape;90;p15"/>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5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9pPr>
          </a:lstStyle>
          <a:p/>
        </p:txBody>
      </p:sp>
      <p:sp>
        <p:nvSpPr>
          <p:cNvPr id="91" name="Google Shape;91;p15"/>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5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9pPr>
          </a:lstStyle>
          <a:p/>
        </p:txBody>
      </p:sp>
      <p:sp>
        <p:nvSpPr>
          <p:cNvPr id="92" name="Google Shape;92;p15"/>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p29"/>
          <p:cNvSpPr txBox="1"/>
          <p:nvPr>
            <p:ph type="title"/>
          </p:nvPr>
        </p:nvSpPr>
        <p:spPr>
          <a:xfrm>
            <a:off x="838200" y="577516"/>
            <a:ext cx="10515600" cy="11133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dk1"/>
              </a:buClr>
              <a:buSzPts val="4400"/>
              <a:buFont typeface="Arial"/>
              <a:buNone/>
              <a:defRPr b="1" i="0" sz="44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167" name="Google Shape;167;p29"/>
          <p:cNvSpPr txBox="1"/>
          <p:nvPr>
            <p:ph idx="1" type="body"/>
          </p:nvPr>
        </p:nvSpPr>
        <p:spPr>
          <a:xfrm>
            <a:off x="838200" y="2136807"/>
            <a:ext cx="10515600" cy="4040100"/>
          </a:xfrm>
          <a:prstGeom prst="rect">
            <a:avLst/>
          </a:prstGeom>
          <a:noFill/>
          <a:ln>
            <a:noFill/>
          </a:ln>
        </p:spPr>
        <p:txBody>
          <a:bodyPr anchorCtr="0" anchor="t" bIns="0" lIns="0" spcFirstLastPara="1" rIns="0" wrap="square" tIns="0">
            <a:noAutofit/>
          </a:bodyPr>
          <a:lstStyle>
            <a:lvl1pPr indent="-228600" lvl="0" marL="457200" marR="0" algn="l">
              <a:lnSpc>
                <a:spcPct val="90000"/>
              </a:lnSpc>
              <a:spcBef>
                <a:spcPts val="11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indent="-228600" lvl="1" marL="9144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228600" lvl="2" marL="13716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3pPr>
            <a:lvl4pPr indent="-228600" lvl="3" marL="18288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4pPr>
            <a:lvl5pPr indent="-228600" lvl="4" marL="2286000" marR="0" algn="l">
              <a:lnSpc>
                <a:spcPct val="90000"/>
              </a:lnSpc>
              <a:spcBef>
                <a:spcPts val="5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5pPr>
            <a:lvl6pPr indent="-349250" lvl="5" marL="27432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6pPr>
            <a:lvl7pPr indent="-349250" lvl="6" marL="32004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7pPr>
            <a:lvl8pPr indent="-349250" lvl="7" marL="36576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8pPr>
            <a:lvl9pPr indent="-349250" lvl="8" marL="4114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9pPr>
          </a:lstStyle>
          <a:p/>
        </p:txBody>
      </p:sp>
      <p:sp>
        <p:nvSpPr>
          <p:cNvPr id="168" name="Google Shape;168;p29"/>
          <p:cNvSpPr txBox="1"/>
          <p:nvPr>
            <p:ph idx="10" type="dt"/>
          </p:nvPr>
        </p:nvSpPr>
        <p:spPr>
          <a:xfrm>
            <a:off x="838200" y="6492875"/>
            <a:ext cx="2743200" cy="3651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000000"/>
              </a:buClr>
              <a:buSzPts val="1500"/>
              <a:buFont typeface="Arial"/>
              <a:buNone/>
              <a:defRPr b="0" i="0" sz="12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9pPr>
          </a:lstStyle>
          <a:p/>
        </p:txBody>
      </p:sp>
      <p:sp>
        <p:nvSpPr>
          <p:cNvPr id="169" name="Google Shape;169;p29"/>
          <p:cNvSpPr txBox="1"/>
          <p:nvPr>
            <p:ph idx="11" type="ftr"/>
          </p:nvPr>
        </p:nvSpPr>
        <p:spPr>
          <a:xfrm>
            <a:off x="4038600" y="6492875"/>
            <a:ext cx="4114800" cy="3651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rgbClr val="000000"/>
              </a:buClr>
              <a:buSzPts val="1500"/>
              <a:buFont typeface="Arial"/>
              <a:buNone/>
              <a:defRPr b="0" i="0" sz="12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9pPr>
          </a:lstStyle>
          <a:p/>
        </p:txBody>
      </p:sp>
      <p:sp>
        <p:nvSpPr>
          <p:cNvPr id="170" name="Google Shape;170;p29"/>
          <p:cNvSpPr txBox="1"/>
          <p:nvPr>
            <p:ph idx="12" type="sldNum"/>
          </p:nvPr>
        </p:nvSpPr>
        <p:spPr>
          <a:xfrm>
            <a:off x="8610600" y="6492875"/>
            <a:ext cx="2743200" cy="3651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45" name="Google Shape;245;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6" name="Google Shape;246;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7" name="Google Shape;247;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8" name="Google Shape;248;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ZA"/>
              <a:t>‹#›</a:t>
            </a:fld>
            <a:endParaRPr/>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jp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3.jp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4.png"/><Relationship Id="rId7"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6.jp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8.xml"/><Relationship Id="rId3" Type="http://schemas.openxmlformats.org/officeDocument/2006/relationships/image" Target="../media/image16.jp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9.xml"/><Relationship Id="rId3" Type="http://schemas.openxmlformats.org/officeDocument/2006/relationships/image" Target="../media/image16.jpg"/><Relationship Id="rId4" Type="http://schemas.openxmlformats.org/officeDocument/2006/relationships/image" Target="../media/image19.png"/><Relationship Id="rId5"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0.xml"/><Relationship Id="rId3" Type="http://schemas.openxmlformats.org/officeDocument/2006/relationships/image" Target="../media/image16.jp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6.jpg"/><Relationship Id="rId4" Type="http://schemas.openxmlformats.org/officeDocument/2006/relationships/image" Target="../media/image15.png"/><Relationship Id="rId5" Type="http://schemas.openxmlformats.org/officeDocument/2006/relationships/image" Target="../media/image20.png"/><Relationship Id="rId6"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6.jpg"/><Relationship Id="rId4" Type="http://schemas.openxmlformats.org/officeDocument/2006/relationships/image" Target="../media/image24.png"/><Relationship Id="rId5"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1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1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1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2.xml"/><Relationship Id="rId3" Type="http://schemas.openxmlformats.org/officeDocument/2006/relationships/image" Target="../media/image1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3.xml"/><Relationship Id="rId3" Type="http://schemas.openxmlformats.org/officeDocument/2006/relationships/image" Target="../media/image1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4.xml"/><Relationship Id="rId3" Type="http://schemas.openxmlformats.org/officeDocument/2006/relationships/image" Target="../media/image1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5.xml"/><Relationship Id="rId3" Type="http://schemas.openxmlformats.org/officeDocument/2006/relationships/image" Target="../media/image1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6.xml"/><Relationship Id="rId3" Type="http://schemas.openxmlformats.org/officeDocument/2006/relationships/image" Target="../media/image1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7.xml"/><Relationship Id="rId3" Type="http://schemas.openxmlformats.org/officeDocument/2006/relationships/image" Target="../media/image16.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8.xml"/><Relationship Id="rId3" Type="http://schemas.openxmlformats.org/officeDocument/2006/relationships/image" Target="../media/image16.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9.xml"/><Relationship Id="rId3" Type="http://schemas.openxmlformats.org/officeDocument/2006/relationships/image" Target="../media/image1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0.xml"/><Relationship Id="rId3" Type="http://schemas.openxmlformats.org/officeDocument/2006/relationships/image" Target="../media/image1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1.xml"/><Relationship Id="rId3" Type="http://schemas.openxmlformats.org/officeDocument/2006/relationships/image" Target="../media/image1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2.xml"/><Relationship Id="rId3" Type="http://schemas.openxmlformats.org/officeDocument/2006/relationships/image" Target="../media/image1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3.xml"/><Relationship Id="rId3" Type="http://schemas.openxmlformats.org/officeDocument/2006/relationships/image" Target="../media/image1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4.xml"/><Relationship Id="rId3" Type="http://schemas.openxmlformats.org/officeDocument/2006/relationships/image" Target="../media/image16.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5.xml"/><Relationship Id="rId3" Type="http://schemas.openxmlformats.org/officeDocument/2006/relationships/image" Target="../media/image1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6.xml"/><Relationship Id="rId3" Type="http://schemas.openxmlformats.org/officeDocument/2006/relationships/image" Target="../media/image16.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7.xml"/><Relationship Id="rId3" Type="http://schemas.openxmlformats.org/officeDocument/2006/relationships/image" Target="../media/image16.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8.xml"/><Relationship Id="rId3" Type="http://schemas.openxmlformats.org/officeDocument/2006/relationships/image" Target="../media/image16.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9.xml"/><Relationship Id="rId3" Type="http://schemas.openxmlformats.org/officeDocument/2006/relationships/image" Target="../media/image16.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0.xml"/><Relationship Id="rId3" Type="http://schemas.openxmlformats.org/officeDocument/2006/relationships/image" Target="../media/image16.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1.xml"/><Relationship Id="rId3" Type="http://schemas.openxmlformats.org/officeDocument/2006/relationships/image" Target="../media/image16.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5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4" name="Google Shape;324;p55"/>
          <p:cNvSpPr txBox="1"/>
          <p:nvPr/>
        </p:nvSpPr>
        <p:spPr>
          <a:xfrm>
            <a:off x="753525" y="2999025"/>
            <a:ext cx="10769100" cy="222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7BEAE"/>
              </a:buClr>
              <a:buSzPts val="1400"/>
              <a:buFont typeface="Calibri"/>
              <a:buNone/>
            </a:pPr>
            <a:r>
              <a:t/>
            </a:r>
            <a:endParaRPr b="1" sz="5400">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A7BEAE"/>
              </a:buClr>
              <a:buSzPts val="1400"/>
              <a:buFont typeface="Calibri"/>
              <a:buNone/>
            </a:pPr>
            <a:r>
              <a:rPr b="1" i="0" lang="en-ZA" sz="5400" u="none" cap="none" strike="noStrike">
                <a:solidFill>
                  <a:schemeClr val="dk2"/>
                </a:solidFill>
                <a:latin typeface="Calibri"/>
                <a:ea typeface="Calibri"/>
                <a:cs typeface="Calibri"/>
                <a:sym typeface="Calibri"/>
              </a:rPr>
              <a:t>PEDAGOGICAL CONCEPTS</a:t>
            </a:r>
            <a:endParaRPr>
              <a:solidFill>
                <a:schemeClr val="dk2"/>
              </a:solidFill>
            </a:endParaRPr>
          </a:p>
        </p:txBody>
      </p:sp>
      <p:pic>
        <p:nvPicPr>
          <p:cNvPr id="325" name="Google Shape;325;p55"/>
          <p:cNvPicPr preferRelativeResize="0"/>
          <p:nvPr/>
        </p:nvPicPr>
        <p:blipFill rotWithShape="1">
          <a:blip r:embed="rId4">
            <a:alphaModFix/>
          </a:blip>
          <a:srcRect b="0" l="0" r="0" t="0"/>
          <a:stretch/>
        </p:blipFill>
        <p:spPr>
          <a:xfrm>
            <a:off x="6984141" y="383197"/>
            <a:ext cx="2033076" cy="837149"/>
          </a:xfrm>
          <a:prstGeom prst="rect">
            <a:avLst/>
          </a:prstGeom>
          <a:noFill/>
          <a:ln>
            <a:noFill/>
          </a:ln>
        </p:spPr>
      </p:pic>
      <p:pic>
        <p:nvPicPr>
          <p:cNvPr id="326" name="Google Shape;326;p55"/>
          <p:cNvPicPr preferRelativeResize="0"/>
          <p:nvPr/>
        </p:nvPicPr>
        <p:blipFill rotWithShape="1">
          <a:blip r:embed="rId5">
            <a:alphaModFix/>
          </a:blip>
          <a:srcRect b="0" l="0" r="0" t="0"/>
          <a:stretch/>
        </p:blipFill>
        <p:spPr>
          <a:xfrm>
            <a:off x="9108440" y="535714"/>
            <a:ext cx="2613661" cy="574731"/>
          </a:xfrm>
          <a:prstGeom prst="rect">
            <a:avLst/>
          </a:prstGeom>
          <a:noFill/>
          <a:ln>
            <a:noFill/>
          </a:ln>
        </p:spPr>
      </p:pic>
      <p:pic>
        <p:nvPicPr>
          <p:cNvPr id="327" name="Google Shape;327;p55"/>
          <p:cNvPicPr preferRelativeResize="0"/>
          <p:nvPr/>
        </p:nvPicPr>
        <p:blipFill rotWithShape="1">
          <a:blip r:embed="rId6">
            <a:alphaModFix/>
          </a:blip>
          <a:srcRect b="0" l="0" r="0" t="0"/>
          <a:stretch/>
        </p:blipFill>
        <p:spPr>
          <a:xfrm>
            <a:off x="9859010" y="5669280"/>
            <a:ext cx="1883834" cy="762000"/>
          </a:xfrm>
          <a:prstGeom prst="rect">
            <a:avLst/>
          </a:prstGeom>
          <a:noFill/>
          <a:ln>
            <a:noFill/>
          </a:ln>
        </p:spPr>
      </p:pic>
      <p:grpSp>
        <p:nvGrpSpPr>
          <p:cNvPr id="328" name="Google Shape;328;p55"/>
          <p:cNvGrpSpPr/>
          <p:nvPr/>
        </p:nvGrpSpPr>
        <p:grpSpPr>
          <a:xfrm>
            <a:off x="763050" y="5899750"/>
            <a:ext cx="6501258" cy="410463"/>
            <a:chOff x="763050" y="5899750"/>
            <a:chExt cx="6501258" cy="410463"/>
          </a:xfrm>
        </p:grpSpPr>
        <p:sp>
          <p:nvSpPr>
            <p:cNvPr id="329" name="Google Shape;329;p55"/>
            <p:cNvSpPr/>
            <p:nvPr/>
          </p:nvSpPr>
          <p:spPr>
            <a:xfrm>
              <a:off x="763050" y="5899750"/>
              <a:ext cx="2955300" cy="4041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30" name="Google Shape;330;p55"/>
            <p:cNvSpPr txBox="1"/>
            <p:nvPr/>
          </p:nvSpPr>
          <p:spPr>
            <a:xfrm>
              <a:off x="902397" y="5959075"/>
              <a:ext cx="2676600" cy="298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50"/>
                <a:buFont typeface="Arial"/>
                <a:buNone/>
              </a:pPr>
              <a:r>
                <a:rPr b="1" i="0" lang="en-ZA" sz="1750" u="none" cap="none" strike="noStrike">
                  <a:solidFill>
                    <a:schemeClr val="dk2"/>
                  </a:solidFill>
                  <a:latin typeface="Arial"/>
                  <a:ea typeface="Arial"/>
                  <a:cs typeface="Arial"/>
                  <a:sym typeface="Arial"/>
                </a:rPr>
                <a:t>Nigeria </a:t>
              </a:r>
              <a:r>
                <a:rPr b="1" lang="en-ZA" sz="1750">
                  <a:solidFill>
                    <a:schemeClr val="dk2"/>
                  </a:solidFill>
                </a:rPr>
                <a:t>-</a:t>
              </a:r>
              <a:r>
                <a:rPr b="1" i="0" lang="en-ZA" sz="1750" u="none" cap="none" strike="noStrike">
                  <a:solidFill>
                    <a:schemeClr val="dk2"/>
                  </a:solidFill>
                  <a:latin typeface="Arial"/>
                  <a:ea typeface="Arial"/>
                  <a:cs typeface="Arial"/>
                  <a:sym typeface="Arial"/>
                </a:rPr>
                <a:t> Aug 2026</a:t>
              </a:r>
              <a:endParaRPr b="0" i="0" sz="1400" u="none" cap="none" strike="noStrike">
                <a:solidFill>
                  <a:srgbClr val="000000"/>
                </a:solidFill>
                <a:latin typeface="Arial"/>
                <a:ea typeface="Arial"/>
                <a:cs typeface="Arial"/>
                <a:sym typeface="Arial"/>
              </a:endParaRPr>
            </a:p>
          </p:txBody>
        </p:sp>
        <p:sp>
          <p:nvSpPr>
            <p:cNvPr id="331" name="Google Shape;331;p55"/>
            <p:cNvSpPr/>
            <p:nvPr/>
          </p:nvSpPr>
          <p:spPr>
            <a:xfrm>
              <a:off x="3928308" y="5906113"/>
              <a:ext cx="3336000" cy="4041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32" name="Google Shape;332;p55"/>
            <p:cNvSpPr txBox="1"/>
            <p:nvPr/>
          </p:nvSpPr>
          <p:spPr>
            <a:xfrm>
              <a:off x="3974350" y="5975050"/>
              <a:ext cx="3243900" cy="253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50"/>
                <a:buFont typeface="Arial"/>
                <a:buNone/>
              </a:pPr>
              <a:r>
                <a:rPr b="1" i="0" lang="en-ZA" sz="1750" u="none" cap="none" strike="noStrike">
                  <a:solidFill>
                    <a:schemeClr val="dk2"/>
                  </a:solidFill>
                  <a:latin typeface="Arial"/>
                  <a:ea typeface="Arial"/>
                  <a:cs typeface="Arial"/>
                  <a:sym typeface="Arial"/>
                </a:rPr>
                <a:t>AI Research Foundations</a:t>
              </a:r>
              <a:endParaRPr b="0" i="0" sz="1400" u="none" cap="none" strike="noStrike">
                <a:solidFill>
                  <a:srgbClr val="000000"/>
                </a:solidFill>
                <a:latin typeface="Arial"/>
                <a:ea typeface="Arial"/>
                <a:cs typeface="Arial"/>
                <a:sym typeface="Arial"/>
              </a:endParaRPr>
            </a:p>
          </p:txBody>
        </p:sp>
      </p:grpSp>
      <p:pic>
        <p:nvPicPr>
          <p:cNvPr id="333" name="Google Shape;333;p55"/>
          <p:cNvPicPr preferRelativeResize="0"/>
          <p:nvPr/>
        </p:nvPicPr>
        <p:blipFill rotWithShape="1">
          <a:blip r:embed="rId7">
            <a:alphaModFix/>
          </a:blip>
          <a:srcRect b="0" l="0" r="0" t="0"/>
          <a:stretch/>
        </p:blipFill>
        <p:spPr>
          <a:xfrm>
            <a:off x="5724851" y="505175"/>
            <a:ext cx="1168078" cy="593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p56"/>
          <p:cNvPicPr preferRelativeResize="0"/>
          <p:nvPr/>
        </p:nvPicPr>
        <p:blipFill rotWithShape="1">
          <a:blip r:embed="rId3">
            <a:alphaModFix/>
          </a:blip>
          <a:srcRect b="0" l="0" r="0" t="0"/>
          <a:stretch/>
        </p:blipFill>
        <p:spPr>
          <a:xfrm>
            <a:off x="0" y="0"/>
            <a:ext cx="12192000" cy="6858000"/>
          </a:xfrm>
          <a:prstGeom prst="rect">
            <a:avLst/>
          </a:prstGeom>
          <a:noFill/>
          <a:ln>
            <a:noFill/>
          </a:ln>
        </p:spPr>
      </p:pic>
      <p:cxnSp>
        <p:nvCxnSpPr>
          <p:cNvPr id="340" name="Google Shape;340;p56"/>
          <p:cNvCxnSpPr/>
          <p:nvPr/>
        </p:nvCxnSpPr>
        <p:spPr>
          <a:xfrm>
            <a:off x="753533" y="1580827"/>
            <a:ext cx="10544731" cy="0"/>
          </a:xfrm>
          <a:prstGeom prst="straightConnector1">
            <a:avLst/>
          </a:prstGeom>
          <a:noFill/>
          <a:ln cap="flat" cmpd="sng" w="19050">
            <a:solidFill>
              <a:schemeClr val="dk2"/>
            </a:solidFill>
            <a:prstDash val="solid"/>
            <a:miter lim="8000"/>
            <a:headEnd len="sm" w="sm" type="none"/>
            <a:tailEnd len="sm" w="sm" type="none"/>
          </a:ln>
        </p:spPr>
      </p:cxnSp>
      <p:sp>
        <p:nvSpPr>
          <p:cNvPr id="341" name="Google Shape;341;p56"/>
          <p:cNvSpPr/>
          <p:nvPr/>
        </p:nvSpPr>
        <p:spPr>
          <a:xfrm>
            <a:off x="544481" y="576753"/>
            <a:ext cx="112470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2418"/>
              </a:buClr>
              <a:buSzPts val="3600"/>
              <a:buFont typeface="Georgia"/>
              <a:buNone/>
            </a:pPr>
            <a:r>
              <a:rPr b="1" i="0" lang="en-ZA" sz="3600" u="none" cap="none" strike="noStrike">
                <a:solidFill>
                  <a:srgbClr val="2C2418"/>
                </a:solidFill>
                <a:latin typeface="Georgia"/>
                <a:ea typeface="Georgia"/>
                <a:cs typeface="Georgia"/>
                <a:sym typeface="Georgia"/>
              </a:rPr>
              <a:t>      What Level Were You Thinking At?</a:t>
            </a:r>
            <a:endParaRPr b="0" i="0" sz="3600" u="none" cap="none" strike="noStrike">
              <a:solidFill>
                <a:srgbClr val="C0791B"/>
              </a:solidFill>
              <a:latin typeface="Calibri"/>
              <a:ea typeface="Calibri"/>
              <a:cs typeface="Calibri"/>
              <a:sym typeface="Calibri"/>
            </a:endParaRPr>
          </a:p>
        </p:txBody>
      </p:sp>
      <p:sp>
        <p:nvSpPr>
          <p:cNvPr id="342" name="Google Shape;342;p56"/>
          <p:cNvSpPr/>
          <p:nvPr/>
        </p:nvSpPr>
        <p:spPr>
          <a:xfrm>
            <a:off x="510753" y="1768184"/>
            <a:ext cx="9982800" cy="3846000"/>
          </a:xfrm>
          <a:prstGeom prst="rect">
            <a:avLst/>
          </a:prstGeom>
          <a:solidFill>
            <a:srgbClr val="FFFFFF"/>
          </a:solidFill>
          <a:ln cap="flat" cmpd="sng" w="12700">
            <a:solidFill>
              <a:srgbClr val="E7E8D1"/>
            </a:solidFill>
            <a:prstDash val="solid"/>
            <a:round/>
            <a:headEnd len="sm" w="sm" type="none"/>
            <a:tailEnd len="sm" w="sm" type="none"/>
          </a:ln>
          <a:effectLst>
            <a:outerShdw blurRad="152400" rotWithShape="0" algn="bl" dir="5400000" dist="381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56"/>
          <p:cNvSpPr/>
          <p:nvPr/>
        </p:nvSpPr>
        <p:spPr>
          <a:xfrm>
            <a:off x="510753" y="1768190"/>
            <a:ext cx="109800" cy="29262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56"/>
          <p:cNvSpPr/>
          <p:nvPr/>
        </p:nvSpPr>
        <p:spPr>
          <a:xfrm>
            <a:off x="785073" y="1722470"/>
            <a:ext cx="7314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7E8D1"/>
              </a:buClr>
              <a:buSzPts val="8000"/>
              <a:buFont typeface="Georgia"/>
              <a:buNone/>
            </a:pPr>
            <a:r>
              <a:rPr b="1" i="0" lang="en-ZA" sz="8000" u="none" cap="none" strike="noStrike">
                <a:solidFill>
                  <a:srgbClr val="E7E8D1"/>
                </a:solidFill>
                <a:latin typeface="Georgia"/>
                <a:ea typeface="Georgia"/>
                <a:cs typeface="Georgia"/>
                <a:sym typeface="Georgia"/>
              </a:rPr>
              <a:t>"</a:t>
            </a:r>
            <a:endParaRPr b="0" i="0" sz="8000" u="none" cap="none" strike="noStrike">
              <a:solidFill>
                <a:srgbClr val="C0791B"/>
              </a:solidFill>
              <a:latin typeface="Calibri"/>
              <a:ea typeface="Calibri"/>
              <a:cs typeface="Calibri"/>
              <a:sym typeface="Calibri"/>
            </a:endParaRPr>
          </a:p>
        </p:txBody>
      </p:sp>
      <p:sp>
        <p:nvSpPr>
          <p:cNvPr id="345" name="Google Shape;345;p56"/>
          <p:cNvSpPr/>
          <p:nvPr/>
        </p:nvSpPr>
        <p:spPr>
          <a:xfrm>
            <a:off x="1333713" y="2453990"/>
            <a:ext cx="8229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2418"/>
              </a:buClr>
              <a:buSzPts val="2200"/>
              <a:buFont typeface="Georgia"/>
              <a:buNone/>
            </a:pPr>
            <a:r>
              <a:rPr b="1" i="1" lang="en-ZA" sz="2700" u="none" cap="none" strike="noStrike">
                <a:solidFill>
                  <a:srgbClr val="2C2418"/>
                </a:solidFill>
                <a:latin typeface="Georgia"/>
                <a:ea typeface="Georgia"/>
                <a:cs typeface="Georgia"/>
                <a:sym typeface="Georgia"/>
              </a:rPr>
              <a:t>'Jide was hungry so she went looking for…'</a:t>
            </a:r>
            <a:endParaRPr b="0" i="0" sz="2700" u="none" cap="none" strike="noStrike">
              <a:solidFill>
                <a:srgbClr val="C0791B"/>
              </a:solidFill>
              <a:latin typeface="Calibri"/>
              <a:ea typeface="Calibri"/>
              <a:cs typeface="Calibri"/>
              <a:sym typeface="Calibri"/>
            </a:endParaRPr>
          </a:p>
        </p:txBody>
      </p:sp>
      <p:sp>
        <p:nvSpPr>
          <p:cNvPr id="346" name="Google Shape;346;p56"/>
          <p:cNvSpPr/>
          <p:nvPr/>
        </p:nvSpPr>
        <p:spPr>
          <a:xfrm>
            <a:off x="1333703" y="3002635"/>
            <a:ext cx="8229600" cy="73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C4A3A"/>
              </a:buClr>
              <a:buSzPts val="1600"/>
              <a:buFont typeface="Calibri"/>
              <a:buNone/>
            </a:pPr>
            <a:r>
              <a:rPr b="0" i="0" lang="en-ZA" sz="2100" u="none" cap="none" strike="noStrike">
                <a:solidFill>
                  <a:srgbClr val="5C4A3A"/>
                </a:solidFill>
                <a:latin typeface="Calibri"/>
                <a:ea typeface="Calibri"/>
                <a:cs typeface="Calibri"/>
                <a:sym typeface="Calibri"/>
              </a:rPr>
              <a:t>…and predicted the next word. What were you doing, cognitively?</a:t>
            </a:r>
            <a:endParaRPr b="0" i="0" sz="2100" u="none" cap="none" strike="noStrike">
              <a:solidFill>
                <a:srgbClr val="C0791B"/>
              </a:solidFill>
              <a:latin typeface="Calibri"/>
              <a:ea typeface="Calibri"/>
              <a:cs typeface="Calibri"/>
              <a:sym typeface="Calibri"/>
            </a:endParaRPr>
          </a:p>
        </p:txBody>
      </p:sp>
      <p:sp>
        <p:nvSpPr>
          <p:cNvPr id="347" name="Google Shape;347;p56"/>
          <p:cNvSpPr/>
          <p:nvPr/>
        </p:nvSpPr>
        <p:spPr>
          <a:xfrm>
            <a:off x="1333703" y="3734169"/>
            <a:ext cx="8229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5042"/>
              </a:buClr>
              <a:buSzPts val="1600"/>
              <a:buFont typeface="Calibri"/>
              <a:buNone/>
            </a:pPr>
            <a:r>
              <a:rPr b="1" i="0" lang="en-ZA" sz="1800" u="none" cap="none" strike="noStrike">
                <a:solidFill>
                  <a:srgbClr val="B85042"/>
                </a:solidFill>
                <a:latin typeface="Calibri"/>
                <a:ea typeface="Calibri"/>
                <a:cs typeface="Calibri"/>
                <a:sym typeface="Calibri"/>
              </a:rPr>
              <a:t>Recalling a fact?    Applying a rule?    Creating something new?</a:t>
            </a:r>
            <a:endParaRPr b="0" i="0" sz="1800" u="none" cap="none" strike="noStrike">
              <a:solidFill>
                <a:srgbClr val="C0791B"/>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id="353" name="Google Shape;353;p5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54" name="Google Shape;354;p57"/>
          <p:cNvPicPr preferRelativeResize="0"/>
          <p:nvPr/>
        </p:nvPicPr>
        <p:blipFill rotWithShape="1">
          <a:blip r:embed="rId4">
            <a:alphaModFix/>
          </a:blip>
          <a:srcRect b="0" l="0" r="0" t="0"/>
          <a:stretch/>
        </p:blipFill>
        <p:spPr>
          <a:xfrm>
            <a:off x="2809526" y="152389"/>
            <a:ext cx="6571252" cy="65531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5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1" name="Google Shape;361;p58"/>
          <p:cNvSpPr/>
          <p:nvPr/>
        </p:nvSpPr>
        <p:spPr>
          <a:xfrm>
            <a:off x="704175" y="696871"/>
            <a:ext cx="112470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2418"/>
              </a:buClr>
              <a:buSzPts val="3600"/>
              <a:buFont typeface="Georgia"/>
              <a:buNone/>
            </a:pPr>
            <a:r>
              <a:rPr b="1" i="0" lang="en-ZA" sz="3600" u="none" cap="none" strike="noStrike">
                <a:solidFill>
                  <a:srgbClr val="2C2418"/>
                </a:solidFill>
                <a:latin typeface="Georgia"/>
                <a:ea typeface="Georgia"/>
                <a:cs typeface="Georgia"/>
                <a:sym typeface="Georgia"/>
              </a:rPr>
              <a:t>Learning Objective </a:t>
            </a:r>
            <a:endParaRPr b="0" i="0" sz="3600" u="none" cap="none" strike="noStrike">
              <a:solidFill>
                <a:srgbClr val="C0791B"/>
              </a:solidFill>
              <a:latin typeface="Calibri"/>
              <a:ea typeface="Calibri"/>
              <a:cs typeface="Calibri"/>
              <a:sym typeface="Calibri"/>
            </a:endParaRPr>
          </a:p>
        </p:txBody>
      </p:sp>
      <p:sp>
        <p:nvSpPr>
          <p:cNvPr id="362" name="Google Shape;362;p58"/>
          <p:cNvSpPr/>
          <p:nvPr/>
        </p:nvSpPr>
        <p:spPr>
          <a:xfrm>
            <a:off x="1008031" y="1861186"/>
            <a:ext cx="9982800" cy="1082100"/>
          </a:xfrm>
          <a:prstGeom prst="rect">
            <a:avLst/>
          </a:prstGeom>
          <a:solidFill>
            <a:srgbClr val="FFFFFF"/>
          </a:solidFill>
          <a:ln cap="flat" cmpd="sng" w="12700">
            <a:solidFill>
              <a:srgbClr val="E7E8D1"/>
            </a:solidFill>
            <a:prstDash val="solid"/>
            <a:round/>
            <a:headEnd len="sm" w="sm" type="none"/>
            <a:tailEnd len="sm" w="sm" type="none"/>
          </a:ln>
          <a:effectLst>
            <a:outerShdw blurRad="152400" rotWithShape="0" algn="bl" dir="5400000" dist="381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B85042"/>
              </a:buClr>
              <a:buSzPts val="1400"/>
              <a:buFont typeface="Calibri"/>
              <a:buNone/>
            </a:pPr>
            <a:r>
              <a:rPr b="1" i="0" lang="en-ZA" sz="1700" u="none" cap="none" strike="noStrike">
                <a:solidFill>
                  <a:srgbClr val="B85042"/>
                </a:solidFill>
                <a:latin typeface="Calibri"/>
                <a:ea typeface="Calibri"/>
                <a:cs typeface="Calibri"/>
                <a:sym typeface="Calibri"/>
              </a:rPr>
              <a:t>DEFINITION  A clear, specific statement describing what a learner is expected to be able to do by the end of a lesson, course, or activity </a:t>
            </a:r>
            <a:r>
              <a:rPr b="1" lang="en-ZA" sz="1700">
                <a:solidFill>
                  <a:srgbClr val="B85042"/>
                </a:solidFill>
                <a:latin typeface="Calibri"/>
                <a:ea typeface="Calibri"/>
                <a:cs typeface="Calibri"/>
                <a:sym typeface="Calibri"/>
              </a:rPr>
              <a:t> : </a:t>
            </a:r>
            <a:r>
              <a:rPr b="1" i="0" lang="en-ZA" sz="1700" u="none" cap="none" strike="noStrike">
                <a:solidFill>
                  <a:srgbClr val="B85042"/>
                </a:solidFill>
                <a:latin typeface="Calibri"/>
                <a:ea typeface="Calibri"/>
                <a:cs typeface="Calibri"/>
                <a:sym typeface="Calibri"/>
              </a:rPr>
              <a:t>always starting with an action verb.  </a:t>
            </a:r>
            <a:endParaRPr b="0" i="0" sz="1600" u="none" cap="none" strike="noStrike">
              <a:solidFill>
                <a:srgbClr val="2C2418"/>
              </a:solidFill>
              <a:latin typeface="Arial"/>
              <a:ea typeface="Arial"/>
              <a:cs typeface="Arial"/>
              <a:sym typeface="Arial"/>
            </a:endParaRPr>
          </a:p>
        </p:txBody>
      </p:sp>
      <p:sp>
        <p:nvSpPr>
          <p:cNvPr id="363" name="Google Shape;363;p58"/>
          <p:cNvSpPr/>
          <p:nvPr/>
        </p:nvSpPr>
        <p:spPr>
          <a:xfrm flipH="1">
            <a:off x="824288" y="1843912"/>
            <a:ext cx="164400" cy="10821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58"/>
          <p:cNvSpPr txBox="1"/>
          <p:nvPr/>
        </p:nvSpPr>
        <p:spPr>
          <a:xfrm>
            <a:off x="824293" y="3375256"/>
            <a:ext cx="9950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ZA" sz="1800" u="none" cap="none" strike="noStrike">
                <a:solidFill>
                  <a:srgbClr val="8B2E2E"/>
                </a:solidFill>
                <a:latin typeface="Nunito"/>
                <a:ea typeface="Nunito"/>
                <a:cs typeface="Nunito"/>
                <a:sym typeface="Nunito"/>
              </a:rPr>
              <a:t>Examples:</a:t>
            </a:r>
            <a:endParaRPr b="1" i="0" sz="1700" u="none" cap="none" strike="noStrike">
              <a:solidFill>
                <a:srgbClr val="8B2E2E"/>
              </a:solidFill>
              <a:latin typeface="Nunito"/>
              <a:ea typeface="Nunito"/>
              <a:cs typeface="Nunito"/>
              <a:sym typeface="Nunito"/>
            </a:endParaRPr>
          </a:p>
        </p:txBody>
      </p:sp>
      <p:sp>
        <p:nvSpPr>
          <p:cNvPr id="365" name="Google Shape;365;p58"/>
          <p:cNvSpPr txBox="1"/>
          <p:nvPr/>
        </p:nvSpPr>
        <p:spPr>
          <a:xfrm>
            <a:off x="712518" y="4169881"/>
            <a:ext cx="9950100" cy="19008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00000"/>
              </a:lnSpc>
              <a:spcBef>
                <a:spcPts val="0"/>
              </a:spcBef>
              <a:spcAft>
                <a:spcPts val="0"/>
              </a:spcAft>
              <a:buClr>
                <a:srgbClr val="8B2E2E"/>
              </a:buClr>
              <a:buSzPts val="2100"/>
              <a:buFont typeface="Nunito"/>
              <a:buChar char="●"/>
            </a:pPr>
            <a:r>
              <a:rPr b="0" i="0" lang="en-ZA" sz="1700" u="none" cap="none" strike="noStrike">
                <a:solidFill>
                  <a:srgbClr val="8B2E2E"/>
                </a:solidFill>
                <a:latin typeface="Nunito"/>
                <a:ea typeface="Nunito"/>
                <a:cs typeface="Nunito"/>
                <a:sym typeface="Nunito"/>
              </a:rPr>
              <a:t>By the end of this lesson, students will be able to understand tokenization and compare different tokenization methods. </a:t>
            </a:r>
            <a:endParaRPr b="0" i="0" sz="1700" u="none" cap="none" strike="noStrike">
              <a:solidFill>
                <a:srgbClr val="8B2E2E"/>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8B2E2E"/>
              </a:solidFill>
              <a:latin typeface="Nunito"/>
              <a:ea typeface="Nunito"/>
              <a:cs typeface="Nunito"/>
              <a:sym typeface="Nunito"/>
            </a:endParaRPr>
          </a:p>
          <a:p>
            <a:pPr indent="-374650" lvl="0" marL="457200" marR="0" rtl="0" algn="l">
              <a:lnSpc>
                <a:spcPct val="100000"/>
              </a:lnSpc>
              <a:spcBef>
                <a:spcPts val="0"/>
              </a:spcBef>
              <a:spcAft>
                <a:spcPts val="0"/>
              </a:spcAft>
              <a:buClr>
                <a:srgbClr val="8B2E2E"/>
              </a:buClr>
              <a:buSzPts val="2300"/>
              <a:buFont typeface="Nunito"/>
              <a:buChar char="●"/>
            </a:pPr>
            <a:r>
              <a:rPr b="0" i="0" lang="en-ZA" sz="1750" u="none" cap="none" strike="noStrike">
                <a:solidFill>
                  <a:srgbClr val="333333"/>
                </a:solidFill>
                <a:latin typeface="Calibri"/>
                <a:ea typeface="Calibri"/>
                <a:cs typeface="Calibri"/>
                <a:sym typeface="Calibri"/>
              </a:rPr>
              <a:t>By the end of this course, students will be able to explain how the BPE algorithm builds a vocabulary step by step.</a:t>
            </a:r>
            <a:endParaRPr b="0" i="0" sz="175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59"/>
          <p:cNvPicPr preferRelativeResize="0"/>
          <p:nvPr/>
        </p:nvPicPr>
        <p:blipFill rotWithShape="1">
          <a:blip r:embed="rId3">
            <a:alphaModFix/>
          </a:blip>
          <a:srcRect b="0" l="0" r="0" t="0"/>
          <a:stretch/>
        </p:blipFill>
        <p:spPr>
          <a:xfrm>
            <a:off x="-15302" y="0"/>
            <a:ext cx="12192000" cy="6858000"/>
          </a:xfrm>
          <a:prstGeom prst="rect">
            <a:avLst/>
          </a:prstGeom>
          <a:noFill/>
          <a:ln>
            <a:noFill/>
          </a:ln>
        </p:spPr>
      </p:pic>
      <p:cxnSp>
        <p:nvCxnSpPr>
          <p:cNvPr id="372" name="Google Shape;372;p59"/>
          <p:cNvCxnSpPr/>
          <p:nvPr/>
        </p:nvCxnSpPr>
        <p:spPr>
          <a:xfrm>
            <a:off x="753533" y="1580827"/>
            <a:ext cx="10544731" cy="0"/>
          </a:xfrm>
          <a:prstGeom prst="straightConnector1">
            <a:avLst/>
          </a:prstGeom>
          <a:noFill/>
          <a:ln cap="flat" cmpd="sng" w="19050">
            <a:solidFill>
              <a:schemeClr val="dk2"/>
            </a:solidFill>
            <a:prstDash val="solid"/>
            <a:miter lim="8000"/>
            <a:headEnd len="sm" w="sm" type="none"/>
            <a:tailEnd len="sm" w="sm" type="none"/>
          </a:ln>
        </p:spPr>
      </p:cxnSp>
      <p:sp>
        <p:nvSpPr>
          <p:cNvPr id="373" name="Google Shape;373;p59"/>
          <p:cNvSpPr/>
          <p:nvPr/>
        </p:nvSpPr>
        <p:spPr>
          <a:xfrm>
            <a:off x="617358" y="537004"/>
            <a:ext cx="112470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2418"/>
              </a:buClr>
              <a:buSzPts val="3600"/>
              <a:buFont typeface="Georgia"/>
              <a:buNone/>
            </a:pPr>
            <a:r>
              <a:rPr b="1" i="0" lang="en-ZA" sz="3600" u="none" cap="none" strike="noStrike">
                <a:solidFill>
                  <a:srgbClr val="2C2418"/>
                </a:solidFill>
                <a:latin typeface="Georgia"/>
                <a:ea typeface="Georgia"/>
                <a:cs typeface="Georgia"/>
                <a:sym typeface="Georgia"/>
              </a:rPr>
              <a:t>Three Domains of Bloom's Taxonomy</a:t>
            </a:r>
            <a:endParaRPr b="0" i="0" sz="3600" u="none" cap="none" strike="noStrike">
              <a:solidFill>
                <a:srgbClr val="C0791B"/>
              </a:solidFill>
              <a:latin typeface="Calibri"/>
              <a:ea typeface="Calibri"/>
              <a:cs typeface="Calibri"/>
              <a:sym typeface="Calibri"/>
            </a:endParaRPr>
          </a:p>
        </p:txBody>
      </p:sp>
      <p:sp>
        <p:nvSpPr>
          <p:cNvPr id="374" name="Google Shape;374;p59"/>
          <p:cNvSpPr/>
          <p:nvPr/>
        </p:nvSpPr>
        <p:spPr>
          <a:xfrm>
            <a:off x="320040" y="1916987"/>
            <a:ext cx="3657600" cy="3566100"/>
          </a:xfrm>
          <a:prstGeom prst="rect">
            <a:avLst/>
          </a:prstGeom>
          <a:solidFill>
            <a:srgbClr val="FFFFFF"/>
          </a:solidFill>
          <a:ln cap="flat" cmpd="sng" w="12700">
            <a:solidFill>
              <a:srgbClr val="E7E8D1"/>
            </a:solidFill>
            <a:prstDash val="solid"/>
            <a:round/>
            <a:headEnd len="sm" w="sm" type="none"/>
            <a:tailEnd len="sm" w="sm" type="none"/>
          </a:ln>
          <a:effectLst>
            <a:outerShdw blurRad="127000" rotWithShape="0" algn="bl" dir="54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59"/>
          <p:cNvSpPr/>
          <p:nvPr/>
        </p:nvSpPr>
        <p:spPr>
          <a:xfrm>
            <a:off x="320040" y="1916987"/>
            <a:ext cx="3657600" cy="10059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9"/>
          <p:cNvSpPr/>
          <p:nvPr/>
        </p:nvSpPr>
        <p:spPr>
          <a:xfrm>
            <a:off x="320040" y="2099867"/>
            <a:ext cx="36576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Georgia"/>
              <a:buNone/>
            </a:pPr>
            <a:r>
              <a:rPr b="1" i="0" lang="en-ZA" sz="2200" u="none" cap="none" strike="noStrike">
                <a:solidFill>
                  <a:srgbClr val="FFFFFF"/>
                </a:solidFill>
                <a:latin typeface="Georgia"/>
                <a:ea typeface="Georgia"/>
                <a:cs typeface="Georgia"/>
                <a:sym typeface="Georgia"/>
              </a:rPr>
              <a:t>COGNITIVE</a:t>
            </a:r>
            <a:endParaRPr b="0" i="0" sz="2200" u="none" cap="none" strike="noStrike">
              <a:solidFill>
                <a:srgbClr val="C0791B"/>
              </a:solidFill>
              <a:latin typeface="Calibri"/>
              <a:ea typeface="Calibri"/>
              <a:cs typeface="Calibri"/>
              <a:sym typeface="Calibri"/>
            </a:endParaRPr>
          </a:p>
        </p:txBody>
      </p:sp>
      <p:sp>
        <p:nvSpPr>
          <p:cNvPr id="377" name="Google Shape;377;p59"/>
          <p:cNvSpPr/>
          <p:nvPr/>
        </p:nvSpPr>
        <p:spPr>
          <a:xfrm>
            <a:off x="640080" y="3151427"/>
            <a:ext cx="3017400" cy="16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2418"/>
              </a:buClr>
              <a:buSzPts val="1400"/>
              <a:buFont typeface="Calibri"/>
              <a:buNone/>
            </a:pPr>
            <a:r>
              <a:t/>
            </a:r>
            <a:endParaRPr b="0" i="0" sz="2100" u="none" cap="none" strike="noStrike">
              <a:solidFill>
                <a:srgbClr val="2C2418"/>
              </a:solidFill>
              <a:latin typeface="Calibri"/>
              <a:ea typeface="Calibri"/>
              <a:cs typeface="Calibri"/>
              <a:sym typeface="Calibri"/>
            </a:endParaRPr>
          </a:p>
          <a:p>
            <a:pPr indent="0" lvl="0" marL="0" marR="0" rtl="0" algn="ctr">
              <a:lnSpc>
                <a:spcPct val="100000"/>
              </a:lnSpc>
              <a:spcBef>
                <a:spcPts val="0"/>
              </a:spcBef>
              <a:spcAft>
                <a:spcPts val="0"/>
              </a:spcAft>
              <a:buClr>
                <a:srgbClr val="2C2418"/>
              </a:buClr>
              <a:buSzPts val="1400"/>
              <a:buFont typeface="Calibri"/>
              <a:buNone/>
            </a:pPr>
            <a:r>
              <a:rPr b="0" i="0" lang="en-ZA" sz="2100" u="none" cap="none" strike="noStrike">
                <a:solidFill>
                  <a:srgbClr val="2C2418"/>
                </a:solidFill>
                <a:latin typeface="Calibri"/>
                <a:ea typeface="Calibri"/>
                <a:cs typeface="Calibri"/>
                <a:sym typeface="Calibri"/>
              </a:rPr>
              <a:t>      How learners process knowledge </a:t>
            </a:r>
            <a:endParaRPr b="0" i="0" sz="2100" u="none" cap="none" strike="noStrike">
              <a:solidFill>
                <a:srgbClr val="C0791B"/>
              </a:solidFill>
              <a:latin typeface="Calibri"/>
              <a:ea typeface="Calibri"/>
              <a:cs typeface="Calibri"/>
              <a:sym typeface="Calibri"/>
            </a:endParaRPr>
          </a:p>
        </p:txBody>
      </p:sp>
      <p:sp>
        <p:nvSpPr>
          <p:cNvPr id="378" name="Google Shape;378;p59"/>
          <p:cNvSpPr/>
          <p:nvPr/>
        </p:nvSpPr>
        <p:spPr>
          <a:xfrm>
            <a:off x="1051560" y="4888787"/>
            <a:ext cx="2194500" cy="3657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59"/>
          <p:cNvSpPr/>
          <p:nvPr/>
        </p:nvSpPr>
        <p:spPr>
          <a:xfrm>
            <a:off x="1462985" y="5700662"/>
            <a:ext cx="21945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ZA" sz="1000" u="none" cap="none" strike="noStrike">
                <a:solidFill>
                  <a:srgbClr val="FFFFFF"/>
                </a:solidFill>
                <a:latin typeface="Calibri"/>
                <a:ea typeface="Calibri"/>
                <a:cs typeface="Calibri"/>
                <a:sym typeface="Calibri"/>
              </a:rPr>
              <a:t>IN SCOPE TODAY</a:t>
            </a:r>
            <a:endParaRPr b="0" i="0" sz="1000" u="none" cap="none" strike="noStrike">
              <a:solidFill>
                <a:srgbClr val="C0791B"/>
              </a:solidFill>
              <a:latin typeface="Calibri"/>
              <a:ea typeface="Calibri"/>
              <a:cs typeface="Calibri"/>
              <a:sym typeface="Calibri"/>
            </a:endParaRPr>
          </a:p>
        </p:txBody>
      </p:sp>
      <p:sp>
        <p:nvSpPr>
          <p:cNvPr id="380" name="Google Shape;380;p59"/>
          <p:cNvSpPr/>
          <p:nvPr/>
        </p:nvSpPr>
        <p:spPr>
          <a:xfrm>
            <a:off x="4251960" y="1916987"/>
            <a:ext cx="3657600" cy="3566100"/>
          </a:xfrm>
          <a:prstGeom prst="rect">
            <a:avLst/>
          </a:prstGeom>
          <a:solidFill>
            <a:srgbClr val="FFFFFF"/>
          </a:solidFill>
          <a:ln cap="flat" cmpd="sng" w="12700">
            <a:solidFill>
              <a:srgbClr val="E7E8D1"/>
            </a:solidFill>
            <a:prstDash val="solid"/>
            <a:round/>
            <a:headEnd len="sm" w="sm" type="none"/>
            <a:tailEnd len="sm" w="sm" type="none"/>
          </a:ln>
          <a:effectLst>
            <a:outerShdw blurRad="127000" rotWithShape="0" algn="bl" dir="54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59"/>
          <p:cNvSpPr/>
          <p:nvPr/>
        </p:nvSpPr>
        <p:spPr>
          <a:xfrm>
            <a:off x="4251960" y="1916987"/>
            <a:ext cx="3657600" cy="1005900"/>
          </a:xfrm>
          <a:prstGeom prst="rect">
            <a:avLst/>
          </a:prstGeom>
          <a:solidFill>
            <a:srgbClr val="5C8B7E"/>
          </a:solidFill>
          <a:ln cap="flat" cmpd="sng" w="12700">
            <a:solidFill>
              <a:srgbClr val="5C8B7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59"/>
          <p:cNvSpPr/>
          <p:nvPr/>
        </p:nvSpPr>
        <p:spPr>
          <a:xfrm>
            <a:off x="4251960" y="2099867"/>
            <a:ext cx="36576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Georgia"/>
              <a:buNone/>
            </a:pPr>
            <a:r>
              <a:rPr b="1" i="0" lang="en-ZA" sz="2200" u="none" cap="none" strike="noStrike">
                <a:solidFill>
                  <a:srgbClr val="FFFFFF"/>
                </a:solidFill>
                <a:latin typeface="Georgia"/>
                <a:ea typeface="Georgia"/>
                <a:cs typeface="Georgia"/>
                <a:sym typeface="Georgia"/>
              </a:rPr>
              <a:t>AFFECTIVE</a:t>
            </a:r>
            <a:endParaRPr b="0" i="0" sz="2200" u="none" cap="none" strike="noStrike">
              <a:solidFill>
                <a:srgbClr val="C0791B"/>
              </a:solidFill>
              <a:latin typeface="Calibri"/>
              <a:ea typeface="Calibri"/>
              <a:cs typeface="Calibri"/>
              <a:sym typeface="Calibri"/>
            </a:endParaRPr>
          </a:p>
        </p:txBody>
      </p:sp>
      <p:sp>
        <p:nvSpPr>
          <p:cNvPr id="383" name="Google Shape;383;p59"/>
          <p:cNvSpPr/>
          <p:nvPr/>
        </p:nvSpPr>
        <p:spPr>
          <a:xfrm>
            <a:off x="4572000" y="3151427"/>
            <a:ext cx="3017400" cy="16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2418"/>
              </a:buClr>
              <a:buSzPts val="1400"/>
              <a:buFont typeface="Calibri"/>
              <a:buNone/>
            </a:pPr>
            <a:r>
              <a:t/>
            </a:r>
            <a:endParaRPr b="0" i="0" sz="2000" u="none" cap="none" strike="noStrike">
              <a:solidFill>
                <a:srgbClr val="2C2418"/>
              </a:solidFill>
              <a:latin typeface="Calibri"/>
              <a:ea typeface="Calibri"/>
              <a:cs typeface="Calibri"/>
              <a:sym typeface="Calibri"/>
            </a:endParaRPr>
          </a:p>
          <a:p>
            <a:pPr indent="0" lvl="0" marL="0" marR="0" rtl="0" algn="ctr">
              <a:lnSpc>
                <a:spcPct val="100000"/>
              </a:lnSpc>
              <a:spcBef>
                <a:spcPts val="0"/>
              </a:spcBef>
              <a:spcAft>
                <a:spcPts val="0"/>
              </a:spcAft>
              <a:buClr>
                <a:srgbClr val="2C2418"/>
              </a:buClr>
              <a:buSzPts val="1400"/>
              <a:buFont typeface="Calibri"/>
              <a:buNone/>
            </a:pPr>
            <a:r>
              <a:rPr b="0" i="0" lang="en-ZA" sz="2000" u="none" cap="none" strike="noStrike">
                <a:solidFill>
                  <a:srgbClr val="2C2418"/>
                </a:solidFill>
                <a:latin typeface="Calibri"/>
                <a:ea typeface="Calibri"/>
                <a:cs typeface="Calibri"/>
                <a:sym typeface="Calibri"/>
              </a:rPr>
              <a:t>How learners engage with values, attitudes and ethics </a:t>
            </a:r>
            <a:endParaRPr b="0" i="0" sz="2000" u="none" cap="none" strike="noStrike">
              <a:solidFill>
                <a:srgbClr val="C0791B"/>
              </a:solidFill>
              <a:latin typeface="Calibri"/>
              <a:ea typeface="Calibri"/>
              <a:cs typeface="Calibri"/>
              <a:sym typeface="Calibri"/>
            </a:endParaRPr>
          </a:p>
        </p:txBody>
      </p:sp>
      <p:sp>
        <p:nvSpPr>
          <p:cNvPr id="384" name="Google Shape;384;p59"/>
          <p:cNvSpPr/>
          <p:nvPr/>
        </p:nvSpPr>
        <p:spPr>
          <a:xfrm>
            <a:off x="4983480" y="4888787"/>
            <a:ext cx="2194500" cy="365700"/>
          </a:xfrm>
          <a:prstGeom prst="rect">
            <a:avLst/>
          </a:prstGeom>
          <a:solidFill>
            <a:srgbClr val="5C8B7E"/>
          </a:solidFill>
          <a:ln cap="flat" cmpd="sng" w="12700">
            <a:solidFill>
              <a:srgbClr val="5C8B7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59"/>
          <p:cNvSpPr/>
          <p:nvPr/>
        </p:nvSpPr>
        <p:spPr>
          <a:xfrm>
            <a:off x="4983505" y="4888787"/>
            <a:ext cx="21945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ZA" sz="1000" u="none" cap="none" strike="noStrike">
                <a:solidFill>
                  <a:srgbClr val="FFFFFF"/>
                </a:solidFill>
                <a:latin typeface="Calibri"/>
                <a:ea typeface="Calibri"/>
                <a:cs typeface="Calibri"/>
                <a:sym typeface="Calibri"/>
              </a:rPr>
              <a:t>IN SCOPE TODAY</a:t>
            </a:r>
            <a:endParaRPr b="0" i="0" sz="1000" u="none" cap="none" strike="noStrike">
              <a:solidFill>
                <a:srgbClr val="C0791B"/>
              </a:solidFill>
              <a:latin typeface="Calibri"/>
              <a:ea typeface="Calibri"/>
              <a:cs typeface="Calibri"/>
              <a:sym typeface="Calibri"/>
            </a:endParaRPr>
          </a:p>
        </p:txBody>
      </p:sp>
      <p:sp>
        <p:nvSpPr>
          <p:cNvPr id="386" name="Google Shape;386;p59"/>
          <p:cNvSpPr/>
          <p:nvPr/>
        </p:nvSpPr>
        <p:spPr>
          <a:xfrm>
            <a:off x="8183855" y="1916987"/>
            <a:ext cx="3657600" cy="3566100"/>
          </a:xfrm>
          <a:prstGeom prst="rect">
            <a:avLst/>
          </a:prstGeom>
          <a:solidFill>
            <a:srgbClr val="FFFFFF"/>
          </a:solidFill>
          <a:ln cap="flat" cmpd="sng" w="12700">
            <a:solidFill>
              <a:srgbClr val="E7E8D1"/>
            </a:solidFill>
            <a:prstDash val="solid"/>
            <a:round/>
            <a:headEnd len="sm" w="sm" type="none"/>
            <a:tailEnd len="sm" w="sm" type="none"/>
          </a:ln>
          <a:effectLst>
            <a:outerShdw blurRad="127000" rotWithShape="0" algn="bl" dir="54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59"/>
          <p:cNvSpPr/>
          <p:nvPr/>
        </p:nvSpPr>
        <p:spPr>
          <a:xfrm>
            <a:off x="8183880" y="1916987"/>
            <a:ext cx="3657600" cy="1005900"/>
          </a:xfrm>
          <a:prstGeom prst="rect">
            <a:avLst/>
          </a:prstGeom>
          <a:solidFill>
            <a:srgbClr val="5C4A3A"/>
          </a:solidFill>
          <a:ln cap="flat" cmpd="sng" w="12700">
            <a:solidFill>
              <a:srgbClr val="5C4A3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59"/>
          <p:cNvSpPr/>
          <p:nvPr/>
        </p:nvSpPr>
        <p:spPr>
          <a:xfrm>
            <a:off x="8183880" y="2099867"/>
            <a:ext cx="3657600" cy="50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Georgia"/>
              <a:buNone/>
            </a:pPr>
            <a:r>
              <a:rPr b="1" i="0" lang="en-ZA" sz="2200" u="none" cap="none" strike="noStrike">
                <a:solidFill>
                  <a:srgbClr val="FFFFFF"/>
                </a:solidFill>
                <a:latin typeface="Georgia"/>
                <a:ea typeface="Georgia"/>
                <a:cs typeface="Georgia"/>
                <a:sym typeface="Georgia"/>
              </a:rPr>
              <a:t>PSYCHOMOTOR</a:t>
            </a:r>
            <a:endParaRPr b="0" i="0" sz="2200" u="none" cap="none" strike="noStrike">
              <a:solidFill>
                <a:srgbClr val="C0791B"/>
              </a:solidFill>
              <a:latin typeface="Calibri"/>
              <a:ea typeface="Calibri"/>
              <a:cs typeface="Calibri"/>
              <a:sym typeface="Calibri"/>
            </a:endParaRPr>
          </a:p>
        </p:txBody>
      </p:sp>
      <p:sp>
        <p:nvSpPr>
          <p:cNvPr id="389" name="Google Shape;389;p59"/>
          <p:cNvSpPr/>
          <p:nvPr/>
        </p:nvSpPr>
        <p:spPr>
          <a:xfrm>
            <a:off x="8694175" y="3151422"/>
            <a:ext cx="2827200" cy="164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400"/>
              <a:buFont typeface="Arial"/>
              <a:buNone/>
            </a:pPr>
            <a:r>
              <a:rPr b="0" i="0" lang="en-ZA" sz="2000" u="none" cap="none" strike="noStrike">
                <a:solidFill>
                  <a:srgbClr val="000000"/>
                </a:solidFill>
                <a:latin typeface="Calibri"/>
                <a:ea typeface="Calibri"/>
                <a:cs typeface="Calibri"/>
                <a:sym typeface="Calibri"/>
              </a:rPr>
              <a:t>How learners develop physical skills through practice and hands-on experience</a:t>
            </a:r>
            <a:endParaRPr b="0" i="0" sz="20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2C2418"/>
              </a:buClr>
              <a:buSzPts val="1400"/>
              <a:buFont typeface="Calibri"/>
              <a:buNone/>
            </a:pPr>
            <a:r>
              <a:t/>
            </a:r>
            <a:endParaRPr b="0" i="0" sz="2000" u="none" cap="none" strike="noStrike">
              <a:solidFill>
                <a:srgbClr val="2C2418"/>
              </a:solidFill>
              <a:latin typeface="Calibri"/>
              <a:ea typeface="Calibri"/>
              <a:cs typeface="Calibri"/>
              <a:sym typeface="Calibri"/>
            </a:endParaRPr>
          </a:p>
        </p:txBody>
      </p:sp>
      <p:sp>
        <p:nvSpPr>
          <p:cNvPr id="390" name="Google Shape;390;p59"/>
          <p:cNvSpPr/>
          <p:nvPr/>
        </p:nvSpPr>
        <p:spPr>
          <a:xfrm>
            <a:off x="8458200" y="4980227"/>
            <a:ext cx="31089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C4A3A"/>
              </a:buClr>
              <a:buSzPts val="1100"/>
              <a:buFont typeface="Calibri"/>
              <a:buNone/>
            </a:pPr>
            <a:r>
              <a:rPr b="0" i="1" lang="en-ZA" sz="1100" u="none" cap="none" strike="noStrike">
                <a:solidFill>
                  <a:srgbClr val="5C4A3A"/>
                </a:solidFill>
                <a:latin typeface="Calibri"/>
                <a:ea typeface="Calibri"/>
                <a:cs typeface="Calibri"/>
                <a:sym typeface="Calibri"/>
              </a:rPr>
              <a:t>out of scope</a:t>
            </a:r>
            <a:endParaRPr b="0" i="0" sz="1100" u="none" cap="none" strike="noStrike">
              <a:solidFill>
                <a:srgbClr val="C0791B"/>
              </a:solidFill>
              <a:latin typeface="Calibri"/>
              <a:ea typeface="Calibri"/>
              <a:cs typeface="Calibri"/>
              <a:sym typeface="Calibri"/>
            </a:endParaRPr>
          </a:p>
        </p:txBody>
      </p:sp>
      <p:sp>
        <p:nvSpPr>
          <p:cNvPr id="391" name="Google Shape;391;p59"/>
          <p:cNvSpPr/>
          <p:nvPr/>
        </p:nvSpPr>
        <p:spPr>
          <a:xfrm>
            <a:off x="1051610" y="4888787"/>
            <a:ext cx="21945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ZA" sz="1000" u="none" cap="none" strike="noStrike">
                <a:solidFill>
                  <a:srgbClr val="FFFFFF"/>
                </a:solidFill>
                <a:latin typeface="Calibri"/>
                <a:ea typeface="Calibri"/>
                <a:cs typeface="Calibri"/>
                <a:sym typeface="Calibri"/>
              </a:rPr>
              <a:t>IN SCOPE TODAY</a:t>
            </a:r>
            <a:endParaRPr b="0" i="0" sz="1000" u="none" cap="none" strike="noStrike">
              <a:solidFill>
                <a:srgbClr val="C0791B"/>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60"/>
          <p:cNvPicPr preferRelativeResize="0"/>
          <p:nvPr/>
        </p:nvPicPr>
        <p:blipFill rotWithShape="1">
          <a:blip r:embed="rId3">
            <a:alphaModFix/>
          </a:blip>
          <a:srcRect b="0" l="0" r="0" t="0"/>
          <a:stretch/>
        </p:blipFill>
        <p:spPr>
          <a:xfrm>
            <a:off x="-7" y="7"/>
            <a:ext cx="12192000" cy="6858000"/>
          </a:xfrm>
          <a:prstGeom prst="rect">
            <a:avLst/>
          </a:prstGeom>
          <a:noFill/>
          <a:ln>
            <a:noFill/>
          </a:ln>
        </p:spPr>
      </p:pic>
      <p:cxnSp>
        <p:nvCxnSpPr>
          <p:cNvPr id="398" name="Google Shape;398;p60"/>
          <p:cNvCxnSpPr/>
          <p:nvPr/>
        </p:nvCxnSpPr>
        <p:spPr>
          <a:xfrm>
            <a:off x="753533" y="1580827"/>
            <a:ext cx="10544700" cy="0"/>
          </a:xfrm>
          <a:prstGeom prst="straightConnector1">
            <a:avLst/>
          </a:prstGeom>
          <a:noFill/>
          <a:ln cap="flat" cmpd="sng" w="19050">
            <a:solidFill>
              <a:schemeClr val="dk2"/>
            </a:solidFill>
            <a:prstDash val="solid"/>
            <a:miter lim="8000"/>
            <a:headEnd len="sm" w="sm" type="none"/>
            <a:tailEnd len="sm" w="sm" type="none"/>
          </a:ln>
        </p:spPr>
      </p:cxnSp>
      <p:sp>
        <p:nvSpPr>
          <p:cNvPr id="399" name="Google Shape;399;p60"/>
          <p:cNvSpPr/>
          <p:nvPr/>
        </p:nvSpPr>
        <p:spPr>
          <a:xfrm>
            <a:off x="497239" y="617082"/>
            <a:ext cx="112470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2418"/>
              </a:buClr>
              <a:buSzPts val="3600"/>
              <a:buFont typeface="Georgia"/>
              <a:buNone/>
            </a:pPr>
            <a:r>
              <a:rPr b="1" i="0" lang="en-ZA" sz="3600" u="none" cap="none" strike="noStrike">
                <a:solidFill>
                  <a:srgbClr val="2C2418"/>
                </a:solidFill>
                <a:latin typeface="Georgia"/>
                <a:ea typeface="Georgia"/>
                <a:cs typeface="Georgia"/>
                <a:sym typeface="Georgia"/>
              </a:rPr>
              <a:t>The Cognitive Domain</a:t>
            </a:r>
            <a:endParaRPr b="0" i="0" sz="3600" u="none" cap="none" strike="noStrike">
              <a:solidFill>
                <a:srgbClr val="C0791B"/>
              </a:solidFill>
              <a:latin typeface="Calibri"/>
              <a:ea typeface="Calibri"/>
              <a:cs typeface="Calibri"/>
              <a:sym typeface="Calibri"/>
            </a:endParaRPr>
          </a:p>
        </p:txBody>
      </p:sp>
      <p:sp>
        <p:nvSpPr>
          <p:cNvPr id="400" name="Google Shape;400;p60"/>
          <p:cNvSpPr/>
          <p:nvPr/>
        </p:nvSpPr>
        <p:spPr>
          <a:xfrm>
            <a:off x="612625" y="1921665"/>
            <a:ext cx="11247000" cy="731400"/>
          </a:xfrm>
          <a:prstGeom prst="rect">
            <a:avLst/>
          </a:prstGeom>
          <a:solidFill>
            <a:srgbClr val="FFFFFF"/>
          </a:solidFill>
          <a:ln cap="flat" cmpd="sng" w="12700">
            <a:solidFill>
              <a:srgbClr val="E7E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60"/>
          <p:cNvSpPr/>
          <p:nvPr/>
        </p:nvSpPr>
        <p:spPr>
          <a:xfrm>
            <a:off x="777250" y="1854840"/>
            <a:ext cx="10789800" cy="88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5042"/>
              </a:buClr>
              <a:buSzPts val="1400"/>
              <a:buFont typeface="Calibri"/>
              <a:buNone/>
            </a:pPr>
            <a:r>
              <a:rPr b="1" i="0" lang="en-ZA" sz="1600" u="none" cap="none" strike="noStrike">
                <a:solidFill>
                  <a:srgbClr val="B85042"/>
                </a:solidFill>
                <a:latin typeface="Calibri"/>
                <a:ea typeface="Calibri"/>
                <a:cs typeface="Calibri"/>
                <a:sym typeface="Calibri"/>
              </a:rPr>
              <a:t>DEFINITION   </a:t>
            </a:r>
            <a:r>
              <a:rPr b="0" i="0" lang="en-ZA" sz="1750" u="none" cap="none" strike="noStrike">
                <a:solidFill>
                  <a:srgbClr val="333333"/>
                </a:solidFill>
                <a:latin typeface="Calibri"/>
                <a:ea typeface="Calibri"/>
                <a:cs typeface="Calibri"/>
                <a:sym typeface="Calibri"/>
              </a:rPr>
              <a:t>Describes how learners develop knowledge and skills, from remembering facts to creating original work.</a:t>
            </a:r>
            <a:endParaRPr b="0" i="0" sz="2000" u="none" cap="none" strike="noStrike">
              <a:solidFill>
                <a:srgbClr val="2C2418"/>
              </a:solidFill>
              <a:latin typeface="Calibri"/>
              <a:ea typeface="Calibri"/>
              <a:cs typeface="Calibri"/>
              <a:sym typeface="Calibri"/>
            </a:endParaRPr>
          </a:p>
        </p:txBody>
      </p:sp>
      <p:sp>
        <p:nvSpPr>
          <p:cNvPr id="402" name="Google Shape;402;p60"/>
          <p:cNvSpPr/>
          <p:nvPr/>
        </p:nvSpPr>
        <p:spPr>
          <a:xfrm>
            <a:off x="1965960" y="3017520"/>
            <a:ext cx="8229600" cy="420600"/>
          </a:xfrm>
          <a:prstGeom prst="rect">
            <a:avLst/>
          </a:prstGeom>
          <a:solidFill>
            <a:srgbClr val="8B2E2E"/>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60"/>
          <p:cNvSpPr/>
          <p:nvPr/>
        </p:nvSpPr>
        <p:spPr>
          <a:xfrm>
            <a:off x="1965960" y="3017520"/>
            <a:ext cx="4114800" cy="42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500"/>
              <a:buFont typeface="Calibri"/>
              <a:buNone/>
            </a:pPr>
            <a:r>
              <a:rPr b="1" i="0" lang="en-ZA" sz="1800" u="none" cap="none" strike="noStrike">
                <a:solidFill>
                  <a:srgbClr val="FFFFFF"/>
                </a:solidFill>
                <a:latin typeface="Calibri"/>
                <a:ea typeface="Calibri"/>
                <a:cs typeface="Calibri"/>
                <a:sym typeface="Calibri"/>
              </a:rPr>
              <a:t>Create</a:t>
            </a:r>
            <a:endParaRPr b="0" i="0" sz="1800" u="none" cap="none" strike="noStrike">
              <a:solidFill>
                <a:srgbClr val="C0791B"/>
              </a:solidFill>
              <a:latin typeface="Calibri"/>
              <a:ea typeface="Calibri"/>
              <a:cs typeface="Calibri"/>
              <a:sym typeface="Calibri"/>
            </a:endParaRPr>
          </a:p>
        </p:txBody>
      </p:sp>
      <p:sp>
        <p:nvSpPr>
          <p:cNvPr id="404" name="Google Shape;404;p60"/>
          <p:cNvSpPr/>
          <p:nvPr/>
        </p:nvSpPr>
        <p:spPr>
          <a:xfrm>
            <a:off x="6263640" y="3017520"/>
            <a:ext cx="39318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1" lang="en-ZA" sz="1500" u="none" cap="none" strike="noStrike">
                <a:solidFill>
                  <a:srgbClr val="FFFFFF"/>
                </a:solidFill>
                <a:latin typeface="Calibri"/>
                <a:ea typeface="Calibri"/>
                <a:cs typeface="Calibri"/>
                <a:sym typeface="Calibri"/>
              </a:rPr>
              <a:t>design, generate, invent</a:t>
            </a:r>
            <a:endParaRPr b="0" i="0" sz="1500" u="none" cap="none" strike="noStrike">
              <a:solidFill>
                <a:srgbClr val="C0791B"/>
              </a:solidFill>
              <a:latin typeface="Calibri"/>
              <a:ea typeface="Calibri"/>
              <a:cs typeface="Calibri"/>
              <a:sym typeface="Calibri"/>
            </a:endParaRPr>
          </a:p>
        </p:txBody>
      </p:sp>
      <p:sp>
        <p:nvSpPr>
          <p:cNvPr id="405" name="Google Shape;405;p60"/>
          <p:cNvSpPr/>
          <p:nvPr/>
        </p:nvSpPr>
        <p:spPr>
          <a:xfrm>
            <a:off x="2468880" y="3493008"/>
            <a:ext cx="7223700" cy="420600"/>
          </a:xfrm>
          <a:prstGeom prst="rect">
            <a:avLst/>
          </a:prstGeom>
          <a:solidFill>
            <a:srgbClr val="B85042"/>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60"/>
          <p:cNvSpPr/>
          <p:nvPr/>
        </p:nvSpPr>
        <p:spPr>
          <a:xfrm>
            <a:off x="2468880" y="3493008"/>
            <a:ext cx="3612000" cy="42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500"/>
              <a:buFont typeface="Calibri"/>
              <a:buNone/>
            </a:pPr>
            <a:r>
              <a:rPr b="1" i="0" lang="en-ZA" sz="1800" u="none" cap="none" strike="noStrike">
                <a:solidFill>
                  <a:srgbClr val="FFFFFF"/>
                </a:solidFill>
                <a:latin typeface="Calibri"/>
                <a:ea typeface="Calibri"/>
                <a:cs typeface="Calibri"/>
                <a:sym typeface="Calibri"/>
              </a:rPr>
              <a:t>Evaluate</a:t>
            </a:r>
            <a:endParaRPr b="0" i="0" sz="1800" u="none" cap="none" strike="noStrike">
              <a:solidFill>
                <a:srgbClr val="C0791B"/>
              </a:solidFill>
              <a:latin typeface="Calibri"/>
              <a:ea typeface="Calibri"/>
              <a:cs typeface="Calibri"/>
              <a:sym typeface="Calibri"/>
            </a:endParaRPr>
          </a:p>
        </p:txBody>
      </p:sp>
      <p:sp>
        <p:nvSpPr>
          <p:cNvPr id="407" name="Google Shape;407;p60"/>
          <p:cNvSpPr/>
          <p:nvPr/>
        </p:nvSpPr>
        <p:spPr>
          <a:xfrm>
            <a:off x="6263640" y="3493008"/>
            <a:ext cx="34290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1" lang="en-ZA" sz="1500" u="none" cap="none" strike="noStrike">
                <a:solidFill>
                  <a:srgbClr val="FFFFFF"/>
                </a:solidFill>
                <a:latin typeface="Calibri"/>
                <a:ea typeface="Calibri"/>
                <a:cs typeface="Calibri"/>
                <a:sym typeface="Calibri"/>
              </a:rPr>
              <a:t>judge, critique, defend</a:t>
            </a:r>
            <a:endParaRPr b="0" i="0" sz="1500" u="none" cap="none" strike="noStrike">
              <a:solidFill>
                <a:srgbClr val="C0791B"/>
              </a:solidFill>
              <a:latin typeface="Calibri"/>
              <a:ea typeface="Calibri"/>
              <a:cs typeface="Calibri"/>
              <a:sym typeface="Calibri"/>
            </a:endParaRPr>
          </a:p>
        </p:txBody>
      </p:sp>
      <p:sp>
        <p:nvSpPr>
          <p:cNvPr id="408" name="Google Shape;408;p60"/>
          <p:cNvSpPr/>
          <p:nvPr/>
        </p:nvSpPr>
        <p:spPr>
          <a:xfrm>
            <a:off x="2971800" y="3968496"/>
            <a:ext cx="6217800" cy="420600"/>
          </a:xfrm>
          <a:prstGeom prst="rect">
            <a:avLst/>
          </a:prstGeom>
          <a:solidFill>
            <a:srgbClr val="D08F5A"/>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60"/>
          <p:cNvSpPr/>
          <p:nvPr/>
        </p:nvSpPr>
        <p:spPr>
          <a:xfrm>
            <a:off x="2971800" y="3968496"/>
            <a:ext cx="3108900" cy="42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500"/>
              <a:buFont typeface="Calibri"/>
              <a:buNone/>
            </a:pPr>
            <a:r>
              <a:rPr b="1" i="0" lang="en-ZA" sz="1900" u="none" cap="none" strike="noStrike">
                <a:solidFill>
                  <a:srgbClr val="FFFFFF"/>
                </a:solidFill>
                <a:latin typeface="Calibri"/>
                <a:ea typeface="Calibri"/>
                <a:cs typeface="Calibri"/>
                <a:sym typeface="Calibri"/>
              </a:rPr>
              <a:t>Analyze</a:t>
            </a:r>
            <a:endParaRPr b="0" i="0" sz="1900" u="none" cap="none" strike="noStrike">
              <a:solidFill>
                <a:srgbClr val="C0791B"/>
              </a:solidFill>
              <a:latin typeface="Calibri"/>
              <a:ea typeface="Calibri"/>
              <a:cs typeface="Calibri"/>
              <a:sym typeface="Calibri"/>
            </a:endParaRPr>
          </a:p>
        </p:txBody>
      </p:sp>
      <p:sp>
        <p:nvSpPr>
          <p:cNvPr id="410" name="Google Shape;410;p60"/>
          <p:cNvSpPr/>
          <p:nvPr/>
        </p:nvSpPr>
        <p:spPr>
          <a:xfrm>
            <a:off x="6263640" y="3968496"/>
            <a:ext cx="29262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1" lang="en-ZA" sz="1500" u="none" cap="none" strike="noStrike">
                <a:solidFill>
                  <a:srgbClr val="FFFFFF"/>
                </a:solidFill>
                <a:latin typeface="Calibri"/>
                <a:ea typeface="Calibri"/>
                <a:cs typeface="Calibri"/>
                <a:sym typeface="Calibri"/>
              </a:rPr>
              <a:t>compare, distinguish, examine</a:t>
            </a:r>
            <a:endParaRPr b="0" i="0" sz="1500" u="none" cap="none" strike="noStrike">
              <a:solidFill>
                <a:srgbClr val="C0791B"/>
              </a:solidFill>
              <a:latin typeface="Calibri"/>
              <a:ea typeface="Calibri"/>
              <a:cs typeface="Calibri"/>
              <a:sym typeface="Calibri"/>
            </a:endParaRPr>
          </a:p>
        </p:txBody>
      </p:sp>
      <p:sp>
        <p:nvSpPr>
          <p:cNvPr id="411" name="Google Shape;411;p60"/>
          <p:cNvSpPr/>
          <p:nvPr/>
        </p:nvSpPr>
        <p:spPr>
          <a:xfrm>
            <a:off x="3474720" y="4443984"/>
            <a:ext cx="5212200" cy="420600"/>
          </a:xfrm>
          <a:prstGeom prst="rect">
            <a:avLst/>
          </a:prstGeom>
          <a:solidFill>
            <a:srgbClr val="C4A47C"/>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60"/>
          <p:cNvSpPr/>
          <p:nvPr/>
        </p:nvSpPr>
        <p:spPr>
          <a:xfrm>
            <a:off x="3474720" y="4443984"/>
            <a:ext cx="2606100" cy="42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500"/>
              <a:buFont typeface="Calibri"/>
              <a:buNone/>
            </a:pPr>
            <a:r>
              <a:rPr b="1" i="0" lang="en-ZA" sz="1800" u="none" cap="none" strike="noStrike">
                <a:solidFill>
                  <a:srgbClr val="FFFFFF"/>
                </a:solidFill>
                <a:latin typeface="Calibri"/>
                <a:ea typeface="Calibri"/>
                <a:cs typeface="Calibri"/>
                <a:sym typeface="Calibri"/>
              </a:rPr>
              <a:t>Apply</a:t>
            </a:r>
            <a:endParaRPr b="0" i="0" sz="1800" u="none" cap="none" strike="noStrike">
              <a:solidFill>
                <a:srgbClr val="C0791B"/>
              </a:solidFill>
              <a:latin typeface="Calibri"/>
              <a:ea typeface="Calibri"/>
              <a:cs typeface="Calibri"/>
              <a:sym typeface="Calibri"/>
            </a:endParaRPr>
          </a:p>
        </p:txBody>
      </p:sp>
      <p:sp>
        <p:nvSpPr>
          <p:cNvPr id="413" name="Google Shape;413;p60"/>
          <p:cNvSpPr/>
          <p:nvPr/>
        </p:nvSpPr>
        <p:spPr>
          <a:xfrm>
            <a:off x="6263640" y="4443984"/>
            <a:ext cx="24231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1" lang="en-ZA" sz="1500" u="none" cap="none" strike="noStrike">
                <a:solidFill>
                  <a:srgbClr val="FFFFFF"/>
                </a:solidFill>
                <a:latin typeface="Calibri"/>
                <a:ea typeface="Calibri"/>
                <a:cs typeface="Calibri"/>
                <a:sym typeface="Calibri"/>
              </a:rPr>
              <a:t>execute, implement, use</a:t>
            </a:r>
            <a:endParaRPr b="0" i="0" sz="1500" u="none" cap="none" strike="noStrike">
              <a:solidFill>
                <a:srgbClr val="C0791B"/>
              </a:solidFill>
              <a:latin typeface="Calibri"/>
              <a:ea typeface="Calibri"/>
              <a:cs typeface="Calibri"/>
              <a:sym typeface="Calibri"/>
            </a:endParaRPr>
          </a:p>
        </p:txBody>
      </p:sp>
      <p:sp>
        <p:nvSpPr>
          <p:cNvPr id="414" name="Google Shape;414;p60"/>
          <p:cNvSpPr/>
          <p:nvPr/>
        </p:nvSpPr>
        <p:spPr>
          <a:xfrm>
            <a:off x="3977640" y="4919472"/>
            <a:ext cx="4206300" cy="420600"/>
          </a:xfrm>
          <a:prstGeom prst="rect">
            <a:avLst/>
          </a:prstGeom>
          <a:solidFill>
            <a:srgbClr val="7A8FA0"/>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60"/>
          <p:cNvSpPr/>
          <p:nvPr/>
        </p:nvSpPr>
        <p:spPr>
          <a:xfrm>
            <a:off x="3977640" y="4919472"/>
            <a:ext cx="2103000" cy="42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500"/>
              <a:buFont typeface="Calibri"/>
              <a:buNone/>
            </a:pPr>
            <a:r>
              <a:rPr b="1" i="0" lang="en-ZA" sz="1800" u="none" cap="none" strike="noStrike">
                <a:solidFill>
                  <a:srgbClr val="FFFFFF"/>
                </a:solidFill>
                <a:latin typeface="Calibri"/>
                <a:ea typeface="Calibri"/>
                <a:cs typeface="Calibri"/>
                <a:sym typeface="Calibri"/>
              </a:rPr>
              <a:t>Understand</a:t>
            </a:r>
            <a:endParaRPr b="0" i="0" sz="1800" u="none" cap="none" strike="noStrike">
              <a:solidFill>
                <a:srgbClr val="C0791B"/>
              </a:solidFill>
              <a:latin typeface="Calibri"/>
              <a:ea typeface="Calibri"/>
              <a:cs typeface="Calibri"/>
              <a:sym typeface="Calibri"/>
            </a:endParaRPr>
          </a:p>
        </p:txBody>
      </p:sp>
      <p:sp>
        <p:nvSpPr>
          <p:cNvPr id="416" name="Google Shape;416;p60"/>
          <p:cNvSpPr/>
          <p:nvPr/>
        </p:nvSpPr>
        <p:spPr>
          <a:xfrm>
            <a:off x="6263650" y="4919475"/>
            <a:ext cx="21030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1" lang="en-ZA" sz="1300" u="none" cap="none" strike="noStrike">
                <a:solidFill>
                  <a:srgbClr val="FFFFFF"/>
                </a:solidFill>
                <a:latin typeface="Calibri"/>
                <a:ea typeface="Calibri"/>
                <a:cs typeface="Calibri"/>
                <a:sym typeface="Calibri"/>
              </a:rPr>
              <a:t>explain, summarize, classify</a:t>
            </a:r>
            <a:endParaRPr b="0" i="0" sz="1300" u="none" cap="none" strike="noStrike">
              <a:solidFill>
                <a:srgbClr val="C0791B"/>
              </a:solidFill>
              <a:latin typeface="Calibri"/>
              <a:ea typeface="Calibri"/>
              <a:cs typeface="Calibri"/>
              <a:sym typeface="Calibri"/>
            </a:endParaRPr>
          </a:p>
        </p:txBody>
      </p:sp>
      <p:sp>
        <p:nvSpPr>
          <p:cNvPr id="417" name="Google Shape;417;p60"/>
          <p:cNvSpPr/>
          <p:nvPr/>
        </p:nvSpPr>
        <p:spPr>
          <a:xfrm>
            <a:off x="4480560" y="5394960"/>
            <a:ext cx="3200400" cy="420600"/>
          </a:xfrm>
          <a:prstGeom prst="rect">
            <a:avLst/>
          </a:prstGeom>
          <a:solidFill>
            <a:srgbClr val="6B7B8C"/>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60"/>
          <p:cNvSpPr/>
          <p:nvPr/>
        </p:nvSpPr>
        <p:spPr>
          <a:xfrm>
            <a:off x="4480560" y="5394960"/>
            <a:ext cx="1600200" cy="42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500"/>
              <a:buFont typeface="Calibri"/>
              <a:buNone/>
            </a:pPr>
            <a:r>
              <a:rPr b="1" i="0" lang="en-ZA" sz="1800" u="none" cap="none" strike="noStrike">
                <a:solidFill>
                  <a:srgbClr val="FFFFFF"/>
                </a:solidFill>
                <a:latin typeface="Calibri"/>
                <a:ea typeface="Calibri"/>
                <a:cs typeface="Calibri"/>
                <a:sym typeface="Calibri"/>
              </a:rPr>
              <a:t>Remember</a:t>
            </a:r>
            <a:endParaRPr b="0" i="0" sz="1800" u="none" cap="none" strike="noStrike">
              <a:solidFill>
                <a:srgbClr val="C0791B"/>
              </a:solidFill>
              <a:latin typeface="Calibri"/>
              <a:ea typeface="Calibri"/>
              <a:cs typeface="Calibri"/>
              <a:sym typeface="Calibri"/>
            </a:endParaRPr>
          </a:p>
        </p:txBody>
      </p:sp>
      <p:sp>
        <p:nvSpPr>
          <p:cNvPr id="419" name="Google Shape;419;p60"/>
          <p:cNvSpPr/>
          <p:nvPr/>
        </p:nvSpPr>
        <p:spPr>
          <a:xfrm>
            <a:off x="6263640" y="5394960"/>
            <a:ext cx="14172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1" lang="en-ZA" sz="1500" u="none" cap="none" strike="noStrike">
                <a:solidFill>
                  <a:srgbClr val="FFFFFF"/>
                </a:solidFill>
                <a:latin typeface="Calibri"/>
                <a:ea typeface="Calibri"/>
                <a:cs typeface="Calibri"/>
                <a:sym typeface="Calibri"/>
              </a:rPr>
              <a:t>recall, list, name</a:t>
            </a:r>
            <a:endParaRPr b="0" i="0" sz="1500" u="none" cap="none" strike="noStrike">
              <a:solidFill>
                <a:srgbClr val="C0791B"/>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4" name="Shape 424"/>
        <p:cNvGrpSpPr/>
        <p:nvPr/>
      </p:nvGrpSpPr>
      <p:grpSpPr>
        <a:xfrm>
          <a:off x="0" y="0"/>
          <a:ext cx="0" cy="0"/>
          <a:chOff x="0" y="0"/>
          <a:chExt cx="0" cy="0"/>
        </a:xfrm>
      </p:grpSpPr>
      <p:sp>
        <p:nvSpPr>
          <p:cNvPr id="425" name="Google Shape;425;p61"/>
          <p:cNvSpPr/>
          <p:nvPr/>
        </p:nvSpPr>
        <p:spPr>
          <a:xfrm>
            <a:off x="0" y="0"/>
            <a:ext cx="12192000" cy="1097100"/>
          </a:xfrm>
          <a:prstGeom prst="rect">
            <a:avLst/>
          </a:prstGeom>
          <a:solidFill>
            <a:srgbClr val="7B2D3A"/>
          </a:solidFill>
          <a:ln cap="flat" cmpd="sng" w="16925">
            <a:solidFill>
              <a:srgbClr val="7B2D3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61"/>
          <p:cNvSpPr/>
          <p:nvPr/>
        </p:nvSpPr>
        <p:spPr>
          <a:xfrm>
            <a:off x="487680" y="0"/>
            <a:ext cx="8534400" cy="109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933"/>
              <a:buFont typeface="Calibri"/>
              <a:buNone/>
            </a:pPr>
            <a:r>
              <a:rPr b="1" i="0" lang="en-ZA" sz="2933" u="none" cap="none" strike="noStrike">
                <a:solidFill>
                  <a:srgbClr val="FFFFFF"/>
                </a:solidFill>
                <a:latin typeface="Calibri"/>
                <a:ea typeface="Calibri"/>
                <a:cs typeface="Calibri"/>
                <a:sym typeface="Calibri"/>
              </a:rPr>
              <a:t>Cognitive Domain</a:t>
            </a:r>
            <a:endParaRPr b="0" i="0" sz="2933" u="none" cap="none" strike="noStrike">
              <a:solidFill>
                <a:srgbClr val="000000"/>
              </a:solidFill>
              <a:latin typeface="Calibri"/>
              <a:ea typeface="Calibri"/>
              <a:cs typeface="Calibri"/>
              <a:sym typeface="Calibri"/>
            </a:endParaRPr>
          </a:p>
        </p:txBody>
      </p:sp>
      <p:sp>
        <p:nvSpPr>
          <p:cNvPr id="427" name="Google Shape;427;p61"/>
          <p:cNvSpPr/>
          <p:nvPr/>
        </p:nvSpPr>
        <p:spPr>
          <a:xfrm>
            <a:off x="243840" y="1280161"/>
            <a:ext cx="5608500" cy="4998900"/>
          </a:xfrm>
          <a:prstGeom prst="roundRect">
            <a:avLst>
              <a:gd fmla="val 2927" name="adj"/>
            </a:avLst>
          </a:prstGeom>
          <a:solidFill>
            <a:srgbClr val="F2EAE1"/>
          </a:solidFill>
          <a:ln cap="flat" cmpd="sng" w="16925">
            <a:solidFill>
              <a:srgbClr val="6B7B8B"/>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61"/>
          <p:cNvSpPr/>
          <p:nvPr/>
        </p:nvSpPr>
        <p:spPr>
          <a:xfrm>
            <a:off x="390144" y="1426465"/>
            <a:ext cx="2682300" cy="438900"/>
          </a:xfrm>
          <a:prstGeom prst="roundRect">
            <a:avLst>
              <a:gd fmla="val 22222" name="adj"/>
            </a:avLst>
          </a:prstGeom>
          <a:solidFill>
            <a:srgbClr val="6B7B8B"/>
          </a:solidFill>
          <a:ln cap="flat" cmpd="sng" w="16925">
            <a:solidFill>
              <a:srgbClr val="6B7B8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61"/>
          <p:cNvSpPr/>
          <p:nvPr/>
        </p:nvSpPr>
        <p:spPr>
          <a:xfrm>
            <a:off x="390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733" u="none" cap="none" strike="noStrike">
                <a:solidFill>
                  <a:srgbClr val="FFFFFF"/>
                </a:solidFill>
                <a:latin typeface="Calibri"/>
                <a:ea typeface="Calibri"/>
                <a:cs typeface="Calibri"/>
                <a:sym typeface="Calibri"/>
              </a:rPr>
              <a:t>REMEMBER  ·  L1</a:t>
            </a:r>
            <a:endParaRPr b="0" i="0" sz="1733" u="none" cap="none" strike="noStrike">
              <a:solidFill>
                <a:srgbClr val="000000"/>
              </a:solidFill>
              <a:latin typeface="Calibri"/>
              <a:ea typeface="Calibri"/>
              <a:cs typeface="Calibri"/>
              <a:sym typeface="Calibri"/>
            </a:endParaRPr>
          </a:p>
        </p:txBody>
      </p:sp>
      <p:sp>
        <p:nvSpPr>
          <p:cNvPr id="430" name="Google Shape;430;p61"/>
          <p:cNvSpPr/>
          <p:nvPr/>
        </p:nvSpPr>
        <p:spPr>
          <a:xfrm>
            <a:off x="463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900" u="none" cap="none" strike="noStrike">
                <a:solidFill>
                  <a:srgbClr val="555555"/>
                </a:solidFill>
                <a:latin typeface="Calibri"/>
                <a:ea typeface="Calibri"/>
                <a:cs typeface="Calibri"/>
                <a:sym typeface="Calibri"/>
              </a:rPr>
              <a:t>The ability to remember and recall previously learned facts, concepts, or skills.</a:t>
            </a:r>
            <a:endParaRPr b="0" i="0" sz="1900" u="none" cap="none" strike="noStrike">
              <a:solidFill>
                <a:srgbClr val="000000"/>
              </a:solidFill>
              <a:latin typeface="Calibri"/>
              <a:ea typeface="Calibri"/>
              <a:cs typeface="Calibri"/>
              <a:sym typeface="Calibri"/>
            </a:endParaRPr>
          </a:p>
        </p:txBody>
      </p:sp>
      <p:cxnSp>
        <p:nvCxnSpPr>
          <p:cNvPr id="431" name="Google Shape;431;p61"/>
          <p:cNvCxnSpPr/>
          <p:nvPr/>
        </p:nvCxnSpPr>
        <p:spPr>
          <a:xfrm>
            <a:off x="463296" y="3124424"/>
            <a:ext cx="5169600" cy="0"/>
          </a:xfrm>
          <a:prstGeom prst="straightConnector1">
            <a:avLst/>
          </a:prstGeom>
          <a:noFill/>
          <a:ln cap="flat" cmpd="sng" w="12700">
            <a:solidFill>
              <a:srgbClr val="DDDDDD"/>
            </a:solidFill>
            <a:prstDash val="solid"/>
            <a:round/>
            <a:headEnd len="sm" w="sm" type="none"/>
            <a:tailEnd len="sm" w="sm" type="none"/>
          </a:ln>
        </p:spPr>
      </p:cxnSp>
      <p:sp>
        <p:nvSpPr>
          <p:cNvPr id="432" name="Google Shape;432;p61"/>
          <p:cNvSpPr/>
          <p:nvPr/>
        </p:nvSpPr>
        <p:spPr>
          <a:xfrm>
            <a:off x="487671" y="3643522"/>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B8B"/>
              </a:buClr>
              <a:buSzPts val="1200"/>
              <a:buFont typeface="Calibri"/>
              <a:buNone/>
            </a:pPr>
            <a:r>
              <a:rPr b="1" i="0" lang="en-ZA" sz="2000" u="none" cap="none" strike="noStrike">
                <a:solidFill>
                  <a:srgbClr val="6B7B8B"/>
                </a:solidFill>
                <a:latin typeface="Calibri"/>
                <a:ea typeface="Calibri"/>
                <a:cs typeface="Calibri"/>
                <a:sym typeface="Calibri"/>
              </a:rPr>
              <a:t>Example</a:t>
            </a:r>
            <a:endParaRPr b="0" i="0" sz="2000" u="none" cap="none" strike="noStrike">
              <a:solidFill>
                <a:srgbClr val="000000"/>
              </a:solidFill>
              <a:latin typeface="Calibri"/>
              <a:ea typeface="Calibri"/>
              <a:cs typeface="Calibri"/>
              <a:sym typeface="Calibri"/>
            </a:endParaRPr>
          </a:p>
        </p:txBody>
      </p:sp>
      <p:sp>
        <p:nvSpPr>
          <p:cNvPr id="433" name="Google Shape;433;p61"/>
          <p:cNvSpPr/>
          <p:nvPr/>
        </p:nvSpPr>
        <p:spPr>
          <a:xfrm>
            <a:off x="463196" y="3914544"/>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267"/>
              <a:buFont typeface="Calibri"/>
              <a:buNone/>
            </a:pPr>
            <a:r>
              <a:rPr b="0" i="0" lang="en-ZA" sz="2067" u="none" cap="none" strike="noStrike">
                <a:solidFill>
                  <a:srgbClr val="1A1A2E"/>
                </a:solidFill>
                <a:latin typeface="Calibri"/>
                <a:ea typeface="Calibri"/>
                <a:cs typeface="Calibri"/>
                <a:sym typeface="Calibri"/>
              </a:rPr>
              <a:t>List the five steps of the BPE algorithm used to create subword tokens from text data.</a:t>
            </a:r>
            <a:endParaRPr b="0" i="0" sz="2067" u="none" cap="none" strike="noStrike">
              <a:solidFill>
                <a:srgbClr val="000000"/>
              </a:solidFill>
              <a:latin typeface="Calibri"/>
              <a:ea typeface="Calibri"/>
              <a:cs typeface="Calibri"/>
              <a:sym typeface="Calibri"/>
            </a:endParaRPr>
          </a:p>
        </p:txBody>
      </p:sp>
      <p:sp>
        <p:nvSpPr>
          <p:cNvPr id="434" name="Google Shape;434;p61"/>
          <p:cNvSpPr/>
          <p:nvPr/>
        </p:nvSpPr>
        <p:spPr>
          <a:xfrm>
            <a:off x="463296" y="5669286"/>
            <a:ext cx="1658100" cy="402300"/>
          </a:xfrm>
          <a:prstGeom prst="roundRect">
            <a:avLst>
              <a:gd fmla="val 18182" name="adj"/>
            </a:avLst>
          </a:prstGeom>
          <a:solidFill>
            <a:srgbClr val="F5F5F5"/>
          </a:solidFill>
          <a:ln cap="flat" cmpd="sng" w="12700">
            <a:solidFill>
              <a:srgbClr val="6B7B8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61"/>
          <p:cNvSpPr/>
          <p:nvPr/>
        </p:nvSpPr>
        <p:spPr>
          <a:xfrm>
            <a:off x="463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B8B"/>
              </a:buClr>
              <a:buSzPts val="1267"/>
              <a:buFont typeface="Calibri"/>
              <a:buNone/>
            </a:pPr>
            <a:r>
              <a:rPr b="0" i="0" lang="en-ZA" sz="1267" u="none" cap="none" strike="noStrike">
                <a:solidFill>
                  <a:srgbClr val="6B7B8B"/>
                </a:solidFill>
                <a:latin typeface="Calibri"/>
                <a:ea typeface="Calibri"/>
                <a:cs typeface="Calibri"/>
                <a:sym typeface="Calibri"/>
              </a:rPr>
              <a:t>List</a:t>
            </a:r>
            <a:endParaRPr b="0" i="0" sz="1267" u="none" cap="none" strike="noStrike">
              <a:solidFill>
                <a:srgbClr val="000000"/>
              </a:solidFill>
              <a:latin typeface="Calibri"/>
              <a:ea typeface="Calibri"/>
              <a:cs typeface="Calibri"/>
              <a:sym typeface="Calibri"/>
            </a:endParaRPr>
          </a:p>
        </p:txBody>
      </p:sp>
      <p:sp>
        <p:nvSpPr>
          <p:cNvPr id="436" name="Google Shape;436;p61"/>
          <p:cNvSpPr/>
          <p:nvPr/>
        </p:nvSpPr>
        <p:spPr>
          <a:xfrm>
            <a:off x="2218944" y="5669286"/>
            <a:ext cx="1658100" cy="402300"/>
          </a:xfrm>
          <a:prstGeom prst="roundRect">
            <a:avLst>
              <a:gd fmla="val 18182" name="adj"/>
            </a:avLst>
          </a:prstGeom>
          <a:solidFill>
            <a:srgbClr val="F5F5F5"/>
          </a:solidFill>
          <a:ln cap="flat" cmpd="sng" w="12700">
            <a:solidFill>
              <a:srgbClr val="6B7B8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61"/>
          <p:cNvSpPr/>
          <p:nvPr/>
        </p:nvSpPr>
        <p:spPr>
          <a:xfrm>
            <a:off x="2218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B8B"/>
              </a:buClr>
              <a:buSzPts val="1267"/>
              <a:buFont typeface="Calibri"/>
              <a:buNone/>
            </a:pPr>
            <a:r>
              <a:rPr b="0" i="0" lang="en-ZA" sz="1267" u="none" cap="none" strike="noStrike">
                <a:solidFill>
                  <a:srgbClr val="6B7B8B"/>
                </a:solidFill>
                <a:latin typeface="Calibri"/>
                <a:ea typeface="Calibri"/>
                <a:cs typeface="Calibri"/>
                <a:sym typeface="Calibri"/>
              </a:rPr>
              <a:t>Recall</a:t>
            </a:r>
            <a:endParaRPr b="0" i="0" sz="1267" u="none" cap="none" strike="noStrike">
              <a:solidFill>
                <a:srgbClr val="000000"/>
              </a:solidFill>
              <a:latin typeface="Calibri"/>
              <a:ea typeface="Calibri"/>
              <a:cs typeface="Calibri"/>
              <a:sym typeface="Calibri"/>
            </a:endParaRPr>
          </a:p>
        </p:txBody>
      </p:sp>
      <p:sp>
        <p:nvSpPr>
          <p:cNvPr id="438" name="Google Shape;438;p61"/>
          <p:cNvSpPr/>
          <p:nvPr/>
        </p:nvSpPr>
        <p:spPr>
          <a:xfrm>
            <a:off x="3974592" y="5669286"/>
            <a:ext cx="1658100" cy="402300"/>
          </a:xfrm>
          <a:prstGeom prst="roundRect">
            <a:avLst>
              <a:gd fmla="val 18182" name="adj"/>
            </a:avLst>
          </a:prstGeom>
          <a:solidFill>
            <a:srgbClr val="F5F5F5"/>
          </a:solidFill>
          <a:ln cap="flat" cmpd="sng" w="12700">
            <a:solidFill>
              <a:srgbClr val="6B7B8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61"/>
          <p:cNvSpPr/>
          <p:nvPr/>
        </p:nvSpPr>
        <p:spPr>
          <a:xfrm>
            <a:off x="3974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B8B"/>
              </a:buClr>
              <a:buSzPts val="1267"/>
              <a:buFont typeface="Calibri"/>
              <a:buNone/>
            </a:pPr>
            <a:r>
              <a:rPr b="0" i="0" lang="en-ZA" sz="1267" u="none" cap="none" strike="noStrike">
                <a:solidFill>
                  <a:srgbClr val="6B7B8B"/>
                </a:solidFill>
                <a:latin typeface="Calibri"/>
                <a:ea typeface="Calibri"/>
                <a:cs typeface="Calibri"/>
                <a:sym typeface="Calibri"/>
              </a:rPr>
              <a:t>Name</a:t>
            </a:r>
            <a:endParaRPr b="0" i="0" sz="1267" u="none" cap="none" strike="noStrike">
              <a:solidFill>
                <a:srgbClr val="000000"/>
              </a:solidFill>
              <a:latin typeface="Calibri"/>
              <a:ea typeface="Calibri"/>
              <a:cs typeface="Calibri"/>
              <a:sym typeface="Calibri"/>
            </a:endParaRPr>
          </a:p>
        </p:txBody>
      </p:sp>
      <p:sp>
        <p:nvSpPr>
          <p:cNvPr id="440" name="Google Shape;440;p61"/>
          <p:cNvSpPr/>
          <p:nvPr/>
        </p:nvSpPr>
        <p:spPr>
          <a:xfrm>
            <a:off x="6339840" y="1280161"/>
            <a:ext cx="5608500" cy="4998900"/>
          </a:xfrm>
          <a:prstGeom prst="roundRect">
            <a:avLst>
              <a:gd fmla="val 2927" name="adj"/>
            </a:avLst>
          </a:prstGeom>
          <a:solidFill>
            <a:srgbClr val="F2EAE1"/>
          </a:solidFill>
          <a:ln cap="flat" cmpd="sng" w="16925">
            <a:solidFill>
              <a:srgbClr val="7A8FA0"/>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61"/>
          <p:cNvSpPr/>
          <p:nvPr/>
        </p:nvSpPr>
        <p:spPr>
          <a:xfrm>
            <a:off x="6486144" y="1426465"/>
            <a:ext cx="2682300" cy="438900"/>
          </a:xfrm>
          <a:prstGeom prst="roundRect">
            <a:avLst>
              <a:gd fmla="val 22222" name="adj"/>
            </a:avLst>
          </a:prstGeom>
          <a:solidFill>
            <a:srgbClr val="7A8FA0"/>
          </a:solidFill>
          <a:ln cap="flat" cmpd="sng" w="16925">
            <a:solidFill>
              <a:srgbClr val="7A8FA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61"/>
          <p:cNvSpPr/>
          <p:nvPr/>
        </p:nvSpPr>
        <p:spPr>
          <a:xfrm>
            <a:off x="6486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633" u="none" cap="none" strike="noStrike">
                <a:solidFill>
                  <a:srgbClr val="FFFFFF"/>
                </a:solidFill>
                <a:latin typeface="Calibri"/>
                <a:ea typeface="Calibri"/>
                <a:cs typeface="Calibri"/>
                <a:sym typeface="Calibri"/>
              </a:rPr>
              <a:t>UNDERSTAND  ·  L2</a:t>
            </a:r>
            <a:endParaRPr b="0" i="0" sz="1633" u="none" cap="none" strike="noStrike">
              <a:solidFill>
                <a:srgbClr val="000000"/>
              </a:solidFill>
              <a:latin typeface="Calibri"/>
              <a:ea typeface="Calibri"/>
              <a:cs typeface="Calibri"/>
              <a:sym typeface="Calibri"/>
            </a:endParaRPr>
          </a:p>
        </p:txBody>
      </p:sp>
      <p:sp>
        <p:nvSpPr>
          <p:cNvPr id="443" name="Google Shape;443;p61"/>
          <p:cNvSpPr/>
          <p:nvPr/>
        </p:nvSpPr>
        <p:spPr>
          <a:xfrm>
            <a:off x="6559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900" u="none" cap="none" strike="noStrike">
                <a:solidFill>
                  <a:srgbClr val="555555"/>
                </a:solidFill>
                <a:latin typeface="Calibri"/>
                <a:ea typeface="Calibri"/>
                <a:cs typeface="Calibri"/>
                <a:sym typeface="Calibri"/>
              </a:rPr>
              <a:t>The ability to explain information in your own words, demonstrating understanding of its meaning.</a:t>
            </a:r>
            <a:endParaRPr b="0" i="0" sz="1900" u="none" cap="none" strike="noStrike">
              <a:solidFill>
                <a:srgbClr val="000000"/>
              </a:solidFill>
              <a:latin typeface="Calibri"/>
              <a:ea typeface="Calibri"/>
              <a:cs typeface="Calibri"/>
              <a:sym typeface="Calibri"/>
            </a:endParaRPr>
          </a:p>
        </p:txBody>
      </p:sp>
      <p:cxnSp>
        <p:nvCxnSpPr>
          <p:cNvPr id="444" name="Google Shape;444;p61"/>
          <p:cNvCxnSpPr/>
          <p:nvPr/>
        </p:nvCxnSpPr>
        <p:spPr>
          <a:xfrm>
            <a:off x="6559196" y="3136174"/>
            <a:ext cx="5169600" cy="0"/>
          </a:xfrm>
          <a:prstGeom prst="straightConnector1">
            <a:avLst/>
          </a:prstGeom>
          <a:noFill/>
          <a:ln cap="flat" cmpd="sng" w="12700">
            <a:solidFill>
              <a:srgbClr val="DDDDDD"/>
            </a:solidFill>
            <a:prstDash val="solid"/>
            <a:round/>
            <a:headEnd len="sm" w="sm" type="none"/>
            <a:tailEnd len="sm" w="sm" type="none"/>
          </a:ln>
        </p:spPr>
      </p:cxnSp>
      <p:sp>
        <p:nvSpPr>
          <p:cNvPr id="445" name="Google Shape;445;p61"/>
          <p:cNvSpPr/>
          <p:nvPr/>
        </p:nvSpPr>
        <p:spPr>
          <a:xfrm>
            <a:off x="6559296" y="3633068"/>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FA0"/>
              </a:buClr>
              <a:buSzPts val="1200"/>
              <a:buFont typeface="Calibri"/>
              <a:buNone/>
            </a:pPr>
            <a:r>
              <a:rPr b="1" i="0" lang="en-ZA" sz="1900" u="none" cap="none" strike="noStrike">
                <a:solidFill>
                  <a:srgbClr val="7A8FA0"/>
                </a:solidFill>
                <a:latin typeface="Calibri"/>
                <a:ea typeface="Calibri"/>
                <a:cs typeface="Calibri"/>
                <a:sym typeface="Calibri"/>
              </a:rPr>
              <a:t>Example</a:t>
            </a:r>
            <a:endParaRPr b="0" i="0" sz="1900" u="none" cap="none" strike="noStrike">
              <a:solidFill>
                <a:srgbClr val="000000"/>
              </a:solidFill>
              <a:latin typeface="Calibri"/>
              <a:ea typeface="Calibri"/>
              <a:cs typeface="Calibri"/>
              <a:sym typeface="Calibri"/>
            </a:endParaRPr>
          </a:p>
        </p:txBody>
      </p:sp>
      <p:sp>
        <p:nvSpPr>
          <p:cNvPr id="446" name="Google Shape;446;p61"/>
          <p:cNvSpPr/>
          <p:nvPr/>
        </p:nvSpPr>
        <p:spPr>
          <a:xfrm>
            <a:off x="6486146" y="4130955"/>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en-ZA" sz="1867" u="none" cap="none" strike="noStrike">
                <a:solidFill>
                  <a:srgbClr val="1A1A2E"/>
                </a:solidFill>
                <a:latin typeface="Calibri"/>
                <a:ea typeface="Calibri"/>
                <a:cs typeface="Calibri"/>
                <a:sym typeface="Calibri"/>
              </a:rPr>
              <a:t>Explain why word-level tokenization struggles with unknown words.</a:t>
            </a:r>
            <a:endParaRPr b="0" i="0" sz="1867" u="none" cap="none" strike="noStrike">
              <a:solidFill>
                <a:srgbClr val="1A1A2E"/>
              </a:solidFill>
              <a:latin typeface="Calibri"/>
              <a:ea typeface="Calibri"/>
              <a:cs typeface="Calibri"/>
              <a:sym typeface="Calibri"/>
            </a:endParaRPr>
          </a:p>
          <a:p>
            <a:pPr indent="0" lvl="0" marL="0" marR="0" rtl="0" algn="l">
              <a:lnSpc>
                <a:spcPct val="100000"/>
              </a:lnSpc>
              <a:spcBef>
                <a:spcPts val="1200"/>
              </a:spcBef>
              <a:spcAft>
                <a:spcPts val="0"/>
              </a:spcAft>
              <a:buClr>
                <a:srgbClr val="1A1A2E"/>
              </a:buClr>
              <a:buSzPts val="1267"/>
              <a:buFont typeface="Calibri"/>
              <a:buNone/>
            </a:pPr>
            <a:r>
              <a:t/>
            </a:r>
            <a:endParaRPr b="0" i="0" sz="1867" u="none" cap="none" strike="noStrike">
              <a:solidFill>
                <a:srgbClr val="1A1A2E"/>
              </a:solidFill>
              <a:latin typeface="Calibri"/>
              <a:ea typeface="Calibri"/>
              <a:cs typeface="Calibri"/>
              <a:sym typeface="Calibri"/>
            </a:endParaRPr>
          </a:p>
        </p:txBody>
      </p:sp>
      <p:sp>
        <p:nvSpPr>
          <p:cNvPr id="447" name="Google Shape;447;p61"/>
          <p:cNvSpPr/>
          <p:nvPr/>
        </p:nvSpPr>
        <p:spPr>
          <a:xfrm>
            <a:off x="6559296" y="5669286"/>
            <a:ext cx="1658100" cy="402300"/>
          </a:xfrm>
          <a:prstGeom prst="roundRect">
            <a:avLst>
              <a:gd fmla="val 18182" name="adj"/>
            </a:avLst>
          </a:prstGeom>
          <a:solidFill>
            <a:srgbClr val="F5F5F5"/>
          </a:solidFill>
          <a:ln cap="flat" cmpd="sng" w="12700">
            <a:solidFill>
              <a:srgbClr val="7A8FA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61"/>
          <p:cNvSpPr/>
          <p:nvPr/>
        </p:nvSpPr>
        <p:spPr>
          <a:xfrm>
            <a:off x="6559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A8FA0"/>
              </a:buClr>
              <a:buSzPts val="1267"/>
              <a:buFont typeface="Calibri"/>
              <a:buNone/>
            </a:pPr>
            <a:r>
              <a:rPr b="0" i="0" lang="en-ZA" sz="1267" u="none" cap="none" strike="noStrike">
                <a:solidFill>
                  <a:srgbClr val="7A8FA0"/>
                </a:solidFill>
                <a:latin typeface="Calibri"/>
                <a:ea typeface="Calibri"/>
                <a:cs typeface="Calibri"/>
                <a:sym typeface="Calibri"/>
              </a:rPr>
              <a:t>Explain</a:t>
            </a:r>
            <a:endParaRPr b="0" i="0" sz="1267" u="none" cap="none" strike="noStrike">
              <a:solidFill>
                <a:srgbClr val="000000"/>
              </a:solidFill>
              <a:latin typeface="Calibri"/>
              <a:ea typeface="Calibri"/>
              <a:cs typeface="Calibri"/>
              <a:sym typeface="Calibri"/>
            </a:endParaRPr>
          </a:p>
        </p:txBody>
      </p:sp>
      <p:sp>
        <p:nvSpPr>
          <p:cNvPr id="449" name="Google Shape;449;p61"/>
          <p:cNvSpPr/>
          <p:nvPr/>
        </p:nvSpPr>
        <p:spPr>
          <a:xfrm>
            <a:off x="8314944" y="5669286"/>
            <a:ext cx="1658100" cy="402300"/>
          </a:xfrm>
          <a:prstGeom prst="roundRect">
            <a:avLst>
              <a:gd fmla="val 18182" name="adj"/>
            </a:avLst>
          </a:prstGeom>
          <a:solidFill>
            <a:srgbClr val="F5F5F5"/>
          </a:solidFill>
          <a:ln cap="flat" cmpd="sng" w="12700">
            <a:solidFill>
              <a:srgbClr val="7A8FA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61"/>
          <p:cNvSpPr/>
          <p:nvPr/>
        </p:nvSpPr>
        <p:spPr>
          <a:xfrm>
            <a:off x="8314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A8FA0"/>
              </a:buClr>
              <a:buSzPts val="1267"/>
              <a:buFont typeface="Calibri"/>
              <a:buNone/>
            </a:pPr>
            <a:r>
              <a:rPr b="0" i="0" lang="en-ZA" sz="1267" u="none" cap="none" strike="noStrike">
                <a:solidFill>
                  <a:srgbClr val="7A8FA0"/>
                </a:solidFill>
                <a:latin typeface="Calibri"/>
                <a:ea typeface="Calibri"/>
                <a:cs typeface="Calibri"/>
                <a:sym typeface="Calibri"/>
              </a:rPr>
              <a:t>Summarize</a:t>
            </a:r>
            <a:endParaRPr b="0" i="0" sz="1267" u="none" cap="none" strike="noStrike">
              <a:solidFill>
                <a:srgbClr val="000000"/>
              </a:solidFill>
              <a:latin typeface="Calibri"/>
              <a:ea typeface="Calibri"/>
              <a:cs typeface="Calibri"/>
              <a:sym typeface="Calibri"/>
            </a:endParaRPr>
          </a:p>
        </p:txBody>
      </p:sp>
      <p:sp>
        <p:nvSpPr>
          <p:cNvPr id="451" name="Google Shape;451;p61"/>
          <p:cNvSpPr/>
          <p:nvPr/>
        </p:nvSpPr>
        <p:spPr>
          <a:xfrm>
            <a:off x="10070592" y="5669286"/>
            <a:ext cx="1658100" cy="402300"/>
          </a:xfrm>
          <a:prstGeom prst="roundRect">
            <a:avLst>
              <a:gd fmla="val 18182" name="adj"/>
            </a:avLst>
          </a:prstGeom>
          <a:solidFill>
            <a:srgbClr val="F5F5F5"/>
          </a:solidFill>
          <a:ln cap="flat" cmpd="sng" w="12700">
            <a:solidFill>
              <a:srgbClr val="7A8FA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61"/>
          <p:cNvSpPr/>
          <p:nvPr/>
        </p:nvSpPr>
        <p:spPr>
          <a:xfrm>
            <a:off x="10070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A8FA0"/>
              </a:buClr>
              <a:buSzPts val="1267"/>
              <a:buFont typeface="Calibri"/>
              <a:buNone/>
            </a:pPr>
            <a:r>
              <a:rPr b="0" i="0" lang="en-ZA" sz="1267" u="none" cap="none" strike="noStrike">
                <a:solidFill>
                  <a:srgbClr val="7A8FA0"/>
                </a:solidFill>
                <a:latin typeface="Calibri"/>
                <a:ea typeface="Calibri"/>
                <a:cs typeface="Calibri"/>
                <a:sym typeface="Calibri"/>
              </a:rPr>
              <a:t>Describe</a:t>
            </a:r>
            <a:endParaRPr b="0" i="0" sz="1267"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7" name="Shape 457"/>
        <p:cNvGrpSpPr/>
        <p:nvPr/>
      </p:nvGrpSpPr>
      <p:grpSpPr>
        <a:xfrm>
          <a:off x="0" y="0"/>
          <a:ext cx="0" cy="0"/>
          <a:chOff x="0" y="0"/>
          <a:chExt cx="0" cy="0"/>
        </a:xfrm>
      </p:grpSpPr>
      <p:sp>
        <p:nvSpPr>
          <p:cNvPr id="458" name="Google Shape;458;p62"/>
          <p:cNvSpPr/>
          <p:nvPr/>
        </p:nvSpPr>
        <p:spPr>
          <a:xfrm>
            <a:off x="0" y="0"/>
            <a:ext cx="12192000" cy="1097100"/>
          </a:xfrm>
          <a:prstGeom prst="rect">
            <a:avLst/>
          </a:prstGeom>
          <a:solidFill>
            <a:srgbClr val="7B2D3A"/>
          </a:solidFill>
          <a:ln cap="flat" cmpd="sng" w="16925">
            <a:solidFill>
              <a:srgbClr val="7B2D3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62"/>
          <p:cNvSpPr/>
          <p:nvPr/>
        </p:nvSpPr>
        <p:spPr>
          <a:xfrm>
            <a:off x="487680" y="0"/>
            <a:ext cx="8534400" cy="109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933"/>
              <a:buFont typeface="Calibri"/>
              <a:buNone/>
            </a:pPr>
            <a:r>
              <a:rPr b="1" i="0" lang="en-ZA" sz="2933" u="none" cap="none" strike="noStrike">
                <a:solidFill>
                  <a:srgbClr val="FFFFFF"/>
                </a:solidFill>
                <a:latin typeface="Calibri"/>
                <a:ea typeface="Calibri"/>
                <a:cs typeface="Calibri"/>
                <a:sym typeface="Calibri"/>
              </a:rPr>
              <a:t>Cognitive Domain</a:t>
            </a:r>
            <a:endParaRPr b="0" i="0" sz="2933" u="none" cap="none" strike="noStrike">
              <a:solidFill>
                <a:srgbClr val="000000"/>
              </a:solidFill>
              <a:latin typeface="Calibri"/>
              <a:ea typeface="Calibri"/>
              <a:cs typeface="Calibri"/>
              <a:sym typeface="Calibri"/>
            </a:endParaRPr>
          </a:p>
        </p:txBody>
      </p:sp>
      <p:sp>
        <p:nvSpPr>
          <p:cNvPr id="460" name="Google Shape;460;p62"/>
          <p:cNvSpPr/>
          <p:nvPr/>
        </p:nvSpPr>
        <p:spPr>
          <a:xfrm>
            <a:off x="243840" y="1280161"/>
            <a:ext cx="5608500" cy="4998900"/>
          </a:xfrm>
          <a:prstGeom prst="roundRect">
            <a:avLst>
              <a:gd fmla="val 2927" name="adj"/>
            </a:avLst>
          </a:prstGeom>
          <a:solidFill>
            <a:srgbClr val="F2EAE1"/>
          </a:solidFill>
          <a:ln cap="flat" cmpd="sng" w="16925">
            <a:solidFill>
              <a:srgbClr val="C4A47D"/>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62"/>
          <p:cNvSpPr/>
          <p:nvPr/>
        </p:nvSpPr>
        <p:spPr>
          <a:xfrm>
            <a:off x="390144" y="1426465"/>
            <a:ext cx="2682300" cy="438900"/>
          </a:xfrm>
          <a:prstGeom prst="roundRect">
            <a:avLst>
              <a:gd fmla="val 22222" name="adj"/>
            </a:avLst>
          </a:prstGeom>
          <a:solidFill>
            <a:srgbClr val="C4A47D"/>
          </a:solidFill>
          <a:ln cap="flat" cmpd="sng" w="16925">
            <a:solidFill>
              <a:srgbClr val="C4A4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62"/>
          <p:cNvSpPr/>
          <p:nvPr/>
        </p:nvSpPr>
        <p:spPr>
          <a:xfrm>
            <a:off x="390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633" u="none" cap="none" strike="noStrike">
                <a:solidFill>
                  <a:srgbClr val="FFFFFF"/>
                </a:solidFill>
                <a:latin typeface="Calibri"/>
                <a:ea typeface="Calibri"/>
                <a:cs typeface="Calibri"/>
                <a:sym typeface="Calibri"/>
              </a:rPr>
              <a:t>APPLY  ·  L3</a:t>
            </a:r>
            <a:endParaRPr b="0" i="0" sz="1633" u="none" cap="none" strike="noStrike">
              <a:solidFill>
                <a:srgbClr val="000000"/>
              </a:solidFill>
              <a:latin typeface="Calibri"/>
              <a:ea typeface="Calibri"/>
              <a:cs typeface="Calibri"/>
              <a:sym typeface="Calibri"/>
            </a:endParaRPr>
          </a:p>
        </p:txBody>
      </p:sp>
      <p:sp>
        <p:nvSpPr>
          <p:cNvPr id="463" name="Google Shape;463;p62"/>
          <p:cNvSpPr/>
          <p:nvPr/>
        </p:nvSpPr>
        <p:spPr>
          <a:xfrm>
            <a:off x="463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900" u="none" cap="none" strike="noStrike">
                <a:solidFill>
                  <a:srgbClr val="555555"/>
                </a:solidFill>
                <a:latin typeface="Calibri"/>
                <a:ea typeface="Calibri"/>
                <a:cs typeface="Calibri"/>
                <a:sym typeface="Calibri"/>
              </a:rPr>
              <a:t>The ability to apply knowledge in new situations by using what you know to solve problems.</a:t>
            </a:r>
            <a:endParaRPr b="0" i="0" sz="1900" u="none" cap="none" strike="noStrike">
              <a:solidFill>
                <a:srgbClr val="000000"/>
              </a:solidFill>
              <a:latin typeface="Calibri"/>
              <a:ea typeface="Calibri"/>
              <a:cs typeface="Calibri"/>
              <a:sym typeface="Calibri"/>
            </a:endParaRPr>
          </a:p>
        </p:txBody>
      </p:sp>
      <p:cxnSp>
        <p:nvCxnSpPr>
          <p:cNvPr id="464" name="Google Shape;464;p62"/>
          <p:cNvCxnSpPr/>
          <p:nvPr/>
        </p:nvCxnSpPr>
        <p:spPr>
          <a:xfrm>
            <a:off x="463196" y="3089274"/>
            <a:ext cx="5169600" cy="0"/>
          </a:xfrm>
          <a:prstGeom prst="straightConnector1">
            <a:avLst/>
          </a:prstGeom>
          <a:noFill/>
          <a:ln cap="flat" cmpd="sng" w="12700">
            <a:solidFill>
              <a:srgbClr val="DDDDDD"/>
            </a:solidFill>
            <a:prstDash val="solid"/>
            <a:round/>
            <a:headEnd len="sm" w="sm" type="none"/>
            <a:tailEnd len="sm" w="sm" type="none"/>
          </a:ln>
        </p:spPr>
      </p:cxnSp>
      <p:sp>
        <p:nvSpPr>
          <p:cNvPr id="465" name="Google Shape;465;p62"/>
          <p:cNvSpPr/>
          <p:nvPr/>
        </p:nvSpPr>
        <p:spPr>
          <a:xfrm>
            <a:off x="390146" y="3573193"/>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A47D"/>
              </a:buClr>
              <a:buSzPts val="1200"/>
              <a:buFont typeface="Calibri"/>
              <a:buNone/>
            </a:pPr>
            <a:r>
              <a:rPr b="1" i="0" lang="en-ZA" sz="1900" u="none" cap="none" strike="noStrike">
                <a:solidFill>
                  <a:srgbClr val="C4A47D"/>
                </a:solidFill>
                <a:latin typeface="Calibri"/>
                <a:ea typeface="Calibri"/>
                <a:cs typeface="Calibri"/>
                <a:sym typeface="Calibri"/>
              </a:rPr>
              <a:t>Example</a:t>
            </a:r>
            <a:endParaRPr b="0" i="0" sz="1900" u="none" cap="none" strike="noStrike">
              <a:solidFill>
                <a:srgbClr val="000000"/>
              </a:solidFill>
              <a:latin typeface="Calibri"/>
              <a:ea typeface="Calibri"/>
              <a:cs typeface="Calibri"/>
              <a:sym typeface="Calibri"/>
            </a:endParaRPr>
          </a:p>
        </p:txBody>
      </p:sp>
      <p:sp>
        <p:nvSpPr>
          <p:cNvPr id="466" name="Google Shape;466;p62"/>
          <p:cNvSpPr/>
          <p:nvPr/>
        </p:nvSpPr>
        <p:spPr>
          <a:xfrm>
            <a:off x="390146" y="3952055"/>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en-ZA" sz="1867" u="none" cap="none" strike="noStrike">
                <a:solidFill>
                  <a:srgbClr val="555555"/>
                </a:solidFill>
                <a:latin typeface="Calibri"/>
                <a:ea typeface="Calibri"/>
                <a:cs typeface="Calibri"/>
                <a:sym typeface="Calibri"/>
              </a:rPr>
              <a:t>Apply the first three steps of the BPE algorithm to a small corpus.</a:t>
            </a:r>
            <a:endParaRPr b="0" i="0" sz="1867" u="none" cap="none" strike="noStrike">
              <a:solidFill>
                <a:srgbClr val="555555"/>
              </a:solidFill>
              <a:latin typeface="Calibri"/>
              <a:ea typeface="Calibri"/>
              <a:cs typeface="Calibri"/>
              <a:sym typeface="Calibri"/>
            </a:endParaRPr>
          </a:p>
          <a:p>
            <a:pPr indent="0" lvl="0" marL="0" marR="0" rtl="0" algn="l">
              <a:lnSpc>
                <a:spcPct val="100000"/>
              </a:lnSpc>
              <a:spcBef>
                <a:spcPts val="1200"/>
              </a:spcBef>
              <a:spcAft>
                <a:spcPts val="0"/>
              </a:spcAft>
              <a:buClr>
                <a:srgbClr val="1A1A2E"/>
              </a:buClr>
              <a:buSzPts val="1267"/>
              <a:buFont typeface="Calibri"/>
              <a:buNone/>
            </a:pPr>
            <a:r>
              <a:t/>
            </a:r>
            <a:endParaRPr b="0" i="0" sz="1867" u="none" cap="none" strike="noStrike">
              <a:solidFill>
                <a:srgbClr val="555555"/>
              </a:solidFill>
              <a:latin typeface="Calibri"/>
              <a:ea typeface="Calibri"/>
              <a:cs typeface="Calibri"/>
              <a:sym typeface="Calibri"/>
            </a:endParaRPr>
          </a:p>
        </p:txBody>
      </p:sp>
      <p:sp>
        <p:nvSpPr>
          <p:cNvPr id="467" name="Google Shape;467;p62"/>
          <p:cNvSpPr/>
          <p:nvPr/>
        </p:nvSpPr>
        <p:spPr>
          <a:xfrm>
            <a:off x="463296" y="5669286"/>
            <a:ext cx="1658100" cy="402300"/>
          </a:xfrm>
          <a:prstGeom prst="roundRect">
            <a:avLst>
              <a:gd fmla="val 18182" name="adj"/>
            </a:avLst>
          </a:prstGeom>
          <a:solidFill>
            <a:srgbClr val="F5F5F5"/>
          </a:solidFill>
          <a:ln cap="flat" cmpd="sng" w="12700">
            <a:solidFill>
              <a:srgbClr val="C4A4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62"/>
          <p:cNvSpPr/>
          <p:nvPr/>
        </p:nvSpPr>
        <p:spPr>
          <a:xfrm>
            <a:off x="463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4A47D"/>
              </a:buClr>
              <a:buSzPts val="1267"/>
              <a:buFont typeface="Calibri"/>
              <a:buNone/>
            </a:pPr>
            <a:r>
              <a:rPr b="0" i="0" lang="en-ZA" sz="1267" u="none" cap="none" strike="noStrike">
                <a:solidFill>
                  <a:srgbClr val="C4A47D"/>
                </a:solidFill>
                <a:latin typeface="Calibri"/>
                <a:ea typeface="Calibri"/>
                <a:cs typeface="Calibri"/>
                <a:sym typeface="Calibri"/>
              </a:rPr>
              <a:t>Implement</a:t>
            </a:r>
            <a:endParaRPr b="0" i="0" sz="1267" u="none" cap="none" strike="noStrike">
              <a:solidFill>
                <a:srgbClr val="000000"/>
              </a:solidFill>
              <a:latin typeface="Calibri"/>
              <a:ea typeface="Calibri"/>
              <a:cs typeface="Calibri"/>
              <a:sym typeface="Calibri"/>
            </a:endParaRPr>
          </a:p>
        </p:txBody>
      </p:sp>
      <p:sp>
        <p:nvSpPr>
          <p:cNvPr id="469" name="Google Shape;469;p62"/>
          <p:cNvSpPr/>
          <p:nvPr/>
        </p:nvSpPr>
        <p:spPr>
          <a:xfrm>
            <a:off x="2218944" y="5669286"/>
            <a:ext cx="1658100" cy="402300"/>
          </a:xfrm>
          <a:prstGeom prst="roundRect">
            <a:avLst>
              <a:gd fmla="val 18182" name="adj"/>
            </a:avLst>
          </a:prstGeom>
          <a:solidFill>
            <a:srgbClr val="F5F5F5"/>
          </a:solidFill>
          <a:ln cap="flat" cmpd="sng" w="12700">
            <a:solidFill>
              <a:srgbClr val="C4A4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62"/>
          <p:cNvSpPr/>
          <p:nvPr/>
        </p:nvSpPr>
        <p:spPr>
          <a:xfrm>
            <a:off x="2218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4A47D"/>
              </a:buClr>
              <a:buSzPts val="1267"/>
              <a:buFont typeface="Calibri"/>
              <a:buNone/>
            </a:pPr>
            <a:r>
              <a:rPr b="0" i="0" lang="en-ZA" sz="1267" u="none" cap="none" strike="noStrike">
                <a:solidFill>
                  <a:srgbClr val="C4A47D"/>
                </a:solidFill>
                <a:latin typeface="Calibri"/>
                <a:ea typeface="Calibri"/>
                <a:cs typeface="Calibri"/>
                <a:sym typeface="Calibri"/>
              </a:rPr>
              <a:t>Use</a:t>
            </a:r>
            <a:endParaRPr b="0" i="0" sz="1267" u="none" cap="none" strike="noStrike">
              <a:solidFill>
                <a:srgbClr val="000000"/>
              </a:solidFill>
              <a:latin typeface="Calibri"/>
              <a:ea typeface="Calibri"/>
              <a:cs typeface="Calibri"/>
              <a:sym typeface="Calibri"/>
            </a:endParaRPr>
          </a:p>
        </p:txBody>
      </p:sp>
      <p:sp>
        <p:nvSpPr>
          <p:cNvPr id="471" name="Google Shape;471;p62"/>
          <p:cNvSpPr/>
          <p:nvPr/>
        </p:nvSpPr>
        <p:spPr>
          <a:xfrm>
            <a:off x="3974592" y="5669286"/>
            <a:ext cx="1658100" cy="402300"/>
          </a:xfrm>
          <a:prstGeom prst="roundRect">
            <a:avLst>
              <a:gd fmla="val 18182" name="adj"/>
            </a:avLst>
          </a:prstGeom>
          <a:solidFill>
            <a:srgbClr val="F5F5F5"/>
          </a:solidFill>
          <a:ln cap="flat" cmpd="sng" w="12700">
            <a:solidFill>
              <a:srgbClr val="C4A4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62"/>
          <p:cNvSpPr/>
          <p:nvPr/>
        </p:nvSpPr>
        <p:spPr>
          <a:xfrm>
            <a:off x="3974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4A47D"/>
              </a:buClr>
              <a:buSzPts val="1267"/>
              <a:buFont typeface="Calibri"/>
              <a:buNone/>
            </a:pPr>
            <a:r>
              <a:rPr b="0" i="0" lang="en-ZA" sz="1267" u="none" cap="none" strike="noStrike">
                <a:solidFill>
                  <a:srgbClr val="C4A47D"/>
                </a:solidFill>
                <a:latin typeface="Calibri"/>
                <a:ea typeface="Calibri"/>
                <a:cs typeface="Calibri"/>
                <a:sym typeface="Calibri"/>
              </a:rPr>
              <a:t>Solve</a:t>
            </a:r>
            <a:endParaRPr b="0" i="0" sz="1267" u="none" cap="none" strike="noStrike">
              <a:solidFill>
                <a:srgbClr val="000000"/>
              </a:solidFill>
              <a:latin typeface="Calibri"/>
              <a:ea typeface="Calibri"/>
              <a:cs typeface="Calibri"/>
              <a:sym typeface="Calibri"/>
            </a:endParaRPr>
          </a:p>
        </p:txBody>
      </p:sp>
      <p:sp>
        <p:nvSpPr>
          <p:cNvPr id="473" name="Google Shape;473;p62"/>
          <p:cNvSpPr/>
          <p:nvPr/>
        </p:nvSpPr>
        <p:spPr>
          <a:xfrm>
            <a:off x="6339840" y="1280161"/>
            <a:ext cx="5608500" cy="4998900"/>
          </a:xfrm>
          <a:prstGeom prst="roundRect">
            <a:avLst>
              <a:gd fmla="val 2927" name="adj"/>
            </a:avLst>
          </a:prstGeom>
          <a:solidFill>
            <a:srgbClr val="F2EAE1"/>
          </a:solidFill>
          <a:ln cap="flat" cmpd="sng" w="16925">
            <a:solidFill>
              <a:srgbClr val="D08E5A"/>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62"/>
          <p:cNvSpPr/>
          <p:nvPr/>
        </p:nvSpPr>
        <p:spPr>
          <a:xfrm>
            <a:off x="6486144" y="1426465"/>
            <a:ext cx="2682300" cy="438900"/>
          </a:xfrm>
          <a:prstGeom prst="roundRect">
            <a:avLst>
              <a:gd fmla="val 22222" name="adj"/>
            </a:avLst>
          </a:prstGeom>
          <a:solidFill>
            <a:srgbClr val="D08E5A"/>
          </a:solidFill>
          <a:ln cap="flat" cmpd="sng" w="16925">
            <a:solidFill>
              <a:srgbClr val="D08E5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62"/>
          <p:cNvSpPr/>
          <p:nvPr/>
        </p:nvSpPr>
        <p:spPr>
          <a:xfrm>
            <a:off x="6486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633" u="none" cap="none" strike="noStrike">
                <a:solidFill>
                  <a:srgbClr val="FFFFFF"/>
                </a:solidFill>
                <a:latin typeface="Calibri"/>
                <a:ea typeface="Calibri"/>
                <a:cs typeface="Calibri"/>
                <a:sym typeface="Calibri"/>
              </a:rPr>
              <a:t>ANALYZE  ·  L4</a:t>
            </a:r>
            <a:endParaRPr b="0" i="0" sz="1633" u="none" cap="none" strike="noStrike">
              <a:solidFill>
                <a:srgbClr val="000000"/>
              </a:solidFill>
              <a:latin typeface="Calibri"/>
              <a:ea typeface="Calibri"/>
              <a:cs typeface="Calibri"/>
              <a:sym typeface="Calibri"/>
            </a:endParaRPr>
          </a:p>
        </p:txBody>
      </p:sp>
      <p:sp>
        <p:nvSpPr>
          <p:cNvPr id="476" name="Google Shape;476;p62"/>
          <p:cNvSpPr/>
          <p:nvPr/>
        </p:nvSpPr>
        <p:spPr>
          <a:xfrm>
            <a:off x="6559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800" u="none" cap="none" strike="noStrike">
                <a:solidFill>
                  <a:srgbClr val="555555"/>
                </a:solidFill>
                <a:latin typeface="Calibri"/>
                <a:ea typeface="Calibri"/>
                <a:cs typeface="Calibri"/>
                <a:sym typeface="Calibri"/>
              </a:rPr>
              <a:t>The ability to break complex information into parts and examine how those parts connect and relate to each other.</a:t>
            </a:r>
            <a:endParaRPr b="0" i="0" sz="1800" u="none" cap="none" strike="noStrike">
              <a:solidFill>
                <a:srgbClr val="000000"/>
              </a:solidFill>
              <a:latin typeface="Calibri"/>
              <a:ea typeface="Calibri"/>
              <a:cs typeface="Calibri"/>
              <a:sym typeface="Calibri"/>
            </a:endParaRPr>
          </a:p>
        </p:txBody>
      </p:sp>
      <p:cxnSp>
        <p:nvCxnSpPr>
          <p:cNvPr id="477" name="Google Shape;477;p62"/>
          <p:cNvCxnSpPr/>
          <p:nvPr/>
        </p:nvCxnSpPr>
        <p:spPr>
          <a:xfrm>
            <a:off x="6559296" y="3089270"/>
            <a:ext cx="5169600" cy="0"/>
          </a:xfrm>
          <a:prstGeom prst="straightConnector1">
            <a:avLst/>
          </a:prstGeom>
          <a:noFill/>
          <a:ln cap="flat" cmpd="sng" w="12700">
            <a:solidFill>
              <a:srgbClr val="DDDDDD"/>
            </a:solidFill>
            <a:prstDash val="solid"/>
            <a:round/>
            <a:headEnd len="sm" w="sm" type="none"/>
            <a:tailEnd len="sm" w="sm" type="none"/>
          </a:ln>
        </p:spPr>
      </p:cxnSp>
      <p:sp>
        <p:nvSpPr>
          <p:cNvPr id="478" name="Google Shape;478;p62"/>
          <p:cNvSpPr/>
          <p:nvPr/>
        </p:nvSpPr>
        <p:spPr>
          <a:xfrm>
            <a:off x="6556484" y="3578495"/>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08E5A"/>
              </a:buClr>
              <a:buSzPts val="1200"/>
              <a:buFont typeface="Calibri"/>
              <a:buNone/>
            </a:pPr>
            <a:r>
              <a:rPr b="1" i="0" lang="en-ZA" sz="1800" u="none" cap="none" strike="noStrike">
                <a:solidFill>
                  <a:srgbClr val="D08E5A"/>
                </a:solidFill>
                <a:latin typeface="Calibri"/>
                <a:ea typeface="Calibri"/>
                <a:cs typeface="Calibri"/>
                <a:sym typeface="Calibri"/>
              </a:rPr>
              <a:t>Example</a:t>
            </a:r>
            <a:endParaRPr b="0" i="0" sz="1800" u="none" cap="none" strike="noStrike">
              <a:solidFill>
                <a:srgbClr val="000000"/>
              </a:solidFill>
              <a:latin typeface="Calibri"/>
              <a:ea typeface="Calibri"/>
              <a:cs typeface="Calibri"/>
              <a:sym typeface="Calibri"/>
            </a:endParaRPr>
          </a:p>
        </p:txBody>
      </p:sp>
      <p:sp>
        <p:nvSpPr>
          <p:cNvPr id="479" name="Google Shape;479;p62"/>
          <p:cNvSpPr/>
          <p:nvPr/>
        </p:nvSpPr>
        <p:spPr>
          <a:xfrm>
            <a:off x="6559196" y="3952043"/>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267"/>
              <a:buFont typeface="Calibri"/>
              <a:buNone/>
            </a:pPr>
            <a:r>
              <a:rPr b="0" i="0" lang="en-ZA" sz="1867" u="none" cap="none" strike="noStrike">
                <a:solidFill>
                  <a:srgbClr val="555555"/>
                </a:solidFill>
                <a:latin typeface="Calibri"/>
                <a:ea typeface="Calibri"/>
                <a:cs typeface="Calibri"/>
                <a:sym typeface="Calibri"/>
              </a:rPr>
              <a:t>Distinguish between the OOV problem in word-level tokenization and the long sequence problem in character-level tokenization. </a:t>
            </a:r>
            <a:endParaRPr b="0" i="0" sz="1867" u="none" cap="none" strike="noStrike">
              <a:solidFill>
                <a:srgbClr val="555555"/>
              </a:solidFill>
              <a:latin typeface="Calibri"/>
              <a:ea typeface="Calibri"/>
              <a:cs typeface="Calibri"/>
              <a:sym typeface="Calibri"/>
            </a:endParaRPr>
          </a:p>
        </p:txBody>
      </p:sp>
      <p:sp>
        <p:nvSpPr>
          <p:cNvPr id="480" name="Google Shape;480;p62"/>
          <p:cNvSpPr/>
          <p:nvPr/>
        </p:nvSpPr>
        <p:spPr>
          <a:xfrm>
            <a:off x="6559296" y="5669286"/>
            <a:ext cx="1658100" cy="402300"/>
          </a:xfrm>
          <a:prstGeom prst="roundRect">
            <a:avLst>
              <a:gd fmla="val 18182" name="adj"/>
            </a:avLst>
          </a:prstGeom>
          <a:solidFill>
            <a:srgbClr val="F5F5F5"/>
          </a:solidFill>
          <a:ln cap="flat" cmpd="sng" w="12700">
            <a:solidFill>
              <a:srgbClr val="D08E5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62"/>
          <p:cNvSpPr/>
          <p:nvPr/>
        </p:nvSpPr>
        <p:spPr>
          <a:xfrm>
            <a:off x="6559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08E5A"/>
              </a:buClr>
              <a:buSzPts val="1267"/>
              <a:buFont typeface="Calibri"/>
              <a:buNone/>
            </a:pPr>
            <a:r>
              <a:rPr b="0" i="0" lang="en-ZA" sz="1267" u="none" cap="none" strike="noStrike">
                <a:solidFill>
                  <a:srgbClr val="D08E5A"/>
                </a:solidFill>
                <a:latin typeface="Calibri"/>
                <a:ea typeface="Calibri"/>
                <a:cs typeface="Calibri"/>
                <a:sym typeface="Calibri"/>
              </a:rPr>
              <a:t>Compare</a:t>
            </a:r>
            <a:endParaRPr b="0" i="0" sz="1267" u="none" cap="none" strike="noStrike">
              <a:solidFill>
                <a:srgbClr val="000000"/>
              </a:solidFill>
              <a:latin typeface="Calibri"/>
              <a:ea typeface="Calibri"/>
              <a:cs typeface="Calibri"/>
              <a:sym typeface="Calibri"/>
            </a:endParaRPr>
          </a:p>
        </p:txBody>
      </p:sp>
      <p:sp>
        <p:nvSpPr>
          <p:cNvPr id="482" name="Google Shape;482;p62"/>
          <p:cNvSpPr/>
          <p:nvPr/>
        </p:nvSpPr>
        <p:spPr>
          <a:xfrm>
            <a:off x="8314944" y="5669286"/>
            <a:ext cx="1658100" cy="402300"/>
          </a:xfrm>
          <a:prstGeom prst="roundRect">
            <a:avLst>
              <a:gd fmla="val 18182" name="adj"/>
            </a:avLst>
          </a:prstGeom>
          <a:solidFill>
            <a:srgbClr val="F5F5F5"/>
          </a:solidFill>
          <a:ln cap="flat" cmpd="sng" w="12700">
            <a:solidFill>
              <a:srgbClr val="D08E5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62"/>
          <p:cNvSpPr/>
          <p:nvPr/>
        </p:nvSpPr>
        <p:spPr>
          <a:xfrm>
            <a:off x="8314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08E5A"/>
              </a:buClr>
              <a:buSzPts val="1267"/>
              <a:buFont typeface="Calibri"/>
              <a:buNone/>
            </a:pPr>
            <a:r>
              <a:rPr b="0" i="0" lang="en-ZA" sz="1267" u="none" cap="none" strike="noStrike">
                <a:solidFill>
                  <a:srgbClr val="D08E5A"/>
                </a:solidFill>
                <a:latin typeface="Calibri"/>
                <a:ea typeface="Calibri"/>
                <a:cs typeface="Calibri"/>
                <a:sym typeface="Calibri"/>
              </a:rPr>
              <a:t>Distinguish</a:t>
            </a:r>
            <a:endParaRPr b="0" i="0" sz="1267" u="none" cap="none" strike="noStrike">
              <a:solidFill>
                <a:srgbClr val="000000"/>
              </a:solidFill>
              <a:latin typeface="Calibri"/>
              <a:ea typeface="Calibri"/>
              <a:cs typeface="Calibri"/>
              <a:sym typeface="Calibri"/>
            </a:endParaRPr>
          </a:p>
        </p:txBody>
      </p:sp>
      <p:sp>
        <p:nvSpPr>
          <p:cNvPr id="484" name="Google Shape;484;p62"/>
          <p:cNvSpPr/>
          <p:nvPr/>
        </p:nvSpPr>
        <p:spPr>
          <a:xfrm>
            <a:off x="10070592" y="5669286"/>
            <a:ext cx="1658100" cy="402300"/>
          </a:xfrm>
          <a:prstGeom prst="roundRect">
            <a:avLst>
              <a:gd fmla="val 18182" name="adj"/>
            </a:avLst>
          </a:prstGeom>
          <a:solidFill>
            <a:srgbClr val="F5F5F5"/>
          </a:solidFill>
          <a:ln cap="flat" cmpd="sng" w="12700">
            <a:solidFill>
              <a:srgbClr val="D08E5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62"/>
          <p:cNvSpPr/>
          <p:nvPr/>
        </p:nvSpPr>
        <p:spPr>
          <a:xfrm>
            <a:off x="10070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08E5A"/>
              </a:buClr>
              <a:buSzPts val="1267"/>
              <a:buFont typeface="Calibri"/>
              <a:buNone/>
            </a:pPr>
            <a:r>
              <a:rPr b="0" i="0" lang="en-ZA" sz="1267" u="none" cap="none" strike="noStrike">
                <a:solidFill>
                  <a:srgbClr val="D08E5A"/>
                </a:solidFill>
                <a:latin typeface="Calibri"/>
                <a:ea typeface="Calibri"/>
                <a:cs typeface="Calibri"/>
                <a:sym typeface="Calibri"/>
              </a:rPr>
              <a:t>Examine</a:t>
            </a:r>
            <a:endParaRPr b="0" i="0" sz="1267"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0" name="Shape 490"/>
        <p:cNvGrpSpPr/>
        <p:nvPr/>
      </p:nvGrpSpPr>
      <p:grpSpPr>
        <a:xfrm>
          <a:off x="0" y="0"/>
          <a:ext cx="0" cy="0"/>
          <a:chOff x="0" y="0"/>
          <a:chExt cx="0" cy="0"/>
        </a:xfrm>
      </p:grpSpPr>
      <p:sp>
        <p:nvSpPr>
          <p:cNvPr id="491" name="Google Shape;491;p63"/>
          <p:cNvSpPr/>
          <p:nvPr/>
        </p:nvSpPr>
        <p:spPr>
          <a:xfrm>
            <a:off x="0" y="0"/>
            <a:ext cx="12192000" cy="1097100"/>
          </a:xfrm>
          <a:prstGeom prst="rect">
            <a:avLst/>
          </a:prstGeom>
          <a:solidFill>
            <a:srgbClr val="7B2D3A"/>
          </a:solidFill>
          <a:ln cap="flat" cmpd="sng" w="16925">
            <a:solidFill>
              <a:srgbClr val="7B2D3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63"/>
          <p:cNvSpPr/>
          <p:nvPr/>
        </p:nvSpPr>
        <p:spPr>
          <a:xfrm>
            <a:off x="487680" y="0"/>
            <a:ext cx="8534400" cy="109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933"/>
              <a:buFont typeface="Calibri"/>
              <a:buNone/>
            </a:pPr>
            <a:r>
              <a:rPr b="1" i="0" lang="en-ZA" sz="2933" u="none" cap="none" strike="noStrike">
                <a:solidFill>
                  <a:srgbClr val="FFFFFF"/>
                </a:solidFill>
                <a:latin typeface="Calibri"/>
                <a:ea typeface="Calibri"/>
                <a:cs typeface="Calibri"/>
                <a:sym typeface="Calibri"/>
              </a:rPr>
              <a:t>Cognitive Domain</a:t>
            </a:r>
            <a:endParaRPr b="0" i="0" sz="2933" u="none" cap="none" strike="noStrike">
              <a:solidFill>
                <a:srgbClr val="000000"/>
              </a:solidFill>
              <a:latin typeface="Calibri"/>
              <a:ea typeface="Calibri"/>
              <a:cs typeface="Calibri"/>
              <a:sym typeface="Calibri"/>
            </a:endParaRPr>
          </a:p>
        </p:txBody>
      </p:sp>
      <p:sp>
        <p:nvSpPr>
          <p:cNvPr id="493" name="Google Shape;493;p63"/>
          <p:cNvSpPr/>
          <p:nvPr/>
        </p:nvSpPr>
        <p:spPr>
          <a:xfrm>
            <a:off x="255563" y="1280161"/>
            <a:ext cx="5608500" cy="4998900"/>
          </a:xfrm>
          <a:prstGeom prst="roundRect">
            <a:avLst>
              <a:gd fmla="val 2927" name="adj"/>
            </a:avLst>
          </a:prstGeom>
          <a:solidFill>
            <a:srgbClr val="F2EAE1"/>
          </a:solidFill>
          <a:ln cap="flat" cmpd="sng" w="16925">
            <a:solidFill>
              <a:srgbClr val="B75041"/>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63"/>
          <p:cNvSpPr/>
          <p:nvPr/>
        </p:nvSpPr>
        <p:spPr>
          <a:xfrm>
            <a:off x="390144" y="1426465"/>
            <a:ext cx="2682300" cy="438900"/>
          </a:xfrm>
          <a:prstGeom prst="roundRect">
            <a:avLst>
              <a:gd fmla="val 22222" name="adj"/>
            </a:avLst>
          </a:prstGeom>
          <a:solidFill>
            <a:srgbClr val="B75041"/>
          </a:solidFill>
          <a:ln cap="flat" cmpd="sng" w="16925">
            <a:solidFill>
              <a:srgbClr val="B7504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63"/>
          <p:cNvSpPr/>
          <p:nvPr/>
        </p:nvSpPr>
        <p:spPr>
          <a:xfrm>
            <a:off x="390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833" u="none" cap="none" strike="noStrike">
                <a:solidFill>
                  <a:srgbClr val="FFFFFF"/>
                </a:solidFill>
                <a:latin typeface="Calibri"/>
                <a:ea typeface="Calibri"/>
                <a:cs typeface="Calibri"/>
                <a:sym typeface="Calibri"/>
              </a:rPr>
              <a:t>EVALUATE  ·  L5</a:t>
            </a:r>
            <a:endParaRPr b="0" i="0" sz="1833" u="none" cap="none" strike="noStrike">
              <a:solidFill>
                <a:srgbClr val="000000"/>
              </a:solidFill>
              <a:latin typeface="Calibri"/>
              <a:ea typeface="Calibri"/>
              <a:cs typeface="Calibri"/>
              <a:sym typeface="Calibri"/>
            </a:endParaRPr>
          </a:p>
        </p:txBody>
      </p:sp>
      <p:sp>
        <p:nvSpPr>
          <p:cNvPr id="496" name="Google Shape;496;p63"/>
          <p:cNvSpPr/>
          <p:nvPr/>
        </p:nvSpPr>
        <p:spPr>
          <a:xfrm>
            <a:off x="463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800" u="none" cap="none" strike="noStrike">
                <a:solidFill>
                  <a:srgbClr val="555555"/>
                </a:solidFill>
                <a:latin typeface="Calibri"/>
                <a:ea typeface="Calibri"/>
                <a:cs typeface="Calibri"/>
                <a:sym typeface="Calibri"/>
              </a:rPr>
              <a:t>The ability to make informed judgments using criteria and standards to assess the quality or validity of something.</a:t>
            </a:r>
            <a:endParaRPr b="0" i="0" sz="1800" u="none" cap="none" strike="noStrike">
              <a:solidFill>
                <a:srgbClr val="000000"/>
              </a:solidFill>
              <a:latin typeface="Calibri"/>
              <a:ea typeface="Calibri"/>
              <a:cs typeface="Calibri"/>
              <a:sym typeface="Calibri"/>
            </a:endParaRPr>
          </a:p>
        </p:txBody>
      </p:sp>
      <p:cxnSp>
        <p:nvCxnSpPr>
          <p:cNvPr id="497" name="Google Shape;497;p63"/>
          <p:cNvCxnSpPr/>
          <p:nvPr/>
        </p:nvCxnSpPr>
        <p:spPr>
          <a:xfrm>
            <a:off x="463196" y="3288549"/>
            <a:ext cx="5169600" cy="0"/>
          </a:xfrm>
          <a:prstGeom prst="straightConnector1">
            <a:avLst/>
          </a:prstGeom>
          <a:noFill/>
          <a:ln cap="flat" cmpd="sng" w="12700">
            <a:solidFill>
              <a:srgbClr val="DDDDDD"/>
            </a:solidFill>
            <a:prstDash val="solid"/>
            <a:round/>
            <a:headEnd len="sm" w="sm" type="none"/>
            <a:tailEnd len="sm" w="sm" type="none"/>
          </a:ln>
        </p:spPr>
      </p:cxnSp>
      <p:sp>
        <p:nvSpPr>
          <p:cNvPr id="498" name="Google Shape;498;p63"/>
          <p:cNvSpPr/>
          <p:nvPr/>
        </p:nvSpPr>
        <p:spPr>
          <a:xfrm>
            <a:off x="463296" y="3633068"/>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75041"/>
              </a:buClr>
              <a:buSzPts val="1200"/>
              <a:buFont typeface="Calibri"/>
              <a:buNone/>
            </a:pPr>
            <a:r>
              <a:rPr b="1" i="0" lang="en-ZA" sz="1800" u="none" cap="none" strike="noStrike">
                <a:solidFill>
                  <a:srgbClr val="B75041"/>
                </a:solidFill>
                <a:latin typeface="Calibri"/>
                <a:ea typeface="Calibri"/>
                <a:cs typeface="Calibri"/>
                <a:sym typeface="Calibri"/>
              </a:rPr>
              <a:t>Example</a:t>
            </a:r>
            <a:endParaRPr b="0" i="0" sz="1800" u="none" cap="none" strike="noStrike">
              <a:solidFill>
                <a:srgbClr val="000000"/>
              </a:solidFill>
              <a:latin typeface="Calibri"/>
              <a:ea typeface="Calibri"/>
              <a:cs typeface="Calibri"/>
              <a:sym typeface="Calibri"/>
            </a:endParaRPr>
          </a:p>
        </p:txBody>
      </p:sp>
      <p:sp>
        <p:nvSpPr>
          <p:cNvPr id="499" name="Google Shape;499;p63"/>
          <p:cNvSpPr/>
          <p:nvPr/>
        </p:nvSpPr>
        <p:spPr>
          <a:xfrm>
            <a:off x="390146" y="3938017"/>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t/>
            </a:r>
            <a:endParaRPr b="0" i="0" sz="1867" u="none" cap="none" strike="noStrike">
              <a:solidFill>
                <a:srgbClr val="1A1A2E"/>
              </a:solidFill>
              <a:latin typeface="Calibri"/>
              <a:ea typeface="Calibri"/>
              <a:cs typeface="Calibri"/>
              <a:sym typeface="Calibri"/>
            </a:endParaRPr>
          </a:p>
          <a:p>
            <a:pPr indent="0" lvl="0" marL="0" marR="0" rtl="0" algn="l">
              <a:lnSpc>
                <a:spcPct val="115000"/>
              </a:lnSpc>
              <a:spcBef>
                <a:spcPts val="1200"/>
              </a:spcBef>
              <a:spcAft>
                <a:spcPts val="0"/>
              </a:spcAft>
              <a:buClr>
                <a:schemeClr val="dk1"/>
              </a:buClr>
              <a:buSzPts val="1100"/>
              <a:buFont typeface="Arial"/>
              <a:buNone/>
            </a:pPr>
            <a:r>
              <a:rPr b="0" i="0" lang="en-ZA" sz="1867" u="none" cap="none" strike="noStrike">
                <a:solidFill>
                  <a:srgbClr val="1A1A2E"/>
                </a:solidFill>
                <a:latin typeface="Calibri"/>
                <a:ea typeface="Calibri"/>
                <a:cs typeface="Calibri"/>
                <a:sym typeface="Calibri"/>
              </a:rPr>
              <a:t>Evaluate whether removing emojis from review data is a good preprocessing choice for a sentiment analysis task.</a:t>
            </a:r>
            <a:endParaRPr b="0" i="0" sz="1867" u="none" cap="none" strike="noStrike">
              <a:solidFill>
                <a:srgbClr val="1A1A2E"/>
              </a:solidFill>
              <a:latin typeface="Calibri"/>
              <a:ea typeface="Calibri"/>
              <a:cs typeface="Calibri"/>
              <a:sym typeface="Calibri"/>
            </a:endParaRPr>
          </a:p>
          <a:p>
            <a:pPr indent="0" lvl="0" marL="0" marR="0" rtl="0" algn="l">
              <a:lnSpc>
                <a:spcPct val="100000"/>
              </a:lnSpc>
              <a:spcBef>
                <a:spcPts val="1200"/>
              </a:spcBef>
              <a:spcAft>
                <a:spcPts val="0"/>
              </a:spcAft>
              <a:buClr>
                <a:srgbClr val="1A1A2E"/>
              </a:buClr>
              <a:buSzPts val="1267"/>
              <a:buFont typeface="Calibri"/>
              <a:buNone/>
            </a:pPr>
            <a:r>
              <a:t/>
            </a:r>
            <a:endParaRPr b="0" i="0" sz="1867" u="none" cap="none" strike="noStrike">
              <a:solidFill>
                <a:srgbClr val="1A1A2E"/>
              </a:solidFill>
              <a:latin typeface="Calibri"/>
              <a:ea typeface="Calibri"/>
              <a:cs typeface="Calibri"/>
              <a:sym typeface="Calibri"/>
            </a:endParaRPr>
          </a:p>
        </p:txBody>
      </p:sp>
      <p:sp>
        <p:nvSpPr>
          <p:cNvPr id="500" name="Google Shape;500;p63"/>
          <p:cNvSpPr/>
          <p:nvPr/>
        </p:nvSpPr>
        <p:spPr>
          <a:xfrm>
            <a:off x="463296" y="5669286"/>
            <a:ext cx="1658100" cy="402300"/>
          </a:xfrm>
          <a:prstGeom prst="roundRect">
            <a:avLst>
              <a:gd fmla="val 18182" name="adj"/>
            </a:avLst>
          </a:prstGeom>
          <a:solidFill>
            <a:srgbClr val="F5F5F5"/>
          </a:solidFill>
          <a:ln cap="flat" cmpd="sng" w="12700">
            <a:solidFill>
              <a:srgbClr val="B7504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63"/>
          <p:cNvSpPr/>
          <p:nvPr/>
        </p:nvSpPr>
        <p:spPr>
          <a:xfrm>
            <a:off x="463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75041"/>
              </a:buClr>
              <a:buSzPts val="1267"/>
              <a:buFont typeface="Calibri"/>
              <a:buNone/>
            </a:pPr>
            <a:r>
              <a:rPr b="0" i="0" lang="en-ZA" sz="1267" u="none" cap="none" strike="noStrike">
                <a:solidFill>
                  <a:srgbClr val="B75041"/>
                </a:solidFill>
                <a:latin typeface="Calibri"/>
                <a:ea typeface="Calibri"/>
                <a:cs typeface="Calibri"/>
                <a:sym typeface="Calibri"/>
              </a:rPr>
              <a:t>Judge</a:t>
            </a:r>
            <a:endParaRPr b="0" i="0" sz="1267" u="none" cap="none" strike="noStrike">
              <a:solidFill>
                <a:srgbClr val="000000"/>
              </a:solidFill>
              <a:latin typeface="Calibri"/>
              <a:ea typeface="Calibri"/>
              <a:cs typeface="Calibri"/>
              <a:sym typeface="Calibri"/>
            </a:endParaRPr>
          </a:p>
        </p:txBody>
      </p:sp>
      <p:sp>
        <p:nvSpPr>
          <p:cNvPr id="502" name="Google Shape;502;p63"/>
          <p:cNvSpPr/>
          <p:nvPr/>
        </p:nvSpPr>
        <p:spPr>
          <a:xfrm>
            <a:off x="2218944" y="5669286"/>
            <a:ext cx="1658100" cy="402300"/>
          </a:xfrm>
          <a:prstGeom prst="roundRect">
            <a:avLst>
              <a:gd fmla="val 18182" name="adj"/>
            </a:avLst>
          </a:prstGeom>
          <a:solidFill>
            <a:srgbClr val="F5F5F5"/>
          </a:solidFill>
          <a:ln cap="flat" cmpd="sng" w="12700">
            <a:solidFill>
              <a:srgbClr val="B7504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63"/>
          <p:cNvSpPr/>
          <p:nvPr/>
        </p:nvSpPr>
        <p:spPr>
          <a:xfrm>
            <a:off x="2218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75041"/>
              </a:buClr>
              <a:buSzPts val="1267"/>
              <a:buFont typeface="Calibri"/>
              <a:buNone/>
            </a:pPr>
            <a:r>
              <a:rPr b="0" i="0" lang="en-ZA" sz="1267" u="none" cap="none" strike="noStrike">
                <a:solidFill>
                  <a:srgbClr val="B75041"/>
                </a:solidFill>
                <a:latin typeface="Calibri"/>
                <a:ea typeface="Calibri"/>
                <a:cs typeface="Calibri"/>
                <a:sym typeface="Calibri"/>
              </a:rPr>
              <a:t>Assess</a:t>
            </a:r>
            <a:endParaRPr b="0" i="0" sz="1267" u="none" cap="none" strike="noStrike">
              <a:solidFill>
                <a:srgbClr val="000000"/>
              </a:solidFill>
              <a:latin typeface="Calibri"/>
              <a:ea typeface="Calibri"/>
              <a:cs typeface="Calibri"/>
              <a:sym typeface="Calibri"/>
            </a:endParaRPr>
          </a:p>
        </p:txBody>
      </p:sp>
      <p:sp>
        <p:nvSpPr>
          <p:cNvPr id="504" name="Google Shape;504;p63"/>
          <p:cNvSpPr/>
          <p:nvPr/>
        </p:nvSpPr>
        <p:spPr>
          <a:xfrm>
            <a:off x="3974592" y="5669286"/>
            <a:ext cx="1658100" cy="402300"/>
          </a:xfrm>
          <a:prstGeom prst="roundRect">
            <a:avLst>
              <a:gd fmla="val 18182" name="adj"/>
            </a:avLst>
          </a:prstGeom>
          <a:solidFill>
            <a:srgbClr val="F5F5F5"/>
          </a:solidFill>
          <a:ln cap="flat" cmpd="sng" w="12700">
            <a:solidFill>
              <a:srgbClr val="B7504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63"/>
          <p:cNvSpPr/>
          <p:nvPr/>
        </p:nvSpPr>
        <p:spPr>
          <a:xfrm>
            <a:off x="3974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75041"/>
              </a:buClr>
              <a:buSzPts val="1267"/>
              <a:buFont typeface="Calibri"/>
              <a:buNone/>
            </a:pPr>
            <a:r>
              <a:rPr b="0" i="0" lang="en-ZA" sz="1267" u="none" cap="none" strike="noStrike">
                <a:solidFill>
                  <a:srgbClr val="B75041"/>
                </a:solidFill>
                <a:latin typeface="Calibri"/>
                <a:ea typeface="Calibri"/>
                <a:cs typeface="Calibri"/>
                <a:sym typeface="Calibri"/>
              </a:rPr>
              <a:t>Argue</a:t>
            </a:r>
            <a:endParaRPr b="0" i="0" sz="1267" u="none" cap="none" strike="noStrike">
              <a:solidFill>
                <a:srgbClr val="000000"/>
              </a:solidFill>
              <a:latin typeface="Calibri"/>
              <a:ea typeface="Calibri"/>
              <a:cs typeface="Calibri"/>
              <a:sym typeface="Calibri"/>
            </a:endParaRPr>
          </a:p>
        </p:txBody>
      </p:sp>
      <p:sp>
        <p:nvSpPr>
          <p:cNvPr id="506" name="Google Shape;506;p63"/>
          <p:cNvSpPr/>
          <p:nvPr/>
        </p:nvSpPr>
        <p:spPr>
          <a:xfrm>
            <a:off x="6339840" y="1280161"/>
            <a:ext cx="5608500" cy="4998900"/>
          </a:xfrm>
          <a:prstGeom prst="roundRect">
            <a:avLst>
              <a:gd fmla="val 2927" name="adj"/>
            </a:avLst>
          </a:prstGeom>
          <a:solidFill>
            <a:srgbClr val="F2EAE1"/>
          </a:solidFill>
          <a:ln cap="flat" cmpd="sng" w="16925">
            <a:solidFill>
              <a:srgbClr val="8A2F2E"/>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63"/>
          <p:cNvSpPr/>
          <p:nvPr/>
        </p:nvSpPr>
        <p:spPr>
          <a:xfrm>
            <a:off x="6486144" y="1426465"/>
            <a:ext cx="2682300" cy="438900"/>
          </a:xfrm>
          <a:prstGeom prst="roundRect">
            <a:avLst>
              <a:gd fmla="val 22222" name="adj"/>
            </a:avLst>
          </a:prstGeom>
          <a:solidFill>
            <a:srgbClr val="8A2F2E"/>
          </a:solidFill>
          <a:ln cap="flat" cmpd="sng" w="16925">
            <a:solidFill>
              <a:srgbClr val="8A2F2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63"/>
          <p:cNvSpPr/>
          <p:nvPr/>
        </p:nvSpPr>
        <p:spPr>
          <a:xfrm>
            <a:off x="6486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733" u="none" cap="none" strike="noStrike">
                <a:solidFill>
                  <a:srgbClr val="FFFFFF"/>
                </a:solidFill>
                <a:latin typeface="Calibri"/>
                <a:ea typeface="Calibri"/>
                <a:cs typeface="Calibri"/>
                <a:sym typeface="Calibri"/>
              </a:rPr>
              <a:t>CREATE  ·  L6</a:t>
            </a:r>
            <a:endParaRPr b="0" i="0" sz="1733" u="none" cap="none" strike="noStrike">
              <a:solidFill>
                <a:srgbClr val="000000"/>
              </a:solidFill>
              <a:latin typeface="Calibri"/>
              <a:ea typeface="Calibri"/>
              <a:cs typeface="Calibri"/>
              <a:sym typeface="Calibri"/>
            </a:endParaRPr>
          </a:p>
        </p:txBody>
      </p:sp>
      <p:sp>
        <p:nvSpPr>
          <p:cNvPr id="509" name="Google Shape;509;p63"/>
          <p:cNvSpPr/>
          <p:nvPr/>
        </p:nvSpPr>
        <p:spPr>
          <a:xfrm>
            <a:off x="6559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800" u="none" cap="none" strike="noStrike">
                <a:solidFill>
                  <a:srgbClr val="555555"/>
                </a:solidFill>
                <a:latin typeface="Calibri"/>
                <a:ea typeface="Calibri"/>
                <a:cs typeface="Calibri"/>
                <a:sym typeface="Calibri"/>
              </a:rPr>
              <a:t>The highest level of thinking, involving combining elements to create something new, such as a product, plan, or idea.</a:t>
            </a:r>
            <a:endParaRPr b="0" i="0" sz="1800" u="none" cap="none" strike="noStrike">
              <a:solidFill>
                <a:srgbClr val="000000"/>
              </a:solidFill>
              <a:latin typeface="Calibri"/>
              <a:ea typeface="Calibri"/>
              <a:cs typeface="Calibri"/>
              <a:sym typeface="Calibri"/>
            </a:endParaRPr>
          </a:p>
        </p:txBody>
      </p:sp>
      <p:cxnSp>
        <p:nvCxnSpPr>
          <p:cNvPr id="510" name="Google Shape;510;p63"/>
          <p:cNvCxnSpPr/>
          <p:nvPr/>
        </p:nvCxnSpPr>
        <p:spPr>
          <a:xfrm>
            <a:off x="6559296" y="3253399"/>
            <a:ext cx="5169600" cy="0"/>
          </a:xfrm>
          <a:prstGeom prst="straightConnector1">
            <a:avLst/>
          </a:prstGeom>
          <a:noFill/>
          <a:ln cap="flat" cmpd="sng" w="12700">
            <a:solidFill>
              <a:srgbClr val="DDDDDD"/>
            </a:solidFill>
            <a:prstDash val="solid"/>
            <a:round/>
            <a:headEnd len="sm" w="sm" type="none"/>
            <a:tailEnd len="sm" w="sm" type="none"/>
          </a:ln>
        </p:spPr>
      </p:cxnSp>
      <p:sp>
        <p:nvSpPr>
          <p:cNvPr id="511" name="Google Shape;511;p63"/>
          <p:cNvSpPr/>
          <p:nvPr/>
        </p:nvSpPr>
        <p:spPr>
          <a:xfrm>
            <a:off x="6559196" y="3631526"/>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2F2E"/>
              </a:buClr>
              <a:buSzPts val="1200"/>
              <a:buFont typeface="Calibri"/>
              <a:buNone/>
            </a:pPr>
            <a:r>
              <a:rPr b="1" i="0" lang="en-ZA" sz="1800" u="none" cap="none" strike="noStrike">
                <a:solidFill>
                  <a:srgbClr val="8A2F2E"/>
                </a:solidFill>
                <a:latin typeface="Calibri"/>
                <a:ea typeface="Calibri"/>
                <a:cs typeface="Calibri"/>
                <a:sym typeface="Calibri"/>
              </a:rPr>
              <a:t>Example</a:t>
            </a:r>
            <a:endParaRPr b="0" i="0" sz="1800" u="none" cap="none" strike="noStrike">
              <a:solidFill>
                <a:srgbClr val="000000"/>
              </a:solidFill>
              <a:latin typeface="Calibri"/>
              <a:ea typeface="Calibri"/>
              <a:cs typeface="Calibri"/>
              <a:sym typeface="Calibri"/>
            </a:endParaRPr>
          </a:p>
        </p:txBody>
      </p:sp>
      <p:sp>
        <p:nvSpPr>
          <p:cNvPr id="512" name="Google Shape;512;p63"/>
          <p:cNvSpPr/>
          <p:nvPr/>
        </p:nvSpPr>
        <p:spPr>
          <a:xfrm>
            <a:off x="6559296" y="3900025"/>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267"/>
              <a:buFont typeface="Calibri"/>
              <a:buNone/>
            </a:pPr>
            <a:r>
              <a:rPr b="0" i="0" lang="en-ZA" sz="1867" u="none" cap="none" strike="noStrike">
                <a:solidFill>
                  <a:srgbClr val="1A1A2E"/>
                </a:solidFill>
                <a:latin typeface="Calibri"/>
                <a:ea typeface="Calibri"/>
                <a:cs typeface="Calibri"/>
                <a:sym typeface="Calibri"/>
              </a:rPr>
              <a:t>Design a 2D embedding map for ten words from your own language community.</a:t>
            </a:r>
            <a:endParaRPr b="0" i="0" sz="1867" u="none" cap="none" strike="noStrike">
              <a:solidFill>
                <a:srgbClr val="000000"/>
              </a:solidFill>
              <a:latin typeface="Calibri"/>
              <a:ea typeface="Calibri"/>
              <a:cs typeface="Calibri"/>
              <a:sym typeface="Calibri"/>
            </a:endParaRPr>
          </a:p>
        </p:txBody>
      </p:sp>
      <p:sp>
        <p:nvSpPr>
          <p:cNvPr id="513" name="Google Shape;513;p63"/>
          <p:cNvSpPr/>
          <p:nvPr/>
        </p:nvSpPr>
        <p:spPr>
          <a:xfrm>
            <a:off x="6559296" y="5669286"/>
            <a:ext cx="1658100" cy="402300"/>
          </a:xfrm>
          <a:prstGeom prst="roundRect">
            <a:avLst>
              <a:gd fmla="val 18182" name="adj"/>
            </a:avLst>
          </a:prstGeom>
          <a:solidFill>
            <a:srgbClr val="F5F5F5"/>
          </a:solidFill>
          <a:ln cap="flat" cmpd="sng" w="12700">
            <a:solidFill>
              <a:srgbClr val="8A2F2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63"/>
          <p:cNvSpPr/>
          <p:nvPr/>
        </p:nvSpPr>
        <p:spPr>
          <a:xfrm>
            <a:off x="6559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2F2E"/>
              </a:buClr>
              <a:buSzPts val="1267"/>
              <a:buFont typeface="Calibri"/>
              <a:buNone/>
            </a:pPr>
            <a:r>
              <a:rPr b="0" i="0" lang="en-ZA" sz="1267" u="none" cap="none" strike="noStrike">
                <a:solidFill>
                  <a:srgbClr val="8A2F2E"/>
                </a:solidFill>
                <a:latin typeface="Calibri"/>
                <a:ea typeface="Calibri"/>
                <a:cs typeface="Calibri"/>
                <a:sym typeface="Calibri"/>
              </a:rPr>
              <a:t>Design</a:t>
            </a:r>
            <a:endParaRPr b="0" i="0" sz="1267" u="none" cap="none" strike="noStrike">
              <a:solidFill>
                <a:srgbClr val="000000"/>
              </a:solidFill>
              <a:latin typeface="Calibri"/>
              <a:ea typeface="Calibri"/>
              <a:cs typeface="Calibri"/>
              <a:sym typeface="Calibri"/>
            </a:endParaRPr>
          </a:p>
        </p:txBody>
      </p:sp>
      <p:sp>
        <p:nvSpPr>
          <p:cNvPr id="515" name="Google Shape;515;p63"/>
          <p:cNvSpPr/>
          <p:nvPr/>
        </p:nvSpPr>
        <p:spPr>
          <a:xfrm>
            <a:off x="8314944" y="5669286"/>
            <a:ext cx="1658100" cy="402300"/>
          </a:xfrm>
          <a:prstGeom prst="roundRect">
            <a:avLst>
              <a:gd fmla="val 18182" name="adj"/>
            </a:avLst>
          </a:prstGeom>
          <a:solidFill>
            <a:srgbClr val="F5F5F5"/>
          </a:solidFill>
          <a:ln cap="flat" cmpd="sng" w="12700">
            <a:solidFill>
              <a:srgbClr val="8A2F2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63"/>
          <p:cNvSpPr/>
          <p:nvPr/>
        </p:nvSpPr>
        <p:spPr>
          <a:xfrm>
            <a:off x="8314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2F2E"/>
              </a:buClr>
              <a:buSzPts val="1267"/>
              <a:buFont typeface="Calibri"/>
              <a:buNone/>
            </a:pPr>
            <a:r>
              <a:rPr b="0" i="0" lang="en-ZA" sz="1267" u="none" cap="none" strike="noStrike">
                <a:solidFill>
                  <a:srgbClr val="8A2F2E"/>
                </a:solidFill>
                <a:latin typeface="Calibri"/>
                <a:ea typeface="Calibri"/>
                <a:cs typeface="Calibri"/>
                <a:sym typeface="Calibri"/>
              </a:rPr>
              <a:t>Build</a:t>
            </a:r>
            <a:endParaRPr b="0" i="0" sz="1267" u="none" cap="none" strike="noStrike">
              <a:solidFill>
                <a:srgbClr val="000000"/>
              </a:solidFill>
              <a:latin typeface="Calibri"/>
              <a:ea typeface="Calibri"/>
              <a:cs typeface="Calibri"/>
              <a:sym typeface="Calibri"/>
            </a:endParaRPr>
          </a:p>
        </p:txBody>
      </p:sp>
      <p:sp>
        <p:nvSpPr>
          <p:cNvPr id="517" name="Google Shape;517;p63"/>
          <p:cNvSpPr/>
          <p:nvPr/>
        </p:nvSpPr>
        <p:spPr>
          <a:xfrm>
            <a:off x="10070592" y="5669286"/>
            <a:ext cx="1658100" cy="402300"/>
          </a:xfrm>
          <a:prstGeom prst="roundRect">
            <a:avLst>
              <a:gd fmla="val 18182" name="adj"/>
            </a:avLst>
          </a:prstGeom>
          <a:solidFill>
            <a:srgbClr val="F5F5F5"/>
          </a:solidFill>
          <a:ln cap="flat" cmpd="sng" w="12700">
            <a:solidFill>
              <a:srgbClr val="8A2F2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63"/>
          <p:cNvSpPr/>
          <p:nvPr/>
        </p:nvSpPr>
        <p:spPr>
          <a:xfrm>
            <a:off x="10070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2F2E"/>
              </a:buClr>
              <a:buSzPts val="1267"/>
              <a:buFont typeface="Calibri"/>
              <a:buNone/>
            </a:pPr>
            <a:r>
              <a:rPr b="0" i="0" lang="en-ZA" sz="1267" u="none" cap="none" strike="noStrike">
                <a:solidFill>
                  <a:srgbClr val="8A2F2E"/>
                </a:solidFill>
                <a:latin typeface="Calibri"/>
                <a:ea typeface="Calibri"/>
                <a:cs typeface="Calibri"/>
                <a:sym typeface="Calibri"/>
              </a:rPr>
              <a:t>Plan</a:t>
            </a:r>
            <a:endParaRPr b="0" i="0" sz="1267"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pic>
        <p:nvPicPr>
          <p:cNvPr id="524" name="Google Shape;524;p64"/>
          <p:cNvPicPr preferRelativeResize="0"/>
          <p:nvPr/>
        </p:nvPicPr>
        <p:blipFill rotWithShape="1">
          <a:blip r:embed="rId3">
            <a:alphaModFix/>
          </a:blip>
          <a:srcRect b="0" l="0" r="0" t="0"/>
          <a:stretch/>
        </p:blipFill>
        <p:spPr>
          <a:xfrm>
            <a:off x="98725" y="563575"/>
            <a:ext cx="12192000" cy="6858000"/>
          </a:xfrm>
          <a:prstGeom prst="rect">
            <a:avLst/>
          </a:prstGeom>
          <a:noFill/>
          <a:ln>
            <a:noFill/>
          </a:ln>
        </p:spPr>
      </p:pic>
      <p:cxnSp>
        <p:nvCxnSpPr>
          <p:cNvPr id="525" name="Google Shape;525;p64"/>
          <p:cNvCxnSpPr/>
          <p:nvPr/>
        </p:nvCxnSpPr>
        <p:spPr>
          <a:xfrm>
            <a:off x="753533" y="2194975"/>
            <a:ext cx="10544731" cy="0"/>
          </a:xfrm>
          <a:prstGeom prst="straightConnector1">
            <a:avLst/>
          </a:prstGeom>
          <a:noFill/>
          <a:ln cap="flat" cmpd="sng" w="19050">
            <a:solidFill>
              <a:schemeClr val="dk2"/>
            </a:solidFill>
            <a:prstDash val="solid"/>
            <a:miter lim="8000"/>
            <a:headEnd len="sm" w="sm" type="none"/>
            <a:tailEnd len="sm" w="sm" type="none"/>
          </a:ln>
        </p:spPr>
      </p:cxnSp>
      <p:sp>
        <p:nvSpPr>
          <p:cNvPr id="526" name="Google Shape;526;p64"/>
          <p:cNvSpPr/>
          <p:nvPr/>
        </p:nvSpPr>
        <p:spPr>
          <a:xfrm>
            <a:off x="457200" y="1017476"/>
            <a:ext cx="112470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2418"/>
              </a:buClr>
              <a:buSzPts val="3600"/>
              <a:buFont typeface="Georgia"/>
              <a:buNone/>
            </a:pPr>
            <a:r>
              <a:rPr b="1" i="0" lang="en-ZA" sz="3600" u="none" cap="none" strike="noStrike">
                <a:solidFill>
                  <a:srgbClr val="2C2418"/>
                </a:solidFill>
                <a:latin typeface="Georgia"/>
                <a:ea typeface="Georgia"/>
                <a:cs typeface="Georgia"/>
                <a:sym typeface="Georgia"/>
              </a:rPr>
              <a:t>The Affective Domain</a:t>
            </a:r>
            <a:endParaRPr b="0" i="0" sz="3600" u="none" cap="none" strike="noStrike">
              <a:solidFill>
                <a:srgbClr val="C0791B"/>
              </a:solidFill>
              <a:latin typeface="Calibri"/>
              <a:ea typeface="Calibri"/>
              <a:cs typeface="Calibri"/>
              <a:sym typeface="Calibri"/>
            </a:endParaRPr>
          </a:p>
        </p:txBody>
      </p:sp>
      <p:sp>
        <p:nvSpPr>
          <p:cNvPr id="527" name="Google Shape;527;p64"/>
          <p:cNvSpPr/>
          <p:nvPr/>
        </p:nvSpPr>
        <p:spPr>
          <a:xfrm>
            <a:off x="457200" y="2397735"/>
            <a:ext cx="11247000" cy="731400"/>
          </a:xfrm>
          <a:prstGeom prst="rect">
            <a:avLst/>
          </a:prstGeom>
          <a:solidFill>
            <a:srgbClr val="FFFFFF"/>
          </a:solidFill>
          <a:ln cap="flat" cmpd="sng" w="12700">
            <a:solidFill>
              <a:srgbClr val="E7E8D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64"/>
          <p:cNvSpPr/>
          <p:nvPr/>
        </p:nvSpPr>
        <p:spPr>
          <a:xfrm>
            <a:off x="671732" y="2548963"/>
            <a:ext cx="10789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C8B7E"/>
              </a:buClr>
              <a:buSzPts val="1400"/>
              <a:buFont typeface="Calibri"/>
              <a:buNone/>
            </a:pPr>
            <a:r>
              <a:rPr b="1" i="0" lang="en-ZA" sz="1800" u="none" cap="none" strike="noStrike">
                <a:solidFill>
                  <a:srgbClr val="5C8B7E"/>
                </a:solidFill>
                <a:latin typeface="Calibri"/>
                <a:ea typeface="Calibri"/>
                <a:cs typeface="Calibri"/>
                <a:sym typeface="Calibri"/>
              </a:rPr>
              <a:t>DEFINITION   </a:t>
            </a:r>
            <a:r>
              <a:rPr b="0" i="0" lang="en-ZA" sz="1800" u="none" cap="none" strike="noStrike">
                <a:solidFill>
                  <a:srgbClr val="2C2418"/>
                </a:solidFill>
                <a:latin typeface="Calibri"/>
                <a:ea typeface="Calibri"/>
                <a:cs typeface="Calibri"/>
                <a:sym typeface="Calibri"/>
              </a:rPr>
              <a:t>The affective domain is about how learners develop values and ethics, from receiving information to internalizing it as part of their behaviour.</a:t>
            </a:r>
            <a:endParaRPr b="0" i="0" sz="1800" u="none" cap="none" strike="noStrike">
              <a:solidFill>
                <a:srgbClr val="2C2418"/>
              </a:solidFill>
              <a:latin typeface="Calibri"/>
              <a:ea typeface="Calibri"/>
              <a:cs typeface="Calibri"/>
              <a:sym typeface="Calibri"/>
            </a:endParaRPr>
          </a:p>
          <a:p>
            <a:pPr indent="0" lvl="0" marL="0" marR="0" rtl="0" algn="l">
              <a:lnSpc>
                <a:spcPct val="100000"/>
              </a:lnSpc>
              <a:spcBef>
                <a:spcPts val="0"/>
              </a:spcBef>
              <a:spcAft>
                <a:spcPts val="0"/>
              </a:spcAft>
              <a:buClr>
                <a:srgbClr val="5C8B7E"/>
              </a:buClr>
              <a:buSzPts val="1400"/>
              <a:buFont typeface="Calibri"/>
              <a:buNone/>
            </a:pPr>
            <a:r>
              <a:t/>
            </a:r>
            <a:endParaRPr b="0" i="0" sz="1800" u="none" cap="none" strike="noStrike">
              <a:solidFill>
                <a:srgbClr val="2C2418"/>
              </a:solidFill>
              <a:latin typeface="Calibri"/>
              <a:ea typeface="Calibri"/>
              <a:cs typeface="Calibri"/>
              <a:sym typeface="Calibri"/>
            </a:endParaRPr>
          </a:p>
        </p:txBody>
      </p:sp>
      <p:sp>
        <p:nvSpPr>
          <p:cNvPr id="529" name="Google Shape;529;p64"/>
          <p:cNvSpPr/>
          <p:nvPr/>
        </p:nvSpPr>
        <p:spPr>
          <a:xfrm>
            <a:off x="2878018" y="3702376"/>
            <a:ext cx="5486400" cy="530400"/>
          </a:xfrm>
          <a:prstGeom prst="rect">
            <a:avLst/>
          </a:prstGeom>
          <a:solidFill>
            <a:srgbClr val="244D44"/>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64"/>
          <p:cNvSpPr/>
          <p:nvPr/>
        </p:nvSpPr>
        <p:spPr>
          <a:xfrm>
            <a:off x="2878018" y="3702376"/>
            <a:ext cx="2633400" cy="530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ZA" sz="1700" u="none" cap="none" strike="noStrike">
                <a:solidFill>
                  <a:srgbClr val="FFFFFF"/>
                </a:solidFill>
                <a:latin typeface="Calibri"/>
                <a:ea typeface="Calibri"/>
                <a:cs typeface="Calibri"/>
                <a:sym typeface="Calibri"/>
              </a:rPr>
              <a:t>Internalize</a:t>
            </a:r>
            <a:endParaRPr b="0" i="0" sz="1700" u="none" cap="none" strike="noStrike">
              <a:solidFill>
                <a:srgbClr val="C0791B"/>
              </a:solidFill>
              <a:latin typeface="Calibri"/>
              <a:ea typeface="Calibri"/>
              <a:cs typeface="Calibri"/>
              <a:sym typeface="Calibri"/>
            </a:endParaRPr>
          </a:p>
        </p:txBody>
      </p:sp>
      <p:sp>
        <p:nvSpPr>
          <p:cNvPr id="531" name="Google Shape;531;p64"/>
          <p:cNvSpPr/>
          <p:nvPr/>
        </p:nvSpPr>
        <p:spPr>
          <a:xfrm>
            <a:off x="5648650" y="3702376"/>
            <a:ext cx="27159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0" i="1" lang="en-ZA" u="none" cap="none" strike="noStrike">
                <a:solidFill>
                  <a:srgbClr val="FFFFFF"/>
                </a:solidFill>
                <a:latin typeface="Calibri"/>
                <a:ea typeface="Calibri"/>
                <a:cs typeface="Calibri"/>
                <a:sym typeface="Calibri"/>
              </a:rPr>
              <a:t>embody, act consistently</a:t>
            </a:r>
            <a:endParaRPr b="0" i="0" u="none" cap="none" strike="noStrike">
              <a:solidFill>
                <a:srgbClr val="C0791B"/>
              </a:solidFill>
              <a:latin typeface="Calibri"/>
              <a:ea typeface="Calibri"/>
              <a:cs typeface="Calibri"/>
              <a:sym typeface="Calibri"/>
            </a:endParaRPr>
          </a:p>
        </p:txBody>
      </p:sp>
      <p:sp>
        <p:nvSpPr>
          <p:cNvPr id="532" name="Google Shape;532;p64"/>
          <p:cNvSpPr/>
          <p:nvPr/>
        </p:nvSpPr>
        <p:spPr>
          <a:xfrm>
            <a:off x="3220918" y="4305880"/>
            <a:ext cx="4800600" cy="530400"/>
          </a:xfrm>
          <a:prstGeom prst="rect">
            <a:avLst/>
          </a:prstGeom>
          <a:solidFill>
            <a:srgbClr val="3D6B5F"/>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64"/>
          <p:cNvSpPr/>
          <p:nvPr/>
        </p:nvSpPr>
        <p:spPr>
          <a:xfrm>
            <a:off x="3220918" y="4305880"/>
            <a:ext cx="2304300" cy="530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ZA" sz="1700" u="none" cap="none" strike="noStrike">
                <a:solidFill>
                  <a:srgbClr val="FFFFFF"/>
                </a:solidFill>
                <a:latin typeface="Calibri"/>
                <a:ea typeface="Calibri"/>
                <a:cs typeface="Calibri"/>
                <a:sym typeface="Calibri"/>
              </a:rPr>
              <a:t>Organize</a:t>
            </a:r>
            <a:endParaRPr b="0" i="0" sz="1700" u="none" cap="none" strike="noStrike">
              <a:solidFill>
                <a:srgbClr val="C0791B"/>
              </a:solidFill>
              <a:latin typeface="Calibri"/>
              <a:ea typeface="Calibri"/>
              <a:cs typeface="Calibri"/>
              <a:sym typeface="Calibri"/>
            </a:endParaRPr>
          </a:p>
        </p:txBody>
      </p:sp>
      <p:sp>
        <p:nvSpPr>
          <p:cNvPr id="534" name="Google Shape;534;p64"/>
          <p:cNvSpPr/>
          <p:nvPr/>
        </p:nvSpPr>
        <p:spPr>
          <a:xfrm>
            <a:off x="5662366" y="4305880"/>
            <a:ext cx="23592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0" i="1" lang="en-ZA" u="none" cap="none" strike="noStrike">
                <a:solidFill>
                  <a:srgbClr val="FFFFFF"/>
                </a:solidFill>
                <a:latin typeface="Calibri"/>
                <a:ea typeface="Calibri"/>
                <a:cs typeface="Calibri"/>
                <a:sym typeface="Calibri"/>
              </a:rPr>
              <a:t>integrate, prioritize</a:t>
            </a:r>
            <a:endParaRPr b="0" i="0" u="none" cap="none" strike="noStrike">
              <a:solidFill>
                <a:srgbClr val="C0791B"/>
              </a:solidFill>
              <a:latin typeface="Calibri"/>
              <a:ea typeface="Calibri"/>
              <a:cs typeface="Calibri"/>
              <a:sym typeface="Calibri"/>
            </a:endParaRPr>
          </a:p>
        </p:txBody>
      </p:sp>
      <p:sp>
        <p:nvSpPr>
          <p:cNvPr id="535" name="Google Shape;535;p64"/>
          <p:cNvSpPr/>
          <p:nvPr/>
        </p:nvSpPr>
        <p:spPr>
          <a:xfrm>
            <a:off x="3563818" y="4909384"/>
            <a:ext cx="4114800" cy="530400"/>
          </a:xfrm>
          <a:prstGeom prst="rect">
            <a:avLst/>
          </a:prstGeom>
          <a:solidFill>
            <a:srgbClr val="5C8B7E"/>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64"/>
          <p:cNvSpPr/>
          <p:nvPr/>
        </p:nvSpPr>
        <p:spPr>
          <a:xfrm>
            <a:off x="3563818" y="4909384"/>
            <a:ext cx="1975200" cy="530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ZA" sz="1700" u="none" cap="none" strike="noStrike">
                <a:solidFill>
                  <a:srgbClr val="FFFFFF"/>
                </a:solidFill>
                <a:latin typeface="Calibri"/>
                <a:ea typeface="Calibri"/>
                <a:cs typeface="Calibri"/>
                <a:sym typeface="Calibri"/>
              </a:rPr>
              <a:t>Value</a:t>
            </a:r>
            <a:endParaRPr b="0" i="0" sz="1700" u="none" cap="none" strike="noStrike">
              <a:solidFill>
                <a:srgbClr val="C0791B"/>
              </a:solidFill>
              <a:latin typeface="Calibri"/>
              <a:ea typeface="Calibri"/>
              <a:cs typeface="Calibri"/>
              <a:sym typeface="Calibri"/>
            </a:endParaRPr>
          </a:p>
        </p:txBody>
      </p:sp>
      <p:sp>
        <p:nvSpPr>
          <p:cNvPr id="537" name="Google Shape;537;p64"/>
          <p:cNvSpPr/>
          <p:nvPr/>
        </p:nvSpPr>
        <p:spPr>
          <a:xfrm>
            <a:off x="5676082" y="4909384"/>
            <a:ext cx="20025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0" i="1" lang="en-ZA" u="none" cap="none" strike="noStrike">
                <a:solidFill>
                  <a:srgbClr val="FFFFFF"/>
                </a:solidFill>
                <a:latin typeface="Calibri"/>
                <a:ea typeface="Calibri"/>
                <a:cs typeface="Calibri"/>
                <a:sym typeface="Calibri"/>
              </a:rPr>
              <a:t>advocate, commit</a:t>
            </a:r>
            <a:endParaRPr b="0" i="0" u="none" cap="none" strike="noStrike">
              <a:solidFill>
                <a:srgbClr val="C0791B"/>
              </a:solidFill>
              <a:latin typeface="Calibri"/>
              <a:ea typeface="Calibri"/>
              <a:cs typeface="Calibri"/>
              <a:sym typeface="Calibri"/>
            </a:endParaRPr>
          </a:p>
        </p:txBody>
      </p:sp>
      <p:sp>
        <p:nvSpPr>
          <p:cNvPr id="538" name="Google Shape;538;p64"/>
          <p:cNvSpPr/>
          <p:nvPr/>
        </p:nvSpPr>
        <p:spPr>
          <a:xfrm>
            <a:off x="3906718" y="5512888"/>
            <a:ext cx="3429000" cy="530400"/>
          </a:xfrm>
          <a:prstGeom prst="rect">
            <a:avLst/>
          </a:prstGeom>
          <a:solidFill>
            <a:srgbClr val="7FA08F"/>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64"/>
          <p:cNvSpPr/>
          <p:nvPr/>
        </p:nvSpPr>
        <p:spPr>
          <a:xfrm>
            <a:off x="3906718" y="5512888"/>
            <a:ext cx="1645800" cy="530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ZA" sz="1700" u="none" cap="none" strike="noStrike">
                <a:solidFill>
                  <a:srgbClr val="FFFFFF"/>
                </a:solidFill>
                <a:latin typeface="Calibri"/>
                <a:ea typeface="Calibri"/>
                <a:cs typeface="Calibri"/>
                <a:sym typeface="Calibri"/>
              </a:rPr>
              <a:t>Respond</a:t>
            </a:r>
            <a:endParaRPr b="0" i="0" sz="1700" u="none" cap="none" strike="noStrike">
              <a:solidFill>
                <a:srgbClr val="C0791B"/>
              </a:solidFill>
              <a:latin typeface="Calibri"/>
              <a:ea typeface="Calibri"/>
              <a:cs typeface="Calibri"/>
              <a:sym typeface="Calibri"/>
            </a:endParaRPr>
          </a:p>
        </p:txBody>
      </p:sp>
      <p:sp>
        <p:nvSpPr>
          <p:cNvPr id="540" name="Google Shape;540;p64"/>
          <p:cNvSpPr/>
          <p:nvPr/>
        </p:nvSpPr>
        <p:spPr>
          <a:xfrm>
            <a:off x="5689798" y="5512888"/>
            <a:ext cx="16458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0" i="1" lang="en-ZA" u="none" cap="none" strike="noStrike">
                <a:solidFill>
                  <a:srgbClr val="FFFFFF"/>
                </a:solidFill>
                <a:latin typeface="Calibri"/>
                <a:ea typeface="Calibri"/>
                <a:cs typeface="Calibri"/>
                <a:sym typeface="Calibri"/>
              </a:rPr>
              <a:t>react, comply</a:t>
            </a:r>
            <a:endParaRPr b="0" i="0" u="none" cap="none" strike="noStrike">
              <a:solidFill>
                <a:srgbClr val="C0791B"/>
              </a:solidFill>
              <a:latin typeface="Calibri"/>
              <a:ea typeface="Calibri"/>
              <a:cs typeface="Calibri"/>
              <a:sym typeface="Calibri"/>
            </a:endParaRPr>
          </a:p>
        </p:txBody>
      </p:sp>
      <p:sp>
        <p:nvSpPr>
          <p:cNvPr id="541" name="Google Shape;541;p64"/>
          <p:cNvSpPr/>
          <p:nvPr/>
        </p:nvSpPr>
        <p:spPr>
          <a:xfrm>
            <a:off x="4249618" y="6116392"/>
            <a:ext cx="2743200" cy="530400"/>
          </a:xfrm>
          <a:prstGeom prst="rect">
            <a:avLst/>
          </a:prstGeom>
          <a:solidFill>
            <a:srgbClr val="9DB4A6"/>
          </a:solidFill>
          <a:ln cap="flat" cmpd="sng" w="12700">
            <a:solidFill>
              <a:srgbClr val="FAF7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64"/>
          <p:cNvSpPr/>
          <p:nvPr/>
        </p:nvSpPr>
        <p:spPr>
          <a:xfrm>
            <a:off x="4249618" y="6116392"/>
            <a:ext cx="1316700" cy="530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ZA" sz="1700" u="none" cap="none" strike="noStrike">
                <a:solidFill>
                  <a:srgbClr val="FFFFFF"/>
                </a:solidFill>
                <a:latin typeface="Calibri"/>
                <a:ea typeface="Calibri"/>
                <a:cs typeface="Calibri"/>
                <a:sym typeface="Calibri"/>
              </a:rPr>
              <a:t>Receive</a:t>
            </a:r>
            <a:endParaRPr b="0" i="0" sz="1700" u="none" cap="none" strike="noStrike">
              <a:solidFill>
                <a:srgbClr val="C0791B"/>
              </a:solidFill>
              <a:latin typeface="Calibri"/>
              <a:ea typeface="Calibri"/>
              <a:cs typeface="Calibri"/>
              <a:sym typeface="Calibri"/>
            </a:endParaRPr>
          </a:p>
        </p:txBody>
      </p:sp>
      <p:sp>
        <p:nvSpPr>
          <p:cNvPr id="543" name="Google Shape;543;p64"/>
          <p:cNvSpPr/>
          <p:nvPr/>
        </p:nvSpPr>
        <p:spPr>
          <a:xfrm>
            <a:off x="5703514" y="6116392"/>
            <a:ext cx="12894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0" i="1" lang="en-ZA" u="none" cap="none" strike="noStrike">
                <a:solidFill>
                  <a:srgbClr val="FFFFFF"/>
                </a:solidFill>
                <a:latin typeface="Calibri"/>
                <a:ea typeface="Calibri"/>
                <a:cs typeface="Calibri"/>
                <a:sym typeface="Calibri"/>
              </a:rPr>
              <a:t>attend, observe</a:t>
            </a:r>
            <a:endParaRPr b="0" i="0" u="none" cap="none" strike="noStrike">
              <a:solidFill>
                <a:srgbClr val="C0791B"/>
              </a:solidFill>
              <a:latin typeface="Calibri"/>
              <a:ea typeface="Calibri"/>
              <a:cs typeface="Calibri"/>
              <a:sym typeface="Calibri"/>
            </a:endParaRPr>
          </a:p>
        </p:txBody>
      </p:sp>
      <p:sp>
        <p:nvSpPr>
          <p:cNvPr id="544" name="Google Shape;544;p64"/>
          <p:cNvSpPr txBox="1"/>
          <p:nvPr/>
        </p:nvSpPr>
        <p:spPr>
          <a:xfrm>
            <a:off x="1090725" y="3707875"/>
            <a:ext cx="15402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ZA" u="none" cap="none" strike="noStrike">
                <a:solidFill>
                  <a:srgbClr val="134F5C"/>
                </a:solidFill>
                <a:latin typeface="Calibri"/>
                <a:ea typeface="Calibri"/>
                <a:cs typeface="Calibri"/>
                <a:sym typeface="Calibri"/>
              </a:rPr>
              <a:t>Higher-order →</a:t>
            </a:r>
            <a:endParaRPr b="0" i="0" u="none" cap="none" strike="noStrike">
              <a:solidFill>
                <a:srgbClr val="134F5C"/>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9" name="Shape 549"/>
        <p:cNvGrpSpPr/>
        <p:nvPr/>
      </p:nvGrpSpPr>
      <p:grpSpPr>
        <a:xfrm>
          <a:off x="0" y="0"/>
          <a:ext cx="0" cy="0"/>
          <a:chOff x="0" y="0"/>
          <a:chExt cx="0" cy="0"/>
        </a:xfrm>
      </p:grpSpPr>
      <p:sp>
        <p:nvSpPr>
          <p:cNvPr id="550" name="Google Shape;550;p65"/>
          <p:cNvSpPr/>
          <p:nvPr/>
        </p:nvSpPr>
        <p:spPr>
          <a:xfrm>
            <a:off x="0" y="0"/>
            <a:ext cx="12192000" cy="1097100"/>
          </a:xfrm>
          <a:prstGeom prst="rect">
            <a:avLst/>
          </a:prstGeom>
          <a:solidFill>
            <a:srgbClr val="2E5E4E"/>
          </a:solidFill>
          <a:ln cap="flat" cmpd="sng" w="16925">
            <a:solidFill>
              <a:srgbClr val="2E5E4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65"/>
          <p:cNvSpPr/>
          <p:nvPr/>
        </p:nvSpPr>
        <p:spPr>
          <a:xfrm>
            <a:off x="487680" y="0"/>
            <a:ext cx="8534400" cy="109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933"/>
              <a:buFont typeface="Calibri"/>
              <a:buNone/>
            </a:pPr>
            <a:r>
              <a:rPr b="1" i="0" lang="en-ZA" sz="2933" u="none" cap="none" strike="noStrike">
                <a:solidFill>
                  <a:srgbClr val="FFFFFF"/>
                </a:solidFill>
                <a:latin typeface="Calibri"/>
                <a:ea typeface="Calibri"/>
                <a:cs typeface="Calibri"/>
                <a:sym typeface="Calibri"/>
              </a:rPr>
              <a:t>Affective Domain</a:t>
            </a:r>
            <a:endParaRPr b="0" i="0" sz="2933" u="none" cap="none" strike="noStrike">
              <a:solidFill>
                <a:srgbClr val="000000"/>
              </a:solidFill>
              <a:latin typeface="Calibri"/>
              <a:ea typeface="Calibri"/>
              <a:cs typeface="Calibri"/>
              <a:sym typeface="Calibri"/>
            </a:endParaRPr>
          </a:p>
        </p:txBody>
      </p:sp>
      <p:sp>
        <p:nvSpPr>
          <p:cNvPr id="552" name="Google Shape;552;p65"/>
          <p:cNvSpPr/>
          <p:nvPr/>
        </p:nvSpPr>
        <p:spPr>
          <a:xfrm>
            <a:off x="243840" y="1280161"/>
            <a:ext cx="5608500" cy="4998900"/>
          </a:xfrm>
          <a:prstGeom prst="roundRect">
            <a:avLst>
              <a:gd fmla="val 2927" name="adj"/>
            </a:avLst>
          </a:prstGeom>
          <a:solidFill>
            <a:srgbClr val="E6F0EC"/>
          </a:solidFill>
          <a:ln cap="flat" cmpd="sng" w="16925">
            <a:solidFill>
              <a:srgbClr val="809F90"/>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65"/>
          <p:cNvSpPr/>
          <p:nvPr/>
        </p:nvSpPr>
        <p:spPr>
          <a:xfrm>
            <a:off x="390144" y="1426465"/>
            <a:ext cx="2682300" cy="438900"/>
          </a:xfrm>
          <a:prstGeom prst="roundRect">
            <a:avLst>
              <a:gd fmla="val 22222" name="adj"/>
            </a:avLst>
          </a:prstGeom>
          <a:solidFill>
            <a:srgbClr val="809F90"/>
          </a:solidFill>
          <a:ln cap="flat" cmpd="sng" w="16925">
            <a:solidFill>
              <a:srgbClr val="809F9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65"/>
          <p:cNvSpPr/>
          <p:nvPr/>
        </p:nvSpPr>
        <p:spPr>
          <a:xfrm>
            <a:off x="390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733" u="none" cap="none" strike="noStrike">
                <a:solidFill>
                  <a:srgbClr val="FFFFFF"/>
                </a:solidFill>
                <a:latin typeface="Calibri"/>
                <a:ea typeface="Calibri"/>
                <a:cs typeface="Calibri"/>
                <a:sym typeface="Calibri"/>
              </a:rPr>
              <a:t>RECEIVE  ·  L1</a:t>
            </a:r>
            <a:endParaRPr b="0" i="0" sz="1733" u="none" cap="none" strike="noStrike">
              <a:solidFill>
                <a:srgbClr val="000000"/>
              </a:solidFill>
              <a:latin typeface="Calibri"/>
              <a:ea typeface="Calibri"/>
              <a:cs typeface="Calibri"/>
              <a:sym typeface="Calibri"/>
            </a:endParaRPr>
          </a:p>
        </p:txBody>
      </p:sp>
      <p:sp>
        <p:nvSpPr>
          <p:cNvPr id="555" name="Google Shape;555;p65"/>
          <p:cNvSpPr/>
          <p:nvPr/>
        </p:nvSpPr>
        <p:spPr>
          <a:xfrm>
            <a:off x="463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900" u="none" cap="none" strike="noStrike">
                <a:solidFill>
                  <a:srgbClr val="555555"/>
                </a:solidFill>
                <a:latin typeface="Calibri"/>
                <a:ea typeface="Calibri"/>
                <a:cs typeface="Calibri"/>
                <a:sym typeface="Calibri"/>
              </a:rPr>
              <a:t>Students become aware of an attitude, behaviour, or value and show willingness to pay attention to it.</a:t>
            </a:r>
            <a:endParaRPr b="0" i="0" sz="1900" u="none" cap="none" strike="noStrike">
              <a:solidFill>
                <a:srgbClr val="000000"/>
              </a:solidFill>
              <a:latin typeface="Calibri"/>
              <a:ea typeface="Calibri"/>
              <a:cs typeface="Calibri"/>
              <a:sym typeface="Calibri"/>
            </a:endParaRPr>
          </a:p>
        </p:txBody>
      </p:sp>
      <p:cxnSp>
        <p:nvCxnSpPr>
          <p:cNvPr id="556" name="Google Shape;556;p65"/>
          <p:cNvCxnSpPr/>
          <p:nvPr/>
        </p:nvCxnSpPr>
        <p:spPr>
          <a:xfrm>
            <a:off x="463296" y="2901699"/>
            <a:ext cx="5169600" cy="0"/>
          </a:xfrm>
          <a:prstGeom prst="straightConnector1">
            <a:avLst/>
          </a:prstGeom>
          <a:noFill/>
          <a:ln cap="flat" cmpd="sng" w="12700">
            <a:solidFill>
              <a:srgbClr val="DDDDDD"/>
            </a:solidFill>
            <a:prstDash val="solid"/>
            <a:round/>
            <a:headEnd len="sm" w="sm" type="none"/>
            <a:tailEnd len="sm" w="sm" type="none"/>
          </a:ln>
        </p:spPr>
      </p:cxnSp>
      <p:sp>
        <p:nvSpPr>
          <p:cNvPr id="557" name="Google Shape;557;p65"/>
          <p:cNvSpPr/>
          <p:nvPr/>
        </p:nvSpPr>
        <p:spPr>
          <a:xfrm>
            <a:off x="463296" y="2987043"/>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09F90"/>
              </a:buClr>
              <a:buSzPts val="1200"/>
              <a:buFont typeface="Calibri"/>
              <a:buNone/>
            </a:pPr>
            <a:r>
              <a:rPr b="1" i="0" lang="en-ZA" sz="1900" u="none" cap="none" strike="noStrike">
                <a:solidFill>
                  <a:srgbClr val="809F90"/>
                </a:solidFill>
                <a:latin typeface="Calibri"/>
                <a:ea typeface="Calibri"/>
                <a:cs typeface="Calibri"/>
                <a:sym typeface="Calibri"/>
              </a:rPr>
              <a:t>Example</a:t>
            </a:r>
            <a:endParaRPr b="0" i="0" sz="1900" u="none" cap="none" strike="noStrike">
              <a:solidFill>
                <a:srgbClr val="000000"/>
              </a:solidFill>
              <a:latin typeface="Calibri"/>
              <a:ea typeface="Calibri"/>
              <a:cs typeface="Calibri"/>
              <a:sym typeface="Calibri"/>
            </a:endParaRPr>
          </a:p>
        </p:txBody>
      </p:sp>
      <p:sp>
        <p:nvSpPr>
          <p:cNvPr id="558" name="Google Shape;558;p65"/>
          <p:cNvSpPr/>
          <p:nvPr/>
        </p:nvSpPr>
        <p:spPr>
          <a:xfrm>
            <a:off x="463296" y="3255267"/>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267"/>
              <a:buFont typeface="Calibri"/>
              <a:buNone/>
            </a:pPr>
            <a:r>
              <a:rPr b="0" i="0" lang="en-ZA" sz="1967" u="none" cap="none" strike="noStrike">
                <a:solidFill>
                  <a:srgbClr val="1A1A2E"/>
                </a:solidFill>
                <a:latin typeface="Calibri"/>
                <a:ea typeface="Calibri"/>
                <a:cs typeface="Calibri"/>
                <a:sym typeface="Calibri"/>
              </a:rPr>
              <a:t>Listen to a community member describe how they use an AI tool in daily life. </a:t>
            </a:r>
            <a:endParaRPr b="0" i="0" sz="1967" u="none" cap="none" strike="noStrike">
              <a:solidFill>
                <a:srgbClr val="000000"/>
              </a:solidFill>
              <a:latin typeface="Calibri"/>
              <a:ea typeface="Calibri"/>
              <a:cs typeface="Calibri"/>
              <a:sym typeface="Calibri"/>
            </a:endParaRPr>
          </a:p>
        </p:txBody>
      </p:sp>
      <p:sp>
        <p:nvSpPr>
          <p:cNvPr id="559" name="Google Shape;559;p65"/>
          <p:cNvSpPr/>
          <p:nvPr/>
        </p:nvSpPr>
        <p:spPr>
          <a:xfrm>
            <a:off x="463296" y="5669286"/>
            <a:ext cx="1658100" cy="402300"/>
          </a:xfrm>
          <a:prstGeom prst="roundRect">
            <a:avLst>
              <a:gd fmla="val 18182" name="adj"/>
            </a:avLst>
          </a:prstGeom>
          <a:solidFill>
            <a:srgbClr val="F5F5F5"/>
          </a:solidFill>
          <a:ln cap="flat" cmpd="sng" w="12700">
            <a:solidFill>
              <a:srgbClr val="809F9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65"/>
          <p:cNvSpPr/>
          <p:nvPr/>
        </p:nvSpPr>
        <p:spPr>
          <a:xfrm>
            <a:off x="463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09F90"/>
              </a:buClr>
              <a:buSzPts val="1267"/>
              <a:buFont typeface="Calibri"/>
              <a:buNone/>
            </a:pPr>
            <a:r>
              <a:rPr b="0" i="0" lang="en-ZA" sz="1267" u="none" cap="none" strike="noStrike">
                <a:solidFill>
                  <a:srgbClr val="809F90"/>
                </a:solidFill>
                <a:latin typeface="Calibri"/>
                <a:ea typeface="Calibri"/>
                <a:cs typeface="Calibri"/>
                <a:sym typeface="Calibri"/>
              </a:rPr>
              <a:t>Attend</a:t>
            </a:r>
            <a:endParaRPr b="0" i="0" sz="1267" u="none" cap="none" strike="noStrike">
              <a:solidFill>
                <a:srgbClr val="000000"/>
              </a:solidFill>
              <a:latin typeface="Calibri"/>
              <a:ea typeface="Calibri"/>
              <a:cs typeface="Calibri"/>
              <a:sym typeface="Calibri"/>
            </a:endParaRPr>
          </a:p>
        </p:txBody>
      </p:sp>
      <p:sp>
        <p:nvSpPr>
          <p:cNvPr id="561" name="Google Shape;561;p65"/>
          <p:cNvSpPr/>
          <p:nvPr/>
        </p:nvSpPr>
        <p:spPr>
          <a:xfrm>
            <a:off x="2218944" y="5669286"/>
            <a:ext cx="1658100" cy="402300"/>
          </a:xfrm>
          <a:prstGeom prst="roundRect">
            <a:avLst>
              <a:gd fmla="val 18182" name="adj"/>
            </a:avLst>
          </a:prstGeom>
          <a:solidFill>
            <a:srgbClr val="F5F5F5"/>
          </a:solidFill>
          <a:ln cap="flat" cmpd="sng" w="12700">
            <a:solidFill>
              <a:srgbClr val="809F9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65"/>
          <p:cNvSpPr/>
          <p:nvPr/>
        </p:nvSpPr>
        <p:spPr>
          <a:xfrm>
            <a:off x="2218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09F90"/>
              </a:buClr>
              <a:buSzPts val="1267"/>
              <a:buFont typeface="Calibri"/>
              <a:buNone/>
            </a:pPr>
            <a:r>
              <a:rPr b="0" i="0" lang="en-ZA" sz="1267" u="none" cap="none" strike="noStrike">
                <a:solidFill>
                  <a:srgbClr val="809F90"/>
                </a:solidFill>
                <a:latin typeface="Calibri"/>
                <a:ea typeface="Calibri"/>
                <a:cs typeface="Calibri"/>
                <a:sym typeface="Calibri"/>
              </a:rPr>
              <a:t>Observe</a:t>
            </a:r>
            <a:endParaRPr b="0" i="0" sz="1267" u="none" cap="none" strike="noStrike">
              <a:solidFill>
                <a:srgbClr val="000000"/>
              </a:solidFill>
              <a:latin typeface="Calibri"/>
              <a:ea typeface="Calibri"/>
              <a:cs typeface="Calibri"/>
              <a:sym typeface="Calibri"/>
            </a:endParaRPr>
          </a:p>
        </p:txBody>
      </p:sp>
      <p:sp>
        <p:nvSpPr>
          <p:cNvPr id="563" name="Google Shape;563;p65"/>
          <p:cNvSpPr/>
          <p:nvPr/>
        </p:nvSpPr>
        <p:spPr>
          <a:xfrm>
            <a:off x="3974592" y="5669286"/>
            <a:ext cx="1658100" cy="402300"/>
          </a:xfrm>
          <a:prstGeom prst="roundRect">
            <a:avLst>
              <a:gd fmla="val 18182" name="adj"/>
            </a:avLst>
          </a:prstGeom>
          <a:solidFill>
            <a:srgbClr val="F5F5F5"/>
          </a:solidFill>
          <a:ln cap="flat" cmpd="sng" w="12700">
            <a:solidFill>
              <a:srgbClr val="809F9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65"/>
          <p:cNvSpPr/>
          <p:nvPr/>
        </p:nvSpPr>
        <p:spPr>
          <a:xfrm>
            <a:off x="3974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09F90"/>
              </a:buClr>
              <a:buSzPts val="1267"/>
              <a:buFont typeface="Calibri"/>
              <a:buNone/>
            </a:pPr>
            <a:r>
              <a:rPr b="0" i="0" lang="en-ZA" sz="1267" u="none" cap="none" strike="noStrike">
                <a:solidFill>
                  <a:srgbClr val="809F90"/>
                </a:solidFill>
                <a:latin typeface="Calibri"/>
                <a:ea typeface="Calibri"/>
                <a:cs typeface="Calibri"/>
                <a:sym typeface="Calibri"/>
              </a:rPr>
              <a:t>Notice</a:t>
            </a:r>
            <a:endParaRPr b="0" i="0" sz="1267" u="none" cap="none" strike="noStrike">
              <a:solidFill>
                <a:srgbClr val="000000"/>
              </a:solidFill>
              <a:latin typeface="Calibri"/>
              <a:ea typeface="Calibri"/>
              <a:cs typeface="Calibri"/>
              <a:sym typeface="Calibri"/>
            </a:endParaRPr>
          </a:p>
        </p:txBody>
      </p:sp>
      <p:sp>
        <p:nvSpPr>
          <p:cNvPr id="565" name="Google Shape;565;p65"/>
          <p:cNvSpPr/>
          <p:nvPr/>
        </p:nvSpPr>
        <p:spPr>
          <a:xfrm>
            <a:off x="6339840" y="1280161"/>
            <a:ext cx="5608500" cy="4998900"/>
          </a:xfrm>
          <a:prstGeom prst="roundRect">
            <a:avLst>
              <a:gd fmla="val 2927" name="adj"/>
            </a:avLst>
          </a:prstGeom>
          <a:solidFill>
            <a:srgbClr val="E6F0EC"/>
          </a:solidFill>
          <a:ln cap="flat" cmpd="sng" w="16925">
            <a:solidFill>
              <a:srgbClr val="5C8A7D"/>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65"/>
          <p:cNvSpPr/>
          <p:nvPr/>
        </p:nvSpPr>
        <p:spPr>
          <a:xfrm>
            <a:off x="6486144" y="1426465"/>
            <a:ext cx="2682300" cy="438900"/>
          </a:xfrm>
          <a:prstGeom prst="roundRect">
            <a:avLst>
              <a:gd fmla="val 22222" name="adj"/>
            </a:avLst>
          </a:prstGeom>
          <a:solidFill>
            <a:srgbClr val="5C8A7D"/>
          </a:solidFill>
          <a:ln cap="flat" cmpd="sng" w="16925">
            <a:solidFill>
              <a:srgbClr val="5C8A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65"/>
          <p:cNvSpPr/>
          <p:nvPr/>
        </p:nvSpPr>
        <p:spPr>
          <a:xfrm>
            <a:off x="6486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733" u="none" cap="none" strike="noStrike">
                <a:solidFill>
                  <a:srgbClr val="FFFFFF"/>
                </a:solidFill>
                <a:latin typeface="Calibri"/>
                <a:ea typeface="Calibri"/>
                <a:cs typeface="Calibri"/>
                <a:sym typeface="Calibri"/>
              </a:rPr>
              <a:t>RESPOND  ·  L2</a:t>
            </a:r>
            <a:endParaRPr b="0" i="0" sz="1733" u="none" cap="none" strike="noStrike">
              <a:solidFill>
                <a:srgbClr val="000000"/>
              </a:solidFill>
              <a:latin typeface="Calibri"/>
              <a:ea typeface="Calibri"/>
              <a:cs typeface="Calibri"/>
              <a:sym typeface="Calibri"/>
            </a:endParaRPr>
          </a:p>
        </p:txBody>
      </p:sp>
      <p:sp>
        <p:nvSpPr>
          <p:cNvPr id="568" name="Google Shape;568;p65"/>
          <p:cNvSpPr/>
          <p:nvPr/>
        </p:nvSpPr>
        <p:spPr>
          <a:xfrm>
            <a:off x="6559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900" u="none" cap="none" strike="noStrike">
                <a:solidFill>
                  <a:srgbClr val="555555"/>
                </a:solidFill>
                <a:latin typeface="Calibri"/>
                <a:ea typeface="Calibri"/>
                <a:cs typeface="Calibri"/>
                <a:sym typeface="Calibri"/>
              </a:rPr>
              <a:t>Students respond to a value or attitude and demonstrate active participation.</a:t>
            </a:r>
            <a:endParaRPr b="0" i="0" sz="1900" u="none" cap="none" strike="noStrike">
              <a:solidFill>
                <a:srgbClr val="000000"/>
              </a:solidFill>
              <a:latin typeface="Calibri"/>
              <a:ea typeface="Calibri"/>
              <a:cs typeface="Calibri"/>
              <a:sym typeface="Calibri"/>
            </a:endParaRPr>
          </a:p>
        </p:txBody>
      </p:sp>
      <p:cxnSp>
        <p:nvCxnSpPr>
          <p:cNvPr id="569" name="Google Shape;569;p65"/>
          <p:cNvCxnSpPr/>
          <p:nvPr/>
        </p:nvCxnSpPr>
        <p:spPr>
          <a:xfrm>
            <a:off x="6559296" y="2901699"/>
            <a:ext cx="5169600" cy="0"/>
          </a:xfrm>
          <a:prstGeom prst="straightConnector1">
            <a:avLst/>
          </a:prstGeom>
          <a:noFill/>
          <a:ln cap="flat" cmpd="sng" w="12700">
            <a:solidFill>
              <a:srgbClr val="DDDDDD"/>
            </a:solidFill>
            <a:prstDash val="solid"/>
            <a:round/>
            <a:headEnd len="sm" w="sm" type="none"/>
            <a:tailEnd len="sm" w="sm" type="none"/>
          </a:ln>
        </p:spPr>
      </p:cxnSp>
      <p:sp>
        <p:nvSpPr>
          <p:cNvPr id="570" name="Google Shape;570;p65"/>
          <p:cNvSpPr/>
          <p:nvPr/>
        </p:nvSpPr>
        <p:spPr>
          <a:xfrm>
            <a:off x="6559296" y="2987043"/>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C8A7D"/>
              </a:buClr>
              <a:buSzPts val="1200"/>
              <a:buFont typeface="Calibri"/>
              <a:buNone/>
            </a:pPr>
            <a:r>
              <a:rPr b="1" i="0" lang="en-ZA" sz="1900" u="none" cap="none" strike="noStrike">
                <a:solidFill>
                  <a:srgbClr val="5C8A7D"/>
                </a:solidFill>
                <a:latin typeface="Calibri"/>
                <a:ea typeface="Calibri"/>
                <a:cs typeface="Calibri"/>
                <a:sym typeface="Calibri"/>
              </a:rPr>
              <a:t>Example</a:t>
            </a:r>
            <a:endParaRPr b="0" i="0" sz="1900" u="none" cap="none" strike="noStrike">
              <a:solidFill>
                <a:srgbClr val="000000"/>
              </a:solidFill>
              <a:latin typeface="Calibri"/>
              <a:ea typeface="Calibri"/>
              <a:cs typeface="Calibri"/>
              <a:sym typeface="Calibri"/>
            </a:endParaRPr>
          </a:p>
        </p:txBody>
      </p:sp>
      <p:sp>
        <p:nvSpPr>
          <p:cNvPr id="571" name="Google Shape;571;p65"/>
          <p:cNvSpPr/>
          <p:nvPr/>
        </p:nvSpPr>
        <p:spPr>
          <a:xfrm>
            <a:off x="6559296" y="3255267"/>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267"/>
              <a:buFont typeface="Calibri"/>
              <a:buNone/>
            </a:pPr>
            <a:r>
              <a:rPr b="0" i="0" lang="en-ZA" sz="1867" u="none" cap="none" strike="noStrike">
                <a:solidFill>
                  <a:srgbClr val="1A1A2E"/>
                </a:solidFill>
                <a:latin typeface="Calibri"/>
                <a:ea typeface="Calibri"/>
                <a:cs typeface="Calibri"/>
                <a:sym typeface="Calibri"/>
              </a:rPr>
              <a:t>Discuss how a community is affected when an AI model does not understand their language.</a:t>
            </a:r>
            <a:endParaRPr b="0" i="0" sz="1867" u="none" cap="none" strike="noStrike">
              <a:solidFill>
                <a:srgbClr val="000000"/>
              </a:solidFill>
              <a:latin typeface="Calibri"/>
              <a:ea typeface="Calibri"/>
              <a:cs typeface="Calibri"/>
              <a:sym typeface="Calibri"/>
            </a:endParaRPr>
          </a:p>
        </p:txBody>
      </p:sp>
      <p:sp>
        <p:nvSpPr>
          <p:cNvPr id="572" name="Google Shape;572;p65"/>
          <p:cNvSpPr/>
          <p:nvPr/>
        </p:nvSpPr>
        <p:spPr>
          <a:xfrm>
            <a:off x="6559296" y="5669286"/>
            <a:ext cx="1658100" cy="402300"/>
          </a:xfrm>
          <a:prstGeom prst="roundRect">
            <a:avLst>
              <a:gd fmla="val 18182" name="adj"/>
            </a:avLst>
          </a:prstGeom>
          <a:solidFill>
            <a:srgbClr val="F5F5F5"/>
          </a:solidFill>
          <a:ln cap="flat" cmpd="sng" w="12700">
            <a:solidFill>
              <a:srgbClr val="5C8A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65"/>
          <p:cNvSpPr/>
          <p:nvPr/>
        </p:nvSpPr>
        <p:spPr>
          <a:xfrm>
            <a:off x="6559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C8A7D"/>
              </a:buClr>
              <a:buSzPts val="1267"/>
              <a:buFont typeface="Calibri"/>
              <a:buNone/>
            </a:pPr>
            <a:r>
              <a:rPr b="0" i="0" lang="en-ZA" sz="1267" u="none" cap="none" strike="noStrike">
                <a:solidFill>
                  <a:srgbClr val="5C8A7D"/>
                </a:solidFill>
                <a:latin typeface="Calibri"/>
                <a:ea typeface="Calibri"/>
                <a:cs typeface="Calibri"/>
                <a:sym typeface="Calibri"/>
              </a:rPr>
              <a:t>Discuss</a:t>
            </a:r>
            <a:endParaRPr b="0" i="0" sz="1267" u="none" cap="none" strike="noStrike">
              <a:solidFill>
                <a:srgbClr val="000000"/>
              </a:solidFill>
              <a:latin typeface="Calibri"/>
              <a:ea typeface="Calibri"/>
              <a:cs typeface="Calibri"/>
              <a:sym typeface="Calibri"/>
            </a:endParaRPr>
          </a:p>
        </p:txBody>
      </p:sp>
      <p:sp>
        <p:nvSpPr>
          <p:cNvPr id="574" name="Google Shape;574;p65"/>
          <p:cNvSpPr/>
          <p:nvPr/>
        </p:nvSpPr>
        <p:spPr>
          <a:xfrm>
            <a:off x="8314944" y="5669286"/>
            <a:ext cx="1658100" cy="402300"/>
          </a:xfrm>
          <a:prstGeom prst="roundRect">
            <a:avLst>
              <a:gd fmla="val 18182" name="adj"/>
            </a:avLst>
          </a:prstGeom>
          <a:solidFill>
            <a:srgbClr val="F5F5F5"/>
          </a:solidFill>
          <a:ln cap="flat" cmpd="sng" w="12700">
            <a:solidFill>
              <a:srgbClr val="5C8A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65"/>
          <p:cNvSpPr/>
          <p:nvPr/>
        </p:nvSpPr>
        <p:spPr>
          <a:xfrm>
            <a:off x="8314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C8A7D"/>
              </a:buClr>
              <a:buSzPts val="1267"/>
              <a:buFont typeface="Calibri"/>
              <a:buNone/>
            </a:pPr>
            <a:r>
              <a:rPr b="0" i="0" lang="en-ZA" sz="1267" u="none" cap="none" strike="noStrike">
                <a:solidFill>
                  <a:srgbClr val="5C8A7D"/>
                </a:solidFill>
                <a:latin typeface="Calibri"/>
                <a:ea typeface="Calibri"/>
                <a:cs typeface="Calibri"/>
                <a:sym typeface="Calibri"/>
              </a:rPr>
              <a:t>Contribute</a:t>
            </a:r>
            <a:endParaRPr b="0" i="0" sz="1267" u="none" cap="none" strike="noStrike">
              <a:solidFill>
                <a:srgbClr val="000000"/>
              </a:solidFill>
              <a:latin typeface="Calibri"/>
              <a:ea typeface="Calibri"/>
              <a:cs typeface="Calibri"/>
              <a:sym typeface="Calibri"/>
            </a:endParaRPr>
          </a:p>
        </p:txBody>
      </p:sp>
      <p:sp>
        <p:nvSpPr>
          <p:cNvPr id="576" name="Google Shape;576;p65"/>
          <p:cNvSpPr/>
          <p:nvPr/>
        </p:nvSpPr>
        <p:spPr>
          <a:xfrm>
            <a:off x="10070592" y="5669286"/>
            <a:ext cx="1658100" cy="402300"/>
          </a:xfrm>
          <a:prstGeom prst="roundRect">
            <a:avLst>
              <a:gd fmla="val 18182" name="adj"/>
            </a:avLst>
          </a:prstGeom>
          <a:solidFill>
            <a:srgbClr val="F5F5F5"/>
          </a:solidFill>
          <a:ln cap="flat" cmpd="sng" w="12700">
            <a:solidFill>
              <a:srgbClr val="5C8A7D"/>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65"/>
          <p:cNvSpPr/>
          <p:nvPr/>
        </p:nvSpPr>
        <p:spPr>
          <a:xfrm>
            <a:off x="10070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C8A7D"/>
              </a:buClr>
              <a:buSzPts val="1267"/>
              <a:buFont typeface="Calibri"/>
              <a:buNone/>
            </a:pPr>
            <a:r>
              <a:rPr b="0" i="0" lang="en-ZA" sz="1267" u="none" cap="none" strike="noStrike">
                <a:solidFill>
                  <a:srgbClr val="5C8A7D"/>
                </a:solidFill>
                <a:latin typeface="Calibri"/>
                <a:ea typeface="Calibri"/>
                <a:cs typeface="Calibri"/>
                <a:sym typeface="Calibri"/>
              </a:rPr>
              <a:t>Share</a:t>
            </a:r>
            <a:endParaRPr b="0" i="0" sz="1267"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2" name="Shape 582"/>
        <p:cNvGrpSpPr/>
        <p:nvPr/>
      </p:nvGrpSpPr>
      <p:grpSpPr>
        <a:xfrm>
          <a:off x="0" y="0"/>
          <a:ext cx="0" cy="0"/>
          <a:chOff x="0" y="0"/>
          <a:chExt cx="0" cy="0"/>
        </a:xfrm>
      </p:grpSpPr>
      <p:sp>
        <p:nvSpPr>
          <p:cNvPr id="583" name="Google Shape;583;p66"/>
          <p:cNvSpPr/>
          <p:nvPr/>
        </p:nvSpPr>
        <p:spPr>
          <a:xfrm>
            <a:off x="0" y="0"/>
            <a:ext cx="12192000" cy="1097100"/>
          </a:xfrm>
          <a:prstGeom prst="rect">
            <a:avLst/>
          </a:prstGeom>
          <a:solidFill>
            <a:srgbClr val="2E5E4E"/>
          </a:solidFill>
          <a:ln cap="flat" cmpd="sng" w="16925">
            <a:solidFill>
              <a:srgbClr val="2E5E4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66"/>
          <p:cNvSpPr/>
          <p:nvPr/>
        </p:nvSpPr>
        <p:spPr>
          <a:xfrm>
            <a:off x="487680" y="0"/>
            <a:ext cx="8534400" cy="109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933"/>
              <a:buFont typeface="Calibri"/>
              <a:buNone/>
            </a:pPr>
            <a:r>
              <a:rPr b="1" i="0" lang="en-ZA" sz="2933" u="none" cap="none" strike="noStrike">
                <a:solidFill>
                  <a:srgbClr val="FFFFFF"/>
                </a:solidFill>
                <a:latin typeface="Calibri"/>
                <a:ea typeface="Calibri"/>
                <a:cs typeface="Calibri"/>
                <a:sym typeface="Calibri"/>
              </a:rPr>
              <a:t>Affective Domain</a:t>
            </a:r>
            <a:endParaRPr b="0" i="0" sz="2933" u="none" cap="none" strike="noStrike">
              <a:solidFill>
                <a:srgbClr val="000000"/>
              </a:solidFill>
              <a:latin typeface="Calibri"/>
              <a:ea typeface="Calibri"/>
              <a:cs typeface="Calibri"/>
              <a:sym typeface="Calibri"/>
            </a:endParaRPr>
          </a:p>
        </p:txBody>
      </p:sp>
      <p:sp>
        <p:nvSpPr>
          <p:cNvPr id="585" name="Google Shape;585;p66"/>
          <p:cNvSpPr/>
          <p:nvPr/>
        </p:nvSpPr>
        <p:spPr>
          <a:xfrm>
            <a:off x="243840" y="1280161"/>
            <a:ext cx="5608500" cy="4998900"/>
          </a:xfrm>
          <a:prstGeom prst="roundRect">
            <a:avLst>
              <a:gd fmla="val 2927" name="adj"/>
            </a:avLst>
          </a:prstGeom>
          <a:solidFill>
            <a:srgbClr val="E6F0EC"/>
          </a:solidFill>
          <a:ln cap="flat" cmpd="sng" w="16925">
            <a:solidFill>
              <a:schemeClr val="lt1"/>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66"/>
          <p:cNvSpPr/>
          <p:nvPr/>
        </p:nvSpPr>
        <p:spPr>
          <a:xfrm>
            <a:off x="390144" y="1426465"/>
            <a:ext cx="2682300" cy="438900"/>
          </a:xfrm>
          <a:prstGeom prst="roundRect">
            <a:avLst>
              <a:gd fmla="val 22222" name="adj"/>
            </a:avLst>
          </a:prstGeom>
          <a:solidFill>
            <a:srgbClr val="44685E"/>
          </a:solidFill>
          <a:ln cap="flat" cmpd="sng" w="16925">
            <a:solidFill>
              <a:srgbClr val="44685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66"/>
          <p:cNvSpPr/>
          <p:nvPr/>
        </p:nvSpPr>
        <p:spPr>
          <a:xfrm>
            <a:off x="390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733" u="none" cap="none" strike="noStrike">
                <a:solidFill>
                  <a:srgbClr val="FFFFFF"/>
                </a:solidFill>
                <a:latin typeface="Calibri"/>
                <a:ea typeface="Calibri"/>
                <a:cs typeface="Calibri"/>
                <a:sym typeface="Calibri"/>
              </a:rPr>
              <a:t>VALUE  ·  L3</a:t>
            </a:r>
            <a:endParaRPr b="0" i="0" sz="1733" u="none" cap="none" strike="noStrike">
              <a:solidFill>
                <a:srgbClr val="000000"/>
              </a:solidFill>
              <a:latin typeface="Calibri"/>
              <a:ea typeface="Calibri"/>
              <a:cs typeface="Calibri"/>
              <a:sym typeface="Calibri"/>
            </a:endParaRPr>
          </a:p>
        </p:txBody>
      </p:sp>
      <p:sp>
        <p:nvSpPr>
          <p:cNvPr id="588" name="Google Shape;588;p66"/>
          <p:cNvSpPr/>
          <p:nvPr/>
        </p:nvSpPr>
        <p:spPr>
          <a:xfrm>
            <a:off x="463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900" u="none" cap="none" strike="noStrike">
                <a:solidFill>
                  <a:srgbClr val="555555"/>
                </a:solidFill>
                <a:latin typeface="Calibri"/>
                <a:ea typeface="Calibri"/>
                <a:cs typeface="Calibri"/>
                <a:sym typeface="Calibri"/>
              </a:rPr>
              <a:t>Students recognise and demonstrate a value through their involvement or commitment, showing that they care about it.</a:t>
            </a:r>
            <a:endParaRPr b="0" i="0" sz="1900" u="none" cap="none" strike="noStrike">
              <a:solidFill>
                <a:srgbClr val="000000"/>
              </a:solidFill>
              <a:latin typeface="Calibri"/>
              <a:ea typeface="Calibri"/>
              <a:cs typeface="Calibri"/>
              <a:sym typeface="Calibri"/>
            </a:endParaRPr>
          </a:p>
        </p:txBody>
      </p:sp>
      <p:cxnSp>
        <p:nvCxnSpPr>
          <p:cNvPr id="589" name="Google Shape;589;p66"/>
          <p:cNvCxnSpPr/>
          <p:nvPr/>
        </p:nvCxnSpPr>
        <p:spPr>
          <a:xfrm>
            <a:off x="463296" y="2901699"/>
            <a:ext cx="5169600" cy="0"/>
          </a:xfrm>
          <a:prstGeom prst="straightConnector1">
            <a:avLst/>
          </a:prstGeom>
          <a:noFill/>
          <a:ln cap="flat" cmpd="sng" w="12700">
            <a:solidFill>
              <a:srgbClr val="DDDDDD"/>
            </a:solidFill>
            <a:prstDash val="solid"/>
            <a:round/>
            <a:headEnd len="sm" w="sm" type="none"/>
            <a:tailEnd len="sm" w="sm" type="none"/>
          </a:ln>
        </p:spPr>
      </p:cxnSp>
      <p:sp>
        <p:nvSpPr>
          <p:cNvPr id="590" name="Google Shape;590;p66"/>
          <p:cNvSpPr/>
          <p:nvPr/>
        </p:nvSpPr>
        <p:spPr>
          <a:xfrm>
            <a:off x="463296" y="2987043"/>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685E"/>
              </a:buClr>
              <a:buSzPts val="1200"/>
              <a:buFont typeface="Calibri"/>
              <a:buNone/>
            </a:pPr>
            <a:r>
              <a:rPr b="1" i="0" lang="en-ZA" sz="1900" u="none" cap="none" strike="noStrike">
                <a:solidFill>
                  <a:srgbClr val="44685E"/>
                </a:solidFill>
                <a:latin typeface="Calibri"/>
                <a:ea typeface="Calibri"/>
                <a:cs typeface="Calibri"/>
                <a:sym typeface="Calibri"/>
              </a:rPr>
              <a:t>Example</a:t>
            </a:r>
            <a:endParaRPr b="0" i="0" sz="1900" u="none" cap="none" strike="noStrike">
              <a:solidFill>
                <a:srgbClr val="000000"/>
              </a:solidFill>
              <a:latin typeface="Calibri"/>
              <a:ea typeface="Calibri"/>
              <a:cs typeface="Calibri"/>
              <a:sym typeface="Calibri"/>
            </a:endParaRPr>
          </a:p>
        </p:txBody>
      </p:sp>
      <p:sp>
        <p:nvSpPr>
          <p:cNvPr id="591" name="Google Shape;591;p66"/>
          <p:cNvSpPr/>
          <p:nvPr/>
        </p:nvSpPr>
        <p:spPr>
          <a:xfrm>
            <a:off x="463196" y="3557992"/>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267"/>
              <a:buFont typeface="Calibri"/>
              <a:buNone/>
            </a:pPr>
            <a:r>
              <a:rPr b="0" i="0" lang="en-ZA" sz="1967" u="none" cap="none" strike="noStrike">
                <a:solidFill>
                  <a:srgbClr val="1A1A2E"/>
                </a:solidFill>
                <a:latin typeface="Calibri"/>
                <a:ea typeface="Calibri"/>
                <a:cs typeface="Calibri"/>
                <a:sym typeface="Calibri"/>
              </a:rPr>
              <a:t>Advocate for community members having a say in how their language and culture are represented in AI.</a:t>
            </a:r>
            <a:endParaRPr b="0" i="0" sz="1967" u="none" cap="none" strike="noStrike">
              <a:solidFill>
                <a:srgbClr val="000000"/>
              </a:solidFill>
              <a:latin typeface="Calibri"/>
              <a:ea typeface="Calibri"/>
              <a:cs typeface="Calibri"/>
              <a:sym typeface="Calibri"/>
            </a:endParaRPr>
          </a:p>
        </p:txBody>
      </p:sp>
      <p:sp>
        <p:nvSpPr>
          <p:cNvPr id="592" name="Google Shape;592;p66"/>
          <p:cNvSpPr/>
          <p:nvPr/>
        </p:nvSpPr>
        <p:spPr>
          <a:xfrm>
            <a:off x="463296" y="5669286"/>
            <a:ext cx="1658100" cy="402300"/>
          </a:xfrm>
          <a:prstGeom prst="roundRect">
            <a:avLst>
              <a:gd fmla="val 18182" name="adj"/>
            </a:avLst>
          </a:prstGeom>
          <a:solidFill>
            <a:srgbClr val="F5F5F5"/>
          </a:solidFill>
          <a:ln cap="flat" cmpd="sng" w="12700">
            <a:solidFill>
              <a:srgbClr val="44685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66"/>
          <p:cNvSpPr/>
          <p:nvPr/>
        </p:nvSpPr>
        <p:spPr>
          <a:xfrm>
            <a:off x="463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4685E"/>
              </a:buClr>
              <a:buSzPts val="1267"/>
              <a:buFont typeface="Calibri"/>
              <a:buNone/>
            </a:pPr>
            <a:r>
              <a:rPr b="0" i="0" lang="en-ZA" sz="1267" u="none" cap="none" strike="noStrike">
                <a:solidFill>
                  <a:srgbClr val="44685E"/>
                </a:solidFill>
                <a:latin typeface="Calibri"/>
                <a:ea typeface="Calibri"/>
                <a:cs typeface="Calibri"/>
                <a:sym typeface="Calibri"/>
              </a:rPr>
              <a:t>Advocate</a:t>
            </a:r>
            <a:endParaRPr b="0" i="0" sz="1267" u="none" cap="none" strike="noStrike">
              <a:solidFill>
                <a:srgbClr val="000000"/>
              </a:solidFill>
              <a:latin typeface="Calibri"/>
              <a:ea typeface="Calibri"/>
              <a:cs typeface="Calibri"/>
              <a:sym typeface="Calibri"/>
            </a:endParaRPr>
          </a:p>
        </p:txBody>
      </p:sp>
      <p:sp>
        <p:nvSpPr>
          <p:cNvPr id="594" name="Google Shape;594;p66"/>
          <p:cNvSpPr/>
          <p:nvPr/>
        </p:nvSpPr>
        <p:spPr>
          <a:xfrm>
            <a:off x="2218944" y="5669286"/>
            <a:ext cx="1658100" cy="402300"/>
          </a:xfrm>
          <a:prstGeom prst="roundRect">
            <a:avLst>
              <a:gd fmla="val 18182" name="adj"/>
            </a:avLst>
          </a:prstGeom>
          <a:solidFill>
            <a:srgbClr val="F5F5F5"/>
          </a:solidFill>
          <a:ln cap="flat" cmpd="sng" w="12700">
            <a:solidFill>
              <a:srgbClr val="44685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66"/>
          <p:cNvSpPr/>
          <p:nvPr/>
        </p:nvSpPr>
        <p:spPr>
          <a:xfrm>
            <a:off x="2218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4685E"/>
              </a:buClr>
              <a:buSzPts val="1267"/>
              <a:buFont typeface="Calibri"/>
              <a:buNone/>
            </a:pPr>
            <a:r>
              <a:rPr b="0" i="0" lang="en-ZA" sz="1267" u="none" cap="none" strike="noStrike">
                <a:solidFill>
                  <a:srgbClr val="44685E"/>
                </a:solidFill>
                <a:latin typeface="Calibri"/>
                <a:ea typeface="Calibri"/>
                <a:cs typeface="Calibri"/>
                <a:sym typeface="Calibri"/>
              </a:rPr>
              <a:t>Commit</a:t>
            </a:r>
            <a:endParaRPr b="0" i="0" sz="1267" u="none" cap="none" strike="noStrike">
              <a:solidFill>
                <a:srgbClr val="000000"/>
              </a:solidFill>
              <a:latin typeface="Calibri"/>
              <a:ea typeface="Calibri"/>
              <a:cs typeface="Calibri"/>
              <a:sym typeface="Calibri"/>
            </a:endParaRPr>
          </a:p>
        </p:txBody>
      </p:sp>
      <p:sp>
        <p:nvSpPr>
          <p:cNvPr id="596" name="Google Shape;596;p66"/>
          <p:cNvSpPr/>
          <p:nvPr/>
        </p:nvSpPr>
        <p:spPr>
          <a:xfrm>
            <a:off x="3974592" y="5669286"/>
            <a:ext cx="1658100" cy="402300"/>
          </a:xfrm>
          <a:prstGeom prst="roundRect">
            <a:avLst>
              <a:gd fmla="val 18182" name="adj"/>
            </a:avLst>
          </a:prstGeom>
          <a:solidFill>
            <a:srgbClr val="F5F5F5"/>
          </a:solidFill>
          <a:ln cap="flat" cmpd="sng" w="12700">
            <a:solidFill>
              <a:srgbClr val="44685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66"/>
          <p:cNvSpPr/>
          <p:nvPr/>
        </p:nvSpPr>
        <p:spPr>
          <a:xfrm>
            <a:off x="3974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4685E"/>
              </a:buClr>
              <a:buSzPts val="1267"/>
              <a:buFont typeface="Calibri"/>
              <a:buNone/>
            </a:pPr>
            <a:r>
              <a:rPr b="0" i="0" lang="en-ZA" sz="1267" u="none" cap="none" strike="noStrike">
                <a:solidFill>
                  <a:srgbClr val="44685E"/>
                </a:solidFill>
                <a:latin typeface="Calibri"/>
                <a:ea typeface="Calibri"/>
                <a:cs typeface="Calibri"/>
                <a:sym typeface="Calibri"/>
              </a:rPr>
              <a:t>Justify</a:t>
            </a:r>
            <a:endParaRPr b="0" i="0" sz="1267" u="none" cap="none" strike="noStrike">
              <a:solidFill>
                <a:srgbClr val="000000"/>
              </a:solidFill>
              <a:latin typeface="Calibri"/>
              <a:ea typeface="Calibri"/>
              <a:cs typeface="Calibri"/>
              <a:sym typeface="Calibri"/>
            </a:endParaRPr>
          </a:p>
        </p:txBody>
      </p:sp>
      <p:sp>
        <p:nvSpPr>
          <p:cNvPr id="598" name="Google Shape;598;p66"/>
          <p:cNvSpPr/>
          <p:nvPr/>
        </p:nvSpPr>
        <p:spPr>
          <a:xfrm>
            <a:off x="6339840" y="1280161"/>
            <a:ext cx="5608500" cy="4998900"/>
          </a:xfrm>
          <a:prstGeom prst="roundRect">
            <a:avLst>
              <a:gd fmla="val 2927" name="adj"/>
            </a:avLst>
          </a:prstGeom>
          <a:solidFill>
            <a:srgbClr val="E6F0EC"/>
          </a:solidFill>
          <a:ln cap="flat" cmpd="sng" w="16925">
            <a:solidFill>
              <a:srgbClr val="275749"/>
            </a:solidFill>
            <a:prstDash val="solid"/>
            <a:round/>
            <a:headEnd len="sm" w="sm" type="none"/>
            <a:tailEnd len="sm" w="sm" type="none"/>
          </a:ln>
          <a:effectLst>
            <a:outerShdw blurRad="84667" rotWithShape="0" algn="bl" dir="2700000" dist="33867">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66"/>
          <p:cNvSpPr/>
          <p:nvPr/>
        </p:nvSpPr>
        <p:spPr>
          <a:xfrm>
            <a:off x="6486144" y="1426465"/>
            <a:ext cx="2682300" cy="438900"/>
          </a:xfrm>
          <a:prstGeom prst="roundRect">
            <a:avLst>
              <a:gd fmla="val 22222" name="adj"/>
            </a:avLst>
          </a:prstGeom>
          <a:solidFill>
            <a:srgbClr val="275749"/>
          </a:solidFill>
          <a:ln cap="flat" cmpd="sng" w="16925">
            <a:solidFill>
              <a:srgbClr val="2757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66"/>
          <p:cNvSpPr/>
          <p:nvPr/>
        </p:nvSpPr>
        <p:spPr>
          <a:xfrm>
            <a:off x="6486144" y="1426465"/>
            <a:ext cx="26823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33"/>
              <a:buFont typeface="Calibri"/>
              <a:buNone/>
            </a:pPr>
            <a:r>
              <a:rPr b="1" i="0" lang="en-ZA" sz="1333" u="none" cap="none" strike="noStrike">
                <a:solidFill>
                  <a:srgbClr val="FFFFFF"/>
                </a:solidFill>
                <a:latin typeface="Calibri"/>
                <a:ea typeface="Calibri"/>
                <a:cs typeface="Calibri"/>
                <a:sym typeface="Calibri"/>
              </a:rPr>
              <a:t>ORGANIZE  ·  L4</a:t>
            </a:r>
            <a:endParaRPr b="0" i="0" sz="1333" u="none" cap="none" strike="noStrike">
              <a:solidFill>
                <a:srgbClr val="000000"/>
              </a:solidFill>
              <a:latin typeface="Calibri"/>
              <a:ea typeface="Calibri"/>
              <a:cs typeface="Calibri"/>
              <a:sym typeface="Calibri"/>
            </a:endParaRPr>
          </a:p>
        </p:txBody>
      </p:sp>
      <p:sp>
        <p:nvSpPr>
          <p:cNvPr id="601" name="Google Shape;601;p66"/>
          <p:cNvSpPr/>
          <p:nvPr/>
        </p:nvSpPr>
        <p:spPr>
          <a:xfrm>
            <a:off x="6559296" y="1962914"/>
            <a:ext cx="5169600" cy="87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00"/>
              <a:buFont typeface="Calibri"/>
              <a:buNone/>
            </a:pPr>
            <a:r>
              <a:rPr b="0" i="1" lang="en-ZA" sz="1900" u="none" cap="none" strike="noStrike">
                <a:solidFill>
                  <a:srgbClr val="555555"/>
                </a:solidFill>
                <a:latin typeface="Calibri"/>
                <a:ea typeface="Calibri"/>
                <a:cs typeface="Calibri"/>
                <a:sym typeface="Calibri"/>
              </a:rPr>
              <a:t>Students determine priorities and resolve conflicts between different values, developing a personal value system.</a:t>
            </a:r>
            <a:endParaRPr b="0" i="0" sz="1900" u="none" cap="none" strike="noStrike">
              <a:solidFill>
                <a:srgbClr val="000000"/>
              </a:solidFill>
              <a:latin typeface="Calibri"/>
              <a:ea typeface="Calibri"/>
              <a:cs typeface="Calibri"/>
              <a:sym typeface="Calibri"/>
            </a:endParaRPr>
          </a:p>
        </p:txBody>
      </p:sp>
      <p:cxnSp>
        <p:nvCxnSpPr>
          <p:cNvPr id="602" name="Google Shape;602;p66"/>
          <p:cNvCxnSpPr/>
          <p:nvPr/>
        </p:nvCxnSpPr>
        <p:spPr>
          <a:xfrm>
            <a:off x="6559296" y="2901699"/>
            <a:ext cx="5169600" cy="0"/>
          </a:xfrm>
          <a:prstGeom prst="straightConnector1">
            <a:avLst/>
          </a:prstGeom>
          <a:noFill/>
          <a:ln cap="flat" cmpd="sng" w="12700">
            <a:solidFill>
              <a:srgbClr val="DDDDDD"/>
            </a:solidFill>
            <a:prstDash val="solid"/>
            <a:round/>
            <a:headEnd len="sm" w="sm" type="none"/>
            <a:tailEnd len="sm" w="sm" type="none"/>
          </a:ln>
        </p:spPr>
      </p:cxnSp>
      <p:sp>
        <p:nvSpPr>
          <p:cNvPr id="603" name="Google Shape;603;p66"/>
          <p:cNvSpPr/>
          <p:nvPr/>
        </p:nvSpPr>
        <p:spPr>
          <a:xfrm>
            <a:off x="6559296" y="2987043"/>
            <a:ext cx="5169600" cy="26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5749"/>
              </a:buClr>
              <a:buSzPts val="1200"/>
              <a:buFont typeface="Calibri"/>
              <a:buNone/>
            </a:pPr>
            <a:r>
              <a:rPr b="1" i="0" lang="en-ZA" sz="1900" u="none" cap="none" strike="noStrike">
                <a:solidFill>
                  <a:srgbClr val="275749"/>
                </a:solidFill>
                <a:latin typeface="Calibri"/>
                <a:ea typeface="Calibri"/>
                <a:cs typeface="Calibri"/>
                <a:sym typeface="Calibri"/>
              </a:rPr>
              <a:t>Example</a:t>
            </a:r>
            <a:endParaRPr b="0" i="0" sz="1900" u="none" cap="none" strike="noStrike">
              <a:solidFill>
                <a:srgbClr val="000000"/>
              </a:solidFill>
              <a:latin typeface="Calibri"/>
              <a:ea typeface="Calibri"/>
              <a:cs typeface="Calibri"/>
              <a:sym typeface="Calibri"/>
            </a:endParaRPr>
          </a:p>
        </p:txBody>
      </p:sp>
      <p:sp>
        <p:nvSpPr>
          <p:cNvPr id="604" name="Google Shape;604;p66"/>
          <p:cNvSpPr/>
          <p:nvPr/>
        </p:nvSpPr>
        <p:spPr>
          <a:xfrm>
            <a:off x="6559196" y="3557992"/>
            <a:ext cx="5169600" cy="1158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t/>
            </a:r>
            <a:endParaRPr b="0" i="0" sz="1967" u="none" cap="none" strike="noStrike">
              <a:solidFill>
                <a:srgbClr val="1A1A2E"/>
              </a:solidFill>
              <a:latin typeface="Calibri"/>
              <a:ea typeface="Calibri"/>
              <a:cs typeface="Calibri"/>
              <a:sym typeface="Calibri"/>
            </a:endParaRPr>
          </a:p>
          <a:p>
            <a:pPr indent="0" lvl="0" marL="0" marR="0" rtl="0" algn="l">
              <a:lnSpc>
                <a:spcPct val="115000"/>
              </a:lnSpc>
              <a:spcBef>
                <a:spcPts val="1200"/>
              </a:spcBef>
              <a:spcAft>
                <a:spcPts val="0"/>
              </a:spcAft>
              <a:buClr>
                <a:schemeClr val="dk1"/>
              </a:buClr>
              <a:buSzPts val="1100"/>
              <a:buFont typeface="Arial"/>
              <a:buNone/>
            </a:pPr>
            <a:r>
              <a:rPr b="0" i="0" lang="en-ZA" sz="1967" u="none" cap="none" strike="noStrike">
                <a:solidFill>
                  <a:srgbClr val="1A1A2E"/>
                </a:solidFill>
                <a:latin typeface="Calibri"/>
                <a:ea typeface="Calibri"/>
                <a:cs typeface="Calibri"/>
                <a:sym typeface="Calibri"/>
              </a:rPr>
              <a:t>Prioritize local languages over convenience when choosing training data for an African AI project.</a:t>
            </a:r>
            <a:endParaRPr b="0" i="0" sz="1967" u="none" cap="none" strike="noStrike">
              <a:solidFill>
                <a:srgbClr val="1A1A2E"/>
              </a:solidFill>
              <a:latin typeface="Calibri"/>
              <a:ea typeface="Calibri"/>
              <a:cs typeface="Calibri"/>
              <a:sym typeface="Calibri"/>
            </a:endParaRPr>
          </a:p>
          <a:p>
            <a:pPr indent="0" lvl="0" marL="0" marR="0" rtl="0" algn="l">
              <a:lnSpc>
                <a:spcPct val="100000"/>
              </a:lnSpc>
              <a:spcBef>
                <a:spcPts val="1200"/>
              </a:spcBef>
              <a:spcAft>
                <a:spcPts val="0"/>
              </a:spcAft>
              <a:buClr>
                <a:srgbClr val="1A1A2E"/>
              </a:buClr>
              <a:buSzPts val="1267"/>
              <a:buFont typeface="Calibri"/>
              <a:buNone/>
            </a:pPr>
            <a:r>
              <a:t/>
            </a:r>
            <a:endParaRPr b="0" i="0" sz="1967" u="none" cap="none" strike="noStrike">
              <a:solidFill>
                <a:srgbClr val="1A1A2E"/>
              </a:solidFill>
              <a:latin typeface="Calibri"/>
              <a:ea typeface="Calibri"/>
              <a:cs typeface="Calibri"/>
              <a:sym typeface="Calibri"/>
            </a:endParaRPr>
          </a:p>
        </p:txBody>
      </p:sp>
      <p:sp>
        <p:nvSpPr>
          <p:cNvPr id="605" name="Google Shape;605;p66"/>
          <p:cNvSpPr/>
          <p:nvPr/>
        </p:nvSpPr>
        <p:spPr>
          <a:xfrm>
            <a:off x="6559296" y="5669286"/>
            <a:ext cx="1658100" cy="402300"/>
          </a:xfrm>
          <a:prstGeom prst="roundRect">
            <a:avLst>
              <a:gd fmla="val 18182" name="adj"/>
            </a:avLst>
          </a:prstGeom>
          <a:solidFill>
            <a:srgbClr val="F5F5F5"/>
          </a:solidFill>
          <a:ln cap="flat" cmpd="sng" w="12700">
            <a:solidFill>
              <a:srgbClr val="2757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66"/>
          <p:cNvSpPr/>
          <p:nvPr/>
        </p:nvSpPr>
        <p:spPr>
          <a:xfrm>
            <a:off x="6559296"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75749"/>
              </a:buClr>
              <a:buSzPts val="1267"/>
              <a:buFont typeface="Calibri"/>
              <a:buNone/>
            </a:pPr>
            <a:r>
              <a:rPr b="0" i="0" lang="en-ZA" sz="1267" u="none" cap="none" strike="noStrike">
                <a:solidFill>
                  <a:srgbClr val="275749"/>
                </a:solidFill>
                <a:latin typeface="Calibri"/>
                <a:ea typeface="Calibri"/>
                <a:cs typeface="Calibri"/>
                <a:sym typeface="Calibri"/>
              </a:rPr>
              <a:t>Prioritize</a:t>
            </a:r>
            <a:endParaRPr b="0" i="0" sz="1267" u="none" cap="none" strike="noStrike">
              <a:solidFill>
                <a:srgbClr val="000000"/>
              </a:solidFill>
              <a:latin typeface="Calibri"/>
              <a:ea typeface="Calibri"/>
              <a:cs typeface="Calibri"/>
              <a:sym typeface="Calibri"/>
            </a:endParaRPr>
          </a:p>
        </p:txBody>
      </p:sp>
      <p:sp>
        <p:nvSpPr>
          <p:cNvPr id="607" name="Google Shape;607;p66"/>
          <p:cNvSpPr/>
          <p:nvPr/>
        </p:nvSpPr>
        <p:spPr>
          <a:xfrm>
            <a:off x="8314944" y="5669286"/>
            <a:ext cx="1658100" cy="402300"/>
          </a:xfrm>
          <a:prstGeom prst="roundRect">
            <a:avLst>
              <a:gd fmla="val 18182" name="adj"/>
            </a:avLst>
          </a:prstGeom>
          <a:solidFill>
            <a:srgbClr val="F5F5F5"/>
          </a:solidFill>
          <a:ln cap="flat" cmpd="sng" w="12700">
            <a:solidFill>
              <a:srgbClr val="2757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66"/>
          <p:cNvSpPr/>
          <p:nvPr/>
        </p:nvSpPr>
        <p:spPr>
          <a:xfrm>
            <a:off x="8314944"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75749"/>
              </a:buClr>
              <a:buSzPts val="1267"/>
              <a:buFont typeface="Calibri"/>
              <a:buNone/>
            </a:pPr>
            <a:r>
              <a:rPr b="0" i="0" lang="en-ZA" sz="1267" u="none" cap="none" strike="noStrike">
                <a:solidFill>
                  <a:srgbClr val="275749"/>
                </a:solidFill>
                <a:latin typeface="Calibri"/>
                <a:ea typeface="Calibri"/>
                <a:cs typeface="Calibri"/>
                <a:sym typeface="Calibri"/>
              </a:rPr>
              <a:t>Integrate</a:t>
            </a:r>
            <a:endParaRPr b="0" i="0" sz="1267" u="none" cap="none" strike="noStrike">
              <a:solidFill>
                <a:srgbClr val="000000"/>
              </a:solidFill>
              <a:latin typeface="Calibri"/>
              <a:ea typeface="Calibri"/>
              <a:cs typeface="Calibri"/>
              <a:sym typeface="Calibri"/>
            </a:endParaRPr>
          </a:p>
        </p:txBody>
      </p:sp>
      <p:sp>
        <p:nvSpPr>
          <p:cNvPr id="609" name="Google Shape;609;p66"/>
          <p:cNvSpPr/>
          <p:nvPr/>
        </p:nvSpPr>
        <p:spPr>
          <a:xfrm>
            <a:off x="10070592" y="5669286"/>
            <a:ext cx="1658100" cy="402300"/>
          </a:xfrm>
          <a:prstGeom prst="roundRect">
            <a:avLst>
              <a:gd fmla="val 18182" name="adj"/>
            </a:avLst>
          </a:prstGeom>
          <a:solidFill>
            <a:srgbClr val="F5F5F5"/>
          </a:solidFill>
          <a:ln cap="flat" cmpd="sng" w="12700">
            <a:solidFill>
              <a:srgbClr val="2757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66"/>
          <p:cNvSpPr/>
          <p:nvPr/>
        </p:nvSpPr>
        <p:spPr>
          <a:xfrm>
            <a:off x="10070592" y="5669286"/>
            <a:ext cx="16581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75749"/>
              </a:buClr>
              <a:buSzPts val="1267"/>
              <a:buFont typeface="Calibri"/>
              <a:buNone/>
            </a:pPr>
            <a:r>
              <a:rPr b="0" i="0" lang="en-ZA" sz="1267" u="none" cap="none" strike="noStrike">
                <a:solidFill>
                  <a:srgbClr val="275749"/>
                </a:solidFill>
                <a:latin typeface="Calibri"/>
                <a:ea typeface="Calibri"/>
                <a:cs typeface="Calibri"/>
                <a:sym typeface="Calibri"/>
              </a:rPr>
              <a:t>Balance</a:t>
            </a:r>
            <a:endParaRPr b="0" i="0" sz="1267"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5" name="Shape 615"/>
        <p:cNvGrpSpPr/>
        <p:nvPr/>
      </p:nvGrpSpPr>
      <p:grpSpPr>
        <a:xfrm>
          <a:off x="0" y="0"/>
          <a:ext cx="0" cy="0"/>
          <a:chOff x="0" y="0"/>
          <a:chExt cx="0" cy="0"/>
        </a:xfrm>
      </p:grpSpPr>
      <p:sp>
        <p:nvSpPr>
          <p:cNvPr id="616" name="Google Shape;616;p67"/>
          <p:cNvSpPr/>
          <p:nvPr/>
        </p:nvSpPr>
        <p:spPr>
          <a:xfrm>
            <a:off x="0" y="0"/>
            <a:ext cx="12356700" cy="1112100"/>
          </a:xfrm>
          <a:prstGeom prst="rect">
            <a:avLst/>
          </a:prstGeom>
          <a:solidFill>
            <a:srgbClr val="2E5E4E"/>
          </a:solidFill>
          <a:ln cap="flat" cmpd="sng" w="17150">
            <a:solidFill>
              <a:srgbClr val="2E5E4E"/>
            </a:solidFill>
            <a:prstDash val="solid"/>
            <a:round/>
            <a:headEnd len="sm" w="sm" type="none"/>
            <a:tailEnd len="sm" w="sm" type="none"/>
          </a:ln>
        </p:spPr>
        <p:txBody>
          <a:bodyPr anchorCtr="0" anchor="ctr" bIns="123550" lIns="123550" spcFirstLastPara="1" rIns="123550" wrap="square" tIns="1235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67"/>
          <p:cNvSpPr/>
          <p:nvPr/>
        </p:nvSpPr>
        <p:spPr>
          <a:xfrm>
            <a:off x="494270" y="0"/>
            <a:ext cx="8649600" cy="11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973"/>
              <a:buFont typeface="Calibri"/>
              <a:buNone/>
            </a:pPr>
            <a:r>
              <a:rPr b="1" i="0" lang="en-ZA" sz="2973" u="none" cap="none" strike="noStrike">
                <a:solidFill>
                  <a:srgbClr val="FFFFFF"/>
                </a:solidFill>
                <a:latin typeface="Calibri"/>
                <a:ea typeface="Calibri"/>
                <a:cs typeface="Calibri"/>
                <a:sym typeface="Calibri"/>
              </a:rPr>
              <a:t>Affective Domain</a:t>
            </a:r>
            <a:endParaRPr b="0" i="0" sz="2973" u="none" cap="none" strike="noStrike">
              <a:solidFill>
                <a:schemeClr val="dk1"/>
              </a:solidFill>
              <a:latin typeface="Calibri"/>
              <a:ea typeface="Calibri"/>
              <a:cs typeface="Calibri"/>
              <a:sym typeface="Calibri"/>
            </a:endParaRPr>
          </a:p>
        </p:txBody>
      </p:sp>
      <p:sp>
        <p:nvSpPr>
          <p:cNvPr id="618" name="Google Shape;618;p67"/>
          <p:cNvSpPr/>
          <p:nvPr/>
        </p:nvSpPr>
        <p:spPr>
          <a:xfrm>
            <a:off x="2965619" y="1297459"/>
            <a:ext cx="6425700" cy="5066400"/>
          </a:xfrm>
          <a:prstGeom prst="roundRect">
            <a:avLst>
              <a:gd fmla="val 2927" name="adj"/>
            </a:avLst>
          </a:prstGeom>
          <a:solidFill>
            <a:srgbClr val="E6F0EC"/>
          </a:solidFill>
          <a:ln cap="flat" cmpd="sng" w="17150">
            <a:solidFill>
              <a:srgbClr val="23241E"/>
            </a:solidFill>
            <a:prstDash val="solid"/>
            <a:round/>
            <a:headEnd len="sm" w="sm" type="none"/>
            <a:tailEnd len="sm" w="sm" type="none"/>
          </a:ln>
          <a:effectLst>
            <a:outerShdw blurRad="85811" rotWithShape="0" algn="bl" dir="2700000" dist="34324">
              <a:srgbClr val="000000">
                <a:alpha val="10196"/>
              </a:srgbClr>
            </a:outerShdw>
          </a:effectLst>
        </p:spPr>
        <p:txBody>
          <a:bodyPr anchorCtr="0" anchor="ctr" bIns="123550" lIns="123550" spcFirstLastPara="1" rIns="123550" wrap="square" tIns="1235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67"/>
          <p:cNvSpPr/>
          <p:nvPr/>
        </p:nvSpPr>
        <p:spPr>
          <a:xfrm>
            <a:off x="3113900" y="1445741"/>
            <a:ext cx="2718600" cy="444600"/>
          </a:xfrm>
          <a:prstGeom prst="roundRect">
            <a:avLst>
              <a:gd fmla="val 22222" name="adj"/>
            </a:avLst>
          </a:prstGeom>
          <a:solidFill>
            <a:srgbClr val="23241E"/>
          </a:solidFill>
          <a:ln cap="flat" cmpd="sng" w="17150">
            <a:solidFill>
              <a:srgbClr val="23241E"/>
            </a:solidFill>
            <a:prstDash val="solid"/>
            <a:round/>
            <a:headEnd len="sm" w="sm" type="none"/>
            <a:tailEnd len="sm" w="sm" type="none"/>
          </a:ln>
        </p:spPr>
        <p:txBody>
          <a:bodyPr anchorCtr="0" anchor="ctr" bIns="123550" lIns="123550" spcFirstLastPara="1" rIns="123550" wrap="square" tIns="1235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67"/>
          <p:cNvSpPr/>
          <p:nvPr/>
        </p:nvSpPr>
        <p:spPr>
          <a:xfrm>
            <a:off x="3113900" y="1445741"/>
            <a:ext cx="2718600" cy="444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51"/>
              <a:buFont typeface="Calibri"/>
              <a:buNone/>
            </a:pPr>
            <a:r>
              <a:rPr b="1" i="0" lang="en-ZA" sz="1751" u="none" cap="none" strike="noStrike">
                <a:solidFill>
                  <a:srgbClr val="FFFFFF"/>
                </a:solidFill>
                <a:latin typeface="Calibri"/>
                <a:ea typeface="Calibri"/>
                <a:cs typeface="Calibri"/>
                <a:sym typeface="Calibri"/>
              </a:rPr>
              <a:t>INTERNALIZE  ·  L5</a:t>
            </a:r>
            <a:endParaRPr b="0" i="0" sz="1751" u="none" cap="none" strike="noStrike">
              <a:solidFill>
                <a:schemeClr val="dk1"/>
              </a:solidFill>
              <a:latin typeface="Calibri"/>
              <a:ea typeface="Calibri"/>
              <a:cs typeface="Calibri"/>
              <a:sym typeface="Calibri"/>
            </a:endParaRPr>
          </a:p>
        </p:txBody>
      </p:sp>
      <p:sp>
        <p:nvSpPr>
          <p:cNvPr id="621" name="Google Shape;621;p67"/>
          <p:cNvSpPr/>
          <p:nvPr/>
        </p:nvSpPr>
        <p:spPr>
          <a:xfrm>
            <a:off x="3188040" y="1989438"/>
            <a:ext cx="5980500" cy="88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55555"/>
              </a:buClr>
              <a:buSzPts val="1216"/>
              <a:buFont typeface="Calibri"/>
              <a:buNone/>
            </a:pPr>
            <a:r>
              <a:rPr b="0" i="1" lang="en-ZA" sz="1916" u="none" cap="none" strike="noStrike">
                <a:solidFill>
                  <a:srgbClr val="555555"/>
                </a:solidFill>
                <a:latin typeface="Calibri"/>
                <a:ea typeface="Calibri"/>
                <a:cs typeface="Calibri"/>
                <a:sym typeface="Calibri"/>
              </a:rPr>
              <a:t>Students act consistently with their internalized beliefs, making the value a natural part of their behaviour.</a:t>
            </a:r>
            <a:endParaRPr b="0" i="0" sz="1916" u="none" cap="none" strike="noStrike">
              <a:solidFill>
                <a:schemeClr val="dk1"/>
              </a:solidFill>
              <a:latin typeface="Calibri"/>
              <a:ea typeface="Calibri"/>
              <a:cs typeface="Calibri"/>
              <a:sym typeface="Calibri"/>
            </a:endParaRPr>
          </a:p>
        </p:txBody>
      </p:sp>
      <p:cxnSp>
        <p:nvCxnSpPr>
          <p:cNvPr id="622" name="Google Shape;622;p67"/>
          <p:cNvCxnSpPr/>
          <p:nvPr/>
        </p:nvCxnSpPr>
        <p:spPr>
          <a:xfrm>
            <a:off x="3188040" y="2940908"/>
            <a:ext cx="5980500" cy="0"/>
          </a:xfrm>
          <a:prstGeom prst="straightConnector1">
            <a:avLst/>
          </a:prstGeom>
          <a:noFill/>
          <a:ln cap="flat" cmpd="sng" w="12875">
            <a:solidFill>
              <a:srgbClr val="DDDDDD"/>
            </a:solidFill>
            <a:prstDash val="solid"/>
            <a:round/>
            <a:headEnd len="sm" w="sm" type="none"/>
            <a:tailEnd len="sm" w="sm" type="none"/>
          </a:ln>
        </p:spPr>
      </p:cxnSp>
      <p:sp>
        <p:nvSpPr>
          <p:cNvPr id="623" name="Google Shape;623;p67"/>
          <p:cNvSpPr/>
          <p:nvPr/>
        </p:nvSpPr>
        <p:spPr>
          <a:xfrm>
            <a:off x="3188040" y="3027405"/>
            <a:ext cx="5980500" cy="27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3241E"/>
              </a:buClr>
              <a:buSzPts val="1216"/>
              <a:buFont typeface="Calibri"/>
              <a:buNone/>
            </a:pPr>
            <a:r>
              <a:rPr b="1" i="0" lang="en-ZA" sz="1916" u="none" cap="none" strike="noStrike">
                <a:solidFill>
                  <a:srgbClr val="23241E"/>
                </a:solidFill>
                <a:latin typeface="Calibri"/>
                <a:ea typeface="Calibri"/>
                <a:cs typeface="Calibri"/>
                <a:sym typeface="Calibri"/>
              </a:rPr>
              <a:t>Example</a:t>
            </a:r>
            <a:endParaRPr b="0" i="0" sz="1916" u="none" cap="none" strike="noStrike">
              <a:solidFill>
                <a:schemeClr val="dk1"/>
              </a:solidFill>
              <a:latin typeface="Calibri"/>
              <a:ea typeface="Calibri"/>
              <a:cs typeface="Calibri"/>
              <a:sym typeface="Calibri"/>
            </a:endParaRPr>
          </a:p>
        </p:txBody>
      </p:sp>
      <p:sp>
        <p:nvSpPr>
          <p:cNvPr id="624" name="Google Shape;624;p67"/>
          <p:cNvSpPr/>
          <p:nvPr/>
        </p:nvSpPr>
        <p:spPr>
          <a:xfrm>
            <a:off x="3188040" y="3299254"/>
            <a:ext cx="5980500" cy="11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284"/>
              <a:buFont typeface="Calibri"/>
              <a:buNone/>
            </a:pPr>
            <a:r>
              <a:rPr b="0" i="0" lang="en-ZA" sz="1884" u="none" cap="none" strike="noStrike">
                <a:solidFill>
                  <a:srgbClr val="1A1A2E"/>
                </a:solidFill>
                <a:latin typeface="Calibri"/>
                <a:ea typeface="Calibri"/>
                <a:cs typeface="Calibri"/>
                <a:sym typeface="Calibri"/>
              </a:rPr>
              <a:t>Embody the habit of asking who is affected by your AI tool before asking how well it performs.</a:t>
            </a:r>
            <a:endParaRPr b="0" i="0" sz="1884" u="none" cap="none" strike="noStrike">
              <a:solidFill>
                <a:schemeClr val="dk1"/>
              </a:solidFill>
              <a:latin typeface="Calibri"/>
              <a:ea typeface="Calibri"/>
              <a:cs typeface="Calibri"/>
              <a:sym typeface="Calibri"/>
            </a:endParaRPr>
          </a:p>
        </p:txBody>
      </p:sp>
      <p:sp>
        <p:nvSpPr>
          <p:cNvPr id="625" name="Google Shape;625;p67"/>
          <p:cNvSpPr/>
          <p:nvPr/>
        </p:nvSpPr>
        <p:spPr>
          <a:xfrm>
            <a:off x="3188040" y="5745892"/>
            <a:ext cx="1927800" cy="407700"/>
          </a:xfrm>
          <a:prstGeom prst="roundRect">
            <a:avLst>
              <a:gd fmla="val 18182" name="adj"/>
            </a:avLst>
          </a:prstGeom>
          <a:solidFill>
            <a:srgbClr val="F5F5F5"/>
          </a:solidFill>
          <a:ln cap="flat" cmpd="sng" w="12875">
            <a:solidFill>
              <a:srgbClr val="23241E"/>
            </a:solidFill>
            <a:prstDash val="solid"/>
            <a:round/>
            <a:headEnd len="sm" w="sm" type="none"/>
            <a:tailEnd len="sm" w="sm" type="none"/>
          </a:ln>
        </p:spPr>
        <p:txBody>
          <a:bodyPr anchorCtr="0" anchor="ctr" bIns="123550" lIns="123550" spcFirstLastPara="1" rIns="123550" wrap="square" tIns="1235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67"/>
          <p:cNvSpPr/>
          <p:nvPr/>
        </p:nvSpPr>
        <p:spPr>
          <a:xfrm>
            <a:off x="3188040" y="5745892"/>
            <a:ext cx="1927800" cy="407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3241E"/>
              </a:buClr>
              <a:buSzPts val="1284"/>
              <a:buFont typeface="Calibri"/>
              <a:buNone/>
            </a:pPr>
            <a:r>
              <a:rPr b="0" i="0" lang="en-ZA" sz="1284" u="none" cap="none" strike="noStrike">
                <a:solidFill>
                  <a:srgbClr val="23241E"/>
                </a:solidFill>
                <a:latin typeface="Calibri"/>
                <a:ea typeface="Calibri"/>
                <a:cs typeface="Calibri"/>
                <a:sym typeface="Calibri"/>
              </a:rPr>
              <a:t>Embody</a:t>
            </a:r>
            <a:endParaRPr b="0" i="0" sz="1284" u="none" cap="none" strike="noStrike">
              <a:solidFill>
                <a:schemeClr val="dk1"/>
              </a:solidFill>
              <a:latin typeface="Calibri"/>
              <a:ea typeface="Calibri"/>
              <a:cs typeface="Calibri"/>
              <a:sym typeface="Calibri"/>
            </a:endParaRPr>
          </a:p>
        </p:txBody>
      </p:sp>
      <p:sp>
        <p:nvSpPr>
          <p:cNvPr id="627" name="Google Shape;627;p67"/>
          <p:cNvSpPr/>
          <p:nvPr/>
        </p:nvSpPr>
        <p:spPr>
          <a:xfrm>
            <a:off x="5214546" y="5745892"/>
            <a:ext cx="1927800" cy="407700"/>
          </a:xfrm>
          <a:prstGeom prst="roundRect">
            <a:avLst>
              <a:gd fmla="val 18182" name="adj"/>
            </a:avLst>
          </a:prstGeom>
          <a:solidFill>
            <a:srgbClr val="F5F5F5"/>
          </a:solidFill>
          <a:ln cap="flat" cmpd="sng" w="12875">
            <a:solidFill>
              <a:srgbClr val="23241E"/>
            </a:solidFill>
            <a:prstDash val="solid"/>
            <a:round/>
            <a:headEnd len="sm" w="sm" type="none"/>
            <a:tailEnd len="sm" w="sm" type="none"/>
          </a:ln>
        </p:spPr>
        <p:txBody>
          <a:bodyPr anchorCtr="0" anchor="ctr" bIns="123550" lIns="123550" spcFirstLastPara="1" rIns="123550" wrap="square" tIns="1235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67"/>
          <p:cNvSpPr/>
          <p:nvPr/>
        </p:nvSpPr>
        <p:spPr>
          <a:xfrm>
            <a:off x="5214546" y="5745892"/>
            <a:ext cx="1927800" cy="407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3241E"/>
              </a:buClr>
              <a:buSzPts val="1284"/>
              <a:buFont typeface="Calibri"/>
              <a:buNone/>
            </a:pPr>
            <a:r>
              <a:rPr b="0" i="0" lang="en-ZA" sz="1284" u="none" cap="none" strike="noStrike">
                <a:solidFill>
                  <a:srgbClr val="23241E"/>
                </a:solidFill>
                <a:latin typeface="Calibri"/>
                <a:ea typeface="Calibri"/>
                <a:cs typeface="Calibri"/>
                <a:sym typeface="Calibri"/>
              </a:rPr>
              <a:t>Maintain</a:t>
            </a:r>
            <a:endParaRPr b="0" i="0" sz="1284" u="none" cap="none" strike="noStrike">
              <a:solidFill>
                <a:schemeClr val="dk1"/>
              </a:solidFill>
              <a:latin typeface="Calibri"/>
              <a:ea typeface="Calibri"/>
              <a:cs typeface="Calibri"/>
              <a:sym typeface="Calibri"/>
            </a:endParaRPr>
          </a:p>
        </p:txBody>
      </p:sp>
      <p:sp>
        <p:nvSpPr>
          <p:cNvPr id="629" name="Google Shape;629;p67"/>
          <p:cNvSpPr/>
          <p:nvPr/>
        </p:nvSpPr>
        <p:spPr>
          <a:xfrm>
            <a:off x="7241052" y="5745892"/>
            <a:ext cx="1927800" cy="407700"/>
          </a:xfrm>
          <a:prstGeom prst="roundRect">
            <a:avLst>
              <a:gd fmla="val 18182" name="adj"/>
            </a:avLst>
          </a:prstGeom>
          <a:solidFill>
            <a:srgbClr val="F5F5F5"/>
          </a:solidFill>
          <a:ln cap="flat" cmpd="sng" w="12875">
            <a:solidFill>
              <a:srgbClr val="23241E"/>
            </a:solidFill>
            <a:prstDash val="solid"/>
            <a:round/>
            <a:headEnd len="sm" w="sm" type="none"/>
            <a:tailEnd len="sm" w="sm" type="none"/>
          </a:ln>
        </p:spPr>
        <p:txBody>
          <a:bodyPr anchorCtr="0" anchor="ctr" bIns="123550" lIns="123550" spcFirstLastPara="1" rIns="123550" wrap="square" tIns="1235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67"/>
          <p:cNvSpPr/>
          <p:nvPr/>
        </p:nvSpPr>
        <p:spPr>
          <a:xfrm>
            <a:off x="7241052" y="5745892"/>
            <a:ext cx="1927800" cy="407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3241E"/>
              </a:buClr>
              <a:buSzPts val="1284"/>
              <a:buFont typeface="Calibri"/>
              <a:buNone/>
            </a:pPr>
            <a:r>
              <a:rPr b="0" i="0" lang="en-ZA" sz="1284" u="none" cap="none" strike="noStrike">
                <a:solidFill>
                  <a:srgbClr val="23241E"/>
                </a:solidFill>
                <a:latin typeface="Calibri"/>
                <a:ea typeface="Calibri"/>
                <a:cs typeface="Calibri"/>
                <a:sym typeface="Calibri"/>
              </a:rPr>
              <a:t>Influence</a:t>
            </a:r>
            <a:endParaRPr b="0" i="0" sz="1284"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pic>
        <p:nvPicPr>
          <p:cNvPr id="636" name="Google Shape;636;p68"/>
          <p:cNvPicPr preferRelativeResize="0"/>
          <p:nvPr/>
        </p:nvPicPr>
        <p:blipFill rotWithShape="1">
          <a:blip r:embed="rId3">
            <a:alphaModFix/>
          </a:blip>
          <a:srcRect b="0" l="0" r="0" t="0"/>
          <a:stretch/>
        </p:blipFill>
        <p:spPr>
          <a:xfrm>
            <a:off x="62400" y="-101181"/>
            <a:ext cx="12192000" cy="6858000"/>
          </a:xfrm>
          <a:prstGeom prst="rect">
            <a:avLst/>
          </a:prstGeom>
          <a:noFill/>
          <a:ln>
            <a:noFill/>
          </a:ln>
        </p:spPr>
      </p:pic>
      <p:sp>
        <p:nvSpPr>
          <p:cNvPr id="637" name="Google Shape;637;p68"/>
          <p:cNvSpPr/>
          <p:nvPr/>
        </p:nvSpPr>
        <p:spPr>
          <a:xfrm>
            <a:off x="609550" y="266384"/>
            <a:ext cx="10972800" cy="75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3700"/>
              <a:buFont typeface="Georgia"/>
              <a:buNone/>
            </a:pPr>
            <a:r>
              <a:rPr b="1" i="0" lang="en-ZA" sz="2900" u="none" cap="none" strike="noStrike">
                <a:solidFill>
                  <a:srgbClr val="1A1A2E"/>
                </a:solidFill>
                <a:latin typeface="Georgia"/>
                <a:ea typeface="Georgia"/>
                <a:cs typeface="Georgia"/>
                <a:sym typeface="Georgia"/>
              </a:rPr>
              <a:t>Online vs. Classroom Learning Objectives</a:t>
            </a:r>
            <a:endParaRPr b="0" i="0" sz="2900" u="none" cap="none" strike="noStrike">
              <a:solidFill>
                <a:schemeClr val="dk1"/>
              </a:solidFill>
              <a:latin typeface="Calibri"/>
              <a:ea typeface="Calibri"/>
              <a:cs typeface="Calibri"/>
              <a:sym typeface="Calibri"/>
            </a:endParaRPr>
          </a:p>
        </p:txBody>
      </p:sp>
      <p:sp>
        <p:nvSpPr>
          <p:cNvPr id="638" name="Google Shape;638;p68"/>
          <p:cNvSpPr/>
          <p:nvPr/>
        </p:nvSpPr>
        <p:spPr>
          <a:xfrm>
            <a:off x="609600" y="1202788"/>
            <a:ext cx="109728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600"/>
              <a:buFont typeface="Calibri"/>
              <a:buNone/>
            </a:pPr>
            <a:r>
              <a:rPr b="0" i="1" lang="en-ZA" sz="1800" u="none" cap="none" strike="noStrike">
                <a:solidFill>
                  <a:schemeClr val="dk1"/>
                </a:solidFill>
                <a:latin typeface="Calibri"/>
                <a:ea typeface="Calibri"/>
                <a:cs typeface="Calibri"/>
                <a:sym typeface="Calibri"/>
              </a:rPr>
              <a:t>The learning objective of online learning is to build basic knowledge, while the learning objective of classroom learning is to develop deeper thinking and more complex skills. </a:t>
            </a:r>
            <a:endParaRPr b="0" i="1" sz="1800" u="none" cap="none" strike="noStrike">
              <a:solidFill>
                <a:schemeClr val="dk1"/>
              </a:solidFill>
              <a:latin typeface="Calibri"/>
              <a:ea typeface="Calibri"/>
              <a:cs typeface="Calibri"/>
              <a:sym typeface="Calibri"/>
            </a:endParaRPr>
          </a:p>
        </p:txBody>
      </p:sp>
      <p:sp>
        <p:nvSpPr>
          <p:cNvPr id="639" name="Google Shape;639;p68"/>
          <p:cNvSpPr/>
          <p:nvPr/>
        </p:nvSpPr>
        <p:spPr>
          <a:xfrm>
            <a:off x="356413" y="1938041"/>
            <a:ext cx="5303700" cy="4238100"/>
          </a:xfrm>
          <a:prstGeom prst="rect">
            <a:avLst/>
          </a:prstGeom>
          <a:solidFill>
            <a:srgbClr val="F8F4F0"/>
          </a:solidFill>
          <a:ln cap="flat" cmpd="sng" w="16925">
            <a:solidFill>
              <a:srgbClr val="E0D8D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68"/>
          <p:cNvSpPr/>
          <p:nvPr/>
        </p:nvSpPr>
        <p:spPr>
          <a:xfrm>
            <a:off x="351692" y="1926336"/>
            <a:ext cx="5303700" cy="633900"/>
          </a:xfrm>
          <a:prstGeom prst="rect">
            <a:avLst/>
          </a:prstGeom>
          <a:solidFill>
            <a:srgbClr val="8B2035"/>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68"/>
          <p:cNvSpPr/>
          <p:nvPr/>
        </p:nvSpPr>
        <p:spPr>
          <a:xfrm>
            <a:off x="557784" y="1950720"/>
            <a:ext cx="5120700" cy="5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Calibri"/>
              <a:buNone/>
            </a:pPr>
            <a:r>
              <a:rPr b="1" i="0" lang="en-ZA" sz="1500" u="none" cap="none" strike="noStrike">
                <a:solidFill>
                  <a:srgbClr val="FFFFFF"/>
                </a:solidFill>
                <a:latin typeface="Calibri"/>
                <a:ea typeface="Calibri"/>
                <a:cs typeface="Calibri"/>
                <a:sym typeface="Calibri"/>
              </a:rPr>
              <a:t>ONLINE COURSES</a:t>
            </a:r>
            <a:endParaRPr b="0" i="0" sz="1500" u="none" cap="none" strike="noStrike">
              <a:solidFill>
                <a:schemeClr val="dk1"/>
              </a:solidFill>
              <a:latin typeface="Calibri"/>
              <a:ea typeface="Calibri"/>
              <a:cs typeface="Calibri"/>
              <a:sym typeface="Calibri"/>
            </a:endParaRPr>
          </a:p>
        </p:txBody>
      </p:sp>
      <p:sp>
        <p:nvSpPr>
          <p:cNvPr id="642" name="Google Shape;642;p68"/>
          <p:cNvSpPr/>
          <p:nvPr/>
        </p:nvSpPr>
        <p:spPr>
          <a:xfrm>
            <a:off x="499413" y="2669957"/>
            <a:ext cx="1828800" cy="292800"/>
          </a:xfrm>
          <a:prstGeom prst="rect">
            <a:avLst/>
          </a:prstGeom>
          <a:solidFill>
            <a:srgbClr val="8B2035"/>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68"/>
          <p:cNvSpPr/>
          <p:nvPr/>
        </p:nvSpPr>
        <p:spPr>
          <a:xfrm>
            <a:off x="440806" y="2669957"/>
            <a:ext cx="1828800" cy="29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ZA" u="none" cap="none" strike="noStrike">
                <a:solidFill>
                  <a:srgbClr val="FFFFFF"/>
                </a:solidFill>
                <a:latin typeface="Calibri"/>
                <a:ea typeface="Calibri"/>
                <a:cs typeface="Calibri"/>
                <a:sym typeface="Calibri"/>
              </a:rPr>
              <a:t>Remember (L1)</a:t>
            </a:r>
            <a:endParaRPr b="0" i="0" u="none" cap="none" strike="noStrike">
              <a:solidFill>
                <a:schemeClr val="dk1"/>
              </a:solidFill>
              <a:latin typeface="Calibri"/>
              <a:ea typeface="Calibri"/>
              <a:cs typeface="Calibri"/>
              <a:sym typeface="Calibri"/>
            </a:endParaRPr>
          </a:p>
        </p:txBody>
      </p:sp>
      <p:sp>
        <p:nvSpPr>
          <p:cNvPr id="644" name="Google Shape;644;p68"/>
          <p:cNvSpPr/>
          <p:nvPr/>
        </p:nvSpPr>
        <p:spPr>
          <a:xfrm>
            <a:off x="499475" y="3278203"/>
            <a:ext cx="5055900" cy="226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en-ZA" sz="2600" u="none" cap="none" strike="noStrike">
                <a:solidFill>
                  <a:schemeClr val="dk1"/>
                </a:solidFill>
                <a:latin typeface="Calibri"/>
                <a:ea typeface="Calibri"/>
                <a:cs typeface="Calibri"/>
                <a:sym typeface="Calibri"/>
              </a:rPr>
              <a:t> List the types of tokenization: sentence-level, word-level, character-level, and subword tokenization.</a:t>
            </a:r>
            <a:endParaRPr b="0" i="0" sz="2900" u="none" cap="none" strike="noStrike">
              <a:solidFill>
                <a:schemeClr val="dk1"/>
              </a:solidFill>
              <a:latin typeface="Calibri"/>
              <a:ea typeface="Calibri"/>
              <a:cs typeface="Calibri"/>
              <a:sym typeface="Calibri"/>
            </a:endParaRPr>
          </a:p>
        </p:txBody>
      </p:sp>
      <p:sp>
        <p:nvSpPr>
          <p:cNvPr id="645" name="Google Shape;645;p68"/>
          <p:cNvSpPr/>
          <p:nvPr/>
        </p:nvSpPr>
        <p:spPr>
          <a:xfrm>
            <a:off x="589080" y="5547452"/>
            <a:ext cx="48768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646" name="Google Shape;646;p68"/>
          <p:cNvSpPr/>
          <p:nvPr/>
        </p:nvSpPr>
        <p:spPr>
          <a:xfrm>
            <a:off x="6547050" y="1926325"/>
            <a:ext cx="5303700" cy="4343700"/>
          </a:xfrm>
          <a:prstGeom prst="rect">
            <a:avLst/>
          </a:prstGeom>
          <a:solidFill>
            <a:srgbClr val="F0F5F3"/>
          </a:solidFill>
          <a:ln cap="flat" cmpd="sng" w="16925">
            <a:solidFill>
              <a:srgbClr val="C8DDD6"/>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68"/>
          <p:cNvSpPr/>
          <p:nvPr/>
        </p:nvSpPr>
        <p:spPr>
          <a:xfrm>
            <a:off x="6548511" y="1926336"/>
            <a:ext cx="5303700" cy="633900"/>
          </a:xfrm>
          <a:prstGeom prst="rect">
            <a:avLst/>
          </a:prstGeom>
          <a:solidFill>
            <a:srgbClr val="2D6A5C"/>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68"/>
          <p:cNvSpPr/>
          <p:nvPr/>
        </p:nvSpPr>
        <p:spPr>
          <a:xfrm>
            <a:off x="6761871" y="1950720"/>
            <a:ext cx="5120700" cy="5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Calibri"/>
              <a:buNone/>
            </a:pPr>
            <a:r>
              <a:rPr b="1" i="0" lang="en-ZA" sz="1500" u="none" cap="none" strike="noStrike">
                <a:solidFill>
                  <a:srgbClr val="FFFFFF"/>
                </a:solidFill>
                <a:latin typeface="Calibri"/>
                <a:ea typeface="Calibri"/>
                <a:cs typeface="Calibri"/>
                <a:sym typeface="Calibri"/>
              </a:rPr>
              <a:t>CLASSROOM SESSIONS</a:t>
            </a:r>
            <a:endParaRPr b="0" i="0" sz="1500" u="none" cap="none" strike="noStrike">
              <a:solidFill>
                <a:schemeClr val="dk1"/>
              </a:solidFill>
              <a:latin typeface="Calibri"/>
              <a:ea typeface="Calibri"/>
              <a:cs typeface="Calibri"/>
              <a:sym typeface="Calibri"/>
            </a:endParaRPr>
          </a:p>
        </p:txBody>
      </p:sp>
      <p:sp>
        <p:nvSpPr>
          <p:cNvPr id="649" name="Google Shape;649;p68"/>
          <p:cNvSpPr/>
          <p:nvPr/>
        </p:nvSpPr>
        <p:spPr>
          <a:xfrm>
            <a:off x="6696222" y="2706624"/>
            <a:ext cx="1828800" cy="292800"/>
          </a:xfrm>
          <a:prstGeom prst="rect">
            <a:avLst/>
          </a:prstGeom>
          <a:solidFill>
            <a:srgbClr val="2D6A5C"/>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68"/>
          <p:cNvSpPr/>
          <p:nvPr/>
        </p:nvSpPr>
        <p:spPr>
          <a:xfrm>
            <a:off x="6731391" y="2706624"/>
            <a:ext cx="1828800" cy="29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ZA" u="none" cap="none" strike="noStrike">
                <a:solidFill>
                  <a:srgbClr val="FFFFFF"/>
                </a:solidFill>
                <a:latin typeface="Calibri"/>
                <a:ea typeface="Calibri"/>
                <a:cs typeface="Calibri"/>
                <a:sym typeface="Calibri"/>
              </a:rPr>
              <a:t>               Analyze (L4)</a:t>
            </a:r>
            <a:endParaRPr b="0" i="0" u="none" cap="none" strike="noStrike">
              <a:solidFill>
                <a:schemeClr val="dk1"/>
              </a:solidFill>
              <a:latin typeface="Calibri"/>
              <a:ea typeface="Calibri"/>
              <a:cs typeface="Calibri"/>
              <a:sym typeface="Calibri"/>
            </a:endParaRPr>
          </a:p>
        </p:txBody>
      </p:sp>
      <p:sp>
        <p:nvSpPr>
          <p:cNvPr id="651" name="Google Shape;651;p68"/>
          <p:cNvSpPr/>
          <p:nvPr/>
        </p:nvSpPr>
        <p:spPr>
          <a:xfrm>
            <a:off x="6661050" y="3259943"/>
            <a:ext cx="4876800" cy="2373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en-ZA" sz="2800" u="none" cap="none" strike="noStrike">
                <a:solidFill>
                  <a:srgbClr val="1F2937"/>
                </a:solidFill>
                <a:latin typeface="Calibri"/>
                <a:ea typeface="Calibri"/>
                <a:cs typeface="Calibri"/>
                <a:sym typeface="Calibri"/>
              </a:rPr>
              <a:t>Compare how two tokenizers split a word and identify which one better preserves its meaning.</a:t>
            </a:r>
            <a:endParaRPr b="0" i="0" sz="2800" u="none" cap="none" strike="noStrike">
              <a:solidFill>
                <a:srgbClr val="1F2937"/>
              </a:solidFill>
              <a:latin typeface="Calibri"/>
              <a:ea typeface="Calibri"/>
              <a:cs typeface="Calibri"/>
              <a:sym typeface="Calibri"/>
            </a:endParaRPr>
          </a:p>
          <a:p>
            <a:pPr indent="0" lvl="0" marL="0" marR="0" rtl="0" algn="l">
              <a:lnSpc>
                <a:spcPct val="115000"/>
              </a:lnSpc>
              <a:spcBef>
                <a:spcPts val="1200"/>
              </a:spcBef>
              <a:spcAft>
                <a:spcPts val="1200"/>
              </a:spcAft>
              <a:buClr>
                <a:schemeClr val="dk1"/>
              </a:buClr>
              <a:buSzPts val="1100"/>
              <a:buFont typeface="Arial"/>
              <a:buNone/>
            </a:pPr>
            <a:r>
              <a:t/>
            </a:r>
            <a:endParaRPr b="0" i="0" sz="2800" u="none" cap="none" strike="noStrike">
              <a:solidFill>
                <a:srgbClr val="1F2937"/>
              </a:solidFill>
              <a:latin typeface="Calibri"/>
              <a:ea typeface="Calibri"/>
              <a:cs typeface="Calibri"/>
              <a:sym typeface="Calibri"/>
            </a:endParaRPr>
          </a:p>
        </p:txBody>
      </p:sp>
      <p:sp>
        <p:nvSpPr>
          <p:cNvPr id="652" name="Google Shape;652;p68"/>
          <p:cNvSpPr/>
          <p:nvPr/>
        </p:nvSpPr>
        <p:spPr>
          <a:xfrm>
            <a:off x="6661060" y="5538335"/>
            <a:ext cx="48768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Calibri"/>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pic>
        <p:nvPicPr>
          <p:cNvPr id="658" name="Google Shape;658;p6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59" name="Google Shape;659;p69"/>
          <p:cNvSpPr txBox="1"/>
          <p:nvPr/>
        </p:nvSpPr>
        <p:spPr>
          <a:xfrm>
            <a:off x="753534" y="2999033"/>
            <a:ext cx="9398400" cy="222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1458"/>
              </a:buClr>
              <a:buSzPts val="8000"/>
              <a:buFont typeface="Georgia"/>
              <a:buNone/>
            </a:pPr>
            <a:r>
              <a:t/>
            </a:r>
            <a:endParaRPr sz="600"/>
          </a:p>
          <a:p>
            <a:pPr indent="0" lvl="0" marL="0" marR="0" rtl="0" algn="l">
              <a:lnSpc>
                <a:spcPct val="100000"/>
              </a:lnSpc>
              <a:spcBef>
                <a:spcPts val="0"/>
              </a:spcBef>
              <a:spcAft>
                <a:spcPts val="0"/>
              </a:spcAft>
              <a:buClr>
                <a:srgbClr val="2C1458"/>
              </a:buClr>
              <a:buSzPts val="8000"/>
              <a:buFont typeface="Georgia"/>
              <a:buNone/>
            </a:pPr>
            <a:r>
              <a:rPr b="1" i="0" lang="en-ZA" sz="7200" u="none" cap="none" strike="noStrike">
                <a:solidFill>
                  <a:srgbClr val="2C1458"/>
                </a:solidFill>
                <a:latin typeface="Georgia"/>
                <a:ea typeface="Georgia"/>
                <a:cs typeface="Georgia"/>
                <a:sym typeface="Georgia"/>
              </a:rPr>
              <a:t>AI vs RI (Responsib</a:t>
            </a:r>
            <a:r>
              <a:rPr b="1" lang="en-ZA" sz="7200">
                <a:solidFill>
                  <a:srgbClr val="2C1458"/>
                </a:solidFill>
                <a:latin typeface="Georgia"/>
                <a:ea typeface="Georgia"/>
                <a:cs typeface="Georgia"/>
                <a:sym typeface="Georgia"/>
              </a:rPr>
              <a:t>le Innovation)</a:t>
            </a:r>
            <a:r>
              <a:rPr b="1" i="0" lang="en-ZA" sz="7200" u="none" cap="none" strike="noStrike">
                <a:solidFill>
                  <a:srgbClr val="2C1458"/>
                </a:solidFill>
                <a:latin typeface="Georgia"/>
                <a:ea typeface="Georgia"/>
                <a:cs typeface="Georgia"/>
                <a:sym typeface="Georgia"/>
              </a:rPr>
              <a:t> Activities</a:t>
            </a:r>
            <a:endParaRPr sz="600"/>
          </a:p>
        </p:txBody>
      </p:sp>
      <p:pic>
        <p:nvPicPr>
          <p:cNvPr id="660" name="Google Shape;660;p69"/>
          <p:cNvPicPr preferRelativeResize="0"/>
          <p:nvPr/>
        </p:nvPicPr>
        <p:blipFill rotWithShape="1">
          <a:blip r:embed="rId4">
            <a:alphaModFix/>
          </a:blip>
          <a:srcRect b="0" l="0" r="0" t="0"/>
          <a:stretch/>
        </p:blipFill>
        <p:spPr>
          <a:xfrm>
            <a:off x="6984141" y="383197"/>
            <a:ext cx="2033076" cy="837150"/>
          </a:xfrm>
          <a:prstGeom prst="rect">
            <a:avLst/>
          </a:prstGeom>
          <a:noFill/>
          <a:ln>
            <a:noFill/>
          </a:ln>
        </p:spPr>
      </p:pic>
      <p:pic>
        <p:nvPicPr>
          <p:cNvPr id="661" name="Google Shape;661;p69"/>
          <p:cNvPicPr preferRelativeResize="0"/>
          <p:nvPr/>
        </p:nvPicPr>
        <p:blipFill rotWithShape="1">
          <a:blip r:embed="rId5">
            <a:alphaModFix/>
          </a:blip>
          <a:srcRect b="0" l="0" r="0" t="0"/>
          <a:stretch/>
        </p:blipFill>
        <p:spPr>
          <a:xfrm>
            <a:off x="9108440" y="535714"/>
            <a:ext cx="2613661" cy="574731"/>
          </a:xfrm>
          <a:prstGeom prst="rect">
            <a:avLst/>
          </a:prstGeom>
          <a:noFill/>
          <a:ln>
            <a:noFill/>
          </a:ln>
        </p:spPr>
      </p:pic>
      <p:pic>
        <p:nvPicPr>
          <p:cNvPr id="662" name="Google Shape;662;p69"/>
          <p:cNvPicPr preferRelativeResize="0"/>
          <p:nvPr/>
        </p:nvPicPr>
        <p:blipFill rotWithShape="1">
          <a:blip r:embed="rId6">
            <a:alphaModFix/>
          </a:blip>
          <a:srcRect b="0" l="0" r="0" t="0"/>
          <a:stretch/>
        </p:blipFill>
        <p:spPr>
          <a:xfrm>
            <a:off x="9859010" y="5669280"/>
            <a:ext cx="1883834" cy="762000"/>
          </a:xfrm>
          <a:prstGeom prst="rect">
            <a:avLst/>
          </a:prstGeom>
          <a:noFill/>
          <a:ln>
            <a:noFill/>
          </a:ln>
        </p:spPr>
      </p:pic>
      <p:grpSp>
        <p:nvGrpSpPr>
          <p:cNvPr id="663" name="Google Shape;663;p69"/>
          <p:cNvGrpSpPr/>
          <p:nvPr/>
        </p:nvGrpSpPr>
        <p:grpSpPr>
          <a:xfrm>
            <a:off x="763050" y="5899750"/>
            <a:ext cx="6501258" cy="410463"/>
            <a:chOff x="763050" y="5899750"/>
            <a:chExt cx="6501258" cy="410463"/>
          </a:xfrm>
        </p:grpSpPr>
        <p:sp>
          <p:nvSpPr>
            <p:cNvPr id="664" name="Google Shape;664;p69"/>
            <p:cNvSpPr/>
            <p:nvPr/>
          </p:nvSpPr>
          <p:spPr>
            <a:xfrm>
              <a:off x="763050" y="5899750"/>
              <a:ext cx="2955300" cy="4041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665" name="Google Shape;665;p69"/>
            <p:cNvSpPr txBox="1"/>
            <p:nvPr/>
          </p:nvSpPr>
          <p:spPr>
            <a:xfrm>
              <a:off x="902397" y="5959075"/>
              <a:ext cx="2676600" cy="298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Arial"/>
                <a:buNone/>
              </a:pPr>
              <a:r>
                <a:rPr b="1" i="0" lang="en-ZA" sz="1700" u="none" cap="none" strike="noStrike">
                  <a:solidFill>
                    <a:schemeClr val="dk2"/>
                  </a:solidFill>
                  <a:latin typeface="Arial"/>
                  <a:ea typeface="Arial"/>
                  <a:cs typeface="Arial"/>
                  <a:sym typeface="Arial"/>
                </a:rPr>
                <a:t>Nigeria · Aug 2026</a:t>
              </a:r>
              <a:endParaRPr b="0" i="0" sz="1500" u="none" cap="none" strike="noStrike">
                <a:solidFill>
                  <a:srgbClr val="000000"/>
                </a:solidFill>
                <a:latin typeface="Arial"/>
                <a:ea typeface="Arial"/>
                <a:cs typeface="Arial"/>
                <a:sym typeface="Arial"/>
              </a:endParaRPr>
            </a:p>
          </p:txBody>
        </p:sp>
        <p:sp>
          <p:nvSpPr>
            <p:cNvPr id="666" name="Google Shape;666;p69"/>
            <p:cNvSpPr/>
            <p:nvPr/>
          </p:nvSpPr>
          <p:spPr>
            <a:xfrm>
              <a:off x="3928308" y="5906113"/>
              <a:ext cx="3336000" cy="4041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667" name="Google Shape;667;p69"/>
            <p:cNvSpPr txBox="1"/>
            <p:nvPr/>
          </p:nvSpPr>
          <p:spPr>
            <a:xfrm>
              <a:off x="3974350" y="5975050"/>
              <a:ext cx="3243900" cy="253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Arial"/>
                <a:buNone/>
              </a:pPr>
              <a:r>
                <a:rPr b="1" i="0" lang="en-ZA" sz="1700" u="none" cap="none" strike="noStrike">
                  <a:solidFill>
                    <a:schemeClr val="dk2"/>
                  </a:solidFill>
                  <a:latin typeface="Arial"/>
                  <a:ea typeface="Arial"/>
                  <a:cs typeface="Arial"/>
                  <a:sym typeface="Arial"/>
                </a:rPr>
                <a:t>AI Research Foundations</a:t>
              </a:r>
              <a:endParaRPr b="0" i="0" sz="1500" u="none" cap="none" strike="noStrike">
                <a:solidFill>
                  <a:srgbClr val="000000"/>
                </a:solidFill>
                <a:latin typeface="Arial"/>
                <a:ea typeface="Arial"/>
                <a:cs typeface="Arial"/>
                <a:sym typeface="Arial"/>
              </a:endParaRPr>
            </a:p>
          </p:txBody>
        </p:sp>
      </p:grpSp>
      <p:pic>
        <p:nvPicPr>
          <p:cNvPr id="668" name="Google Shape;668;p69"/>
          <p:cNvPicPr preferRelativeResize="0"/>
          <p:nvPr/>
        </p:nvPicPr>
        <p:blipFill rotWithShape="1">
          <a:blip r:embed="rId7">
            <a:alphaModFix/>
          </a:blip>
          <a:srcRect b="0" l="0" r="0" t="0"/>
          <a:stretch/>
        </p:blipFill>
        <p:spPr>
          <a:xfrm>
            <a:off x="5724851" y="505175"/>
            <a:ext cx="1168078" cy="593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pic>
        <p:nvPicPr>
          <p:cNvPr id="674" name="Google Shape;674;p70"/>
          <p:cNvPicPr preferRelativeResize="0"/>
          <p:nvPr/>
        </p:nvPicPr>
        <p:blipFill rotWithShape="1">
          <a:blip r:embed="rId3">
            <a:alphaModFix/>
          </a:blip>
          <a:srcRect b="0" l="0" r="0" t="0"/>
          <a:stretch/>
        </p:blipFill>
        <p:spPr>
          <a:xfrm>
            <a:off x="62525" y="217800"/>
            <a:ext cx="12192000" cy="6858000"/>
          </a:xfrm>
          <a:prstGeom prst="rect">
            <a:avLst/>
          </a:prstGeom>
          <a:noFill/>
          <a:ln>
            <a:noFill/>
          </a:ln>
        </p:spPr>
      </p:pic>
      <p:sp>
        <p:nvSpPr>
          <p:cNvPr id="675" name="Google Shape;675;p70"/>
          <p:cNvSpPr/>
          <p:nvPr/>
        </p:nvSpPr>
        <p:spPr>
          <a:xfrm>
            <a:off x="282697" y="485807"/>
            <a:ext cx="109728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Two domains, two ladders</a:t>
            </a:r>
            <a:endParaRPr b="0" i="0" sz="4000" u="none" cap="none" strike="noStrike">
              <a:solidFill>
                <a:schemeClr val="dk1"/>
              </a:solidFill>
              <a:latin typeface="Calibri"/>
              <a:ea typeface="Calibri"/>
              <a:cs typeface="Calibri"/>
              <a:sym typeface="Calibri"/>
            </a:endParaRPr>
          </a:p>
        </p:txBody>
      </p:sp>
      <p:sp>
        <p:nvSpPr>
          <p:cNvPr id="676" name="Google Shape;676;p70"/>
          <p:cNvSpPr/>
          <p:nvPr/>
        </p:nvSpPr>
        <p:spPr>
          <a:xfrm>
            <a:off x="487680" y="1741722"/>
            <a:ext cx="5547300" cy="3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300"/>
              <a:buFont typeface="Calibri"/>
              <a:buNone/>
            </a:pPr>
            <a:r>
              <a:rPr b="1" i="0" lang="en-ZA" sz="1900" u="none" cap="none" strike="noStrike">
                <a:solidFill>
                  <a:srgbClr val="0E6E8A"/>
                </a:solidFill>
                <a:latin typeface="Calibri"/>
                <a:ea typeface="Calibri"/>
                <a:cs typeface="Calibri"/>
                <a:sym typeface="Calibri"/>
              </a:rPr>
              <a:t>COGNITIVE</a:t>
            </a:r>
            <a:endParaRPr b="0" i="0" sz="1900" u="none" cap="none" strike="noStrike">
              <a:solidFill>
                <a:schemeClr val="dk1"/>
              </a:solidFill>
              <a:latin typeface="Calibri"/>
              <a:ea typeface="Calibri"/>
              <a:cs typeface="Calibri"/>
              <a:sym typeface="Calibri"/>
            </a:endParaRPr>
          </a:p>
        </p:txBody>
      </p:sp>
      <p:sp>
        <p:nvSpPr>
          <p:cNvPr id="677" name="Google Shape;677;p70"/>
          <p:cNvSpPr/>
          <p:nvPr/>
        </p:nvSpPr>
        <p:spPr>
          <a:xfrm>
            <a:off x="6156960" y="1741689"/>
            <a:ext cx="5547300" cy="3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1300"/>
              <a:buFont typeface="Calibri"/>
              <a:buNone/>
            </a:pPr>
            <a:r>
              <a:rPr b="1" i="0" lang="en-ZA" sz="1900" u="none" cap="none" strike="noStrike">
                <a:solidFill>
                  <a:srgbClr val="B45309"/>
                </a:solidFill>
                <a:latin typeface="Calibri"/>
                <a:ea typeface="Calibri"/>
                <a:cs typeface="Calibri"/>
                <a:sym typeface="Calibri"/>
              </a:rPr>
              <a:t>AFFECTIVE </a:t>
            </a:r>
            <a:endParaRPr b="0" i="0" sz="1900" u="none" cap="none" strike="noStrike">
              <a:solidFill>
                <a:schemeClr val="dk1"/>
              </a:solidFill>
              <a:latin typeface="Calibri"/>
              <a:ea typeface="Calibri"/>
              <a:cs typeface="Calibri"/>
              <a:sym typeface="Calibri"/>
            </a:endParaRPr>
          </a:p>
        </p:txBody>
      </p:sp>
      <p:sp>
        <p:nvSpPr>
          <p:cNvPr id="678" name="Google Shape;678;p70"/>
          <p:cNvSpPr/>
          <p:nvPr/>
        </p:nvSpPr>
        <p:spPr>
          <a:xfrm>
            <a:off x="487680" y="2131833"/>
            <a:ext cx="5547300" cy="438900"/>
          </a:xfrm>
          <a:prstGeom prst="rect">
            <a:avLst/>
          </a:prstGeom>
          <a:solidFill>
            <a:srgbClr val="FFFFFF"/>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70"/>
          <p:cNvSpPr/>
          <p:nvPr/>
        </p:nvSpPr>
        <p:spPr>
          <a:xfrm>
            <a:off x="633984" y="2156217"/>
            <a:ext cx="16461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500"/>
              <a:buFont typeface="Calibri"/>
              <a:buNone/>
            </a:pPr>
            <a:r>
              <a:rPr b="1" i="0" lang="en-ZA" sz="1700" u="none" cap="none" strike="noStrike">
                <a:solidFill>
                  <a:srgbClr val="6B6B6B"/>
                </a:solidFill>
                <a:latin typeface="Calibri"/>
                <a:ea typeface="Calibri"/>
                <a:cs typeface="Calibri"/>
                <a:sym typeface="Calibri"/>
              </a:rPr>
              <a:t>Remember</a:t>
            </a:r>
            <a:endParaRPr b="0" i="0" sz="1700" u="none" cap="none" strike="noStrike">
              <a:solidFill>
                <a:schemeClr val="dk1"/>
              </a:solidFill>
              <a:latin typeface="Calibri"/>
              <a:ea typeface="Calibri"/>
              <a:cs typeface="Calibri"/>
              <a:sym typeface="Calibri"/>
            </a:endParaRPr>
          </a:p>
        </p:txBody>
      </p:sp>
      <p:sp>
        <p:nvSpPr>
          <p:cNvPr id="680" name="Google Shape;680;p70"/>
          <p:cNvSpPr/>
          <p:nvPr/>
        </p:nvSpPr>
        <p:spPr>
          <a:xfrm>
            <a:off x="2255520" y="2156217"/>
            <a:ext cx="3657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200"/>
              <a:buFont typeface="Calibri"/>
              <a:buNone/>
            </a:pPr>
            <a:r>
              <a:rPr b="0" i="0" lang="en-ZA" sz="1500" u="none" cap="none" strike="noStrike">
                <a:solidFill>
                  <a:srgbClr val="6B6B6B"/>
                </a:solidFill>
                <a:latin typeface="Calibri"/>
                <a:ea typeface="Calibri"/>
                <a:cs typeface="Calibri"/>
                <a:sym typeface="Calibri"/>
              </a:rPr>
              <a:t>Retrieve</a:t>
            </a:r>
            <a:endParaRPr b="0" i="0" sz="1500" u="none" cap="none" strike="noStrike">
              <a:solidFill>
                <a:schemeClr val="dk1"/>
              </a:solidFill>
              <a:latin typeface="Calibri"/>
              <a:ea typeface="Calibri"/>
              <a:cs typeface="Calibri"/>
              <a:sym typeface="Calibri"/>
            </a:endParaRPr>
          </a:p>
        </p:txBody>
      </p:sp>
      <p:sp>
        <p:nvSpPr>
          <p:cNvPr id="681" name="Google Shape;681;p70"/>
          <p:cNvSpPr/>
          <p:nvPr/>
        </p:nvSpPr>
        <p:spPr>
          <a:xfrm>
            <a:off x="487680" y="2643897"/>
            <a:ext cx="5547300" cy="438900"/>
          </a:xfrm>
          <a:prstGeom prst="rect">
            <a:avLst/>
          </a:prstGeom>
          <a:solidFill>
            <a:srgbClr val="FFFFFF"/>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70"/>
          <p:cNvSpPr/>
          <p:nvPr/>
        </p:nvSpPr>
        <p:spPr>
          <a:xfrm>
            <a:off x="633984" y="2668281"/>
            <a:ext cx="16461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500"/>
              <a:buFont typeface="Calibri"/>
              <a:buNone/>
            </a:pPr>
            <a:r>
              <a:rPr b="1" i="0" lang="en-ZA" sz="1700" u="none" cap="none" strike="noStrike">
                <a:solidFill>
                  <a:srgbClr val="6B6B6B"/>
                </a:solidFill>
                <a:latin typeface="Calibri"/>
                <a:ea typeface="Calibri"/>
                <a:cs typeface="Calibri"/>
                <a:sym typeface="Calibri"/>
              </a:rPr>
              <a:t>Understand</a:t>
            </a:r>
            <a:endParaRPr b="0" i="0" sz="1700" u="none" cap="none" strike="noStrike">
              <a:solidFill>
                <a:schemeClr val="dk1"/>
              </a:solidFill>
              <a:latin typeface="Calibri"/>
              <a:ea typeface="Calibri"/>
              <a:cs typeface="Calibri"/>
              <a:sym typeface="Calibri"/>
            </a:endParaRPr>
          </a:p>
        </p:txBody>
      </p:sp>
      <p:sp>
        <p:nvSpPr>
          <p:cNvPr id="683" name="Google Shape;683;p70"/>
          <p:cNvSpPr/>
          <p:nvPr/>
        </p:nvSpPr>
        <p:spPr>
          <a:xfrm>
            <a:off x="2255520" y="2668281"/>
            <a:ext cx="3657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200"/>
              <a:buFont typeface="Calibri"/>
              <a:buNone/>
            </a:pPr>
            <a:r>
              <a:rPr b="0" i="0" lang="en-ZA" sz="1500" u="none" cap="none" strike="noStrike">
                <a:solidFill>
                  <a:srgbClr val="6B6B6B"/>
                </a:solidFill>
                <a:latin typeface="Calibri"/>
                <a:ea typeface="Calibri"/>
                <a:cs typeface="Calibri"/>
                <a:sym typeface="Calibri"/>
              </a:rPr>
              <a:t>Explain</a:t>
            </a:r>
            <a:endParaRPr b="0" i="0" sz="1500" u="none" cap="none" strike="noStrike">
              <a:solidFill>
                <a:schemeClr val="dk1"/>
              </a:solidFill>
              <a:latin typeface="Calibri"/>
              <a:ea typeface="Calibri"/>
              <a:cs typeface="Calibri"/>
              <a:sym typeface="Calibri"/>
            </a:endParaRPr>
          </a:p>
        </p:txBody>
      </p:sp>
      <p:sp>
        <p:nvSpPr>
          <p:cNvPr id="684" name="Google Shape;684;p70"/>
          <p:cNvSpPr/>
          <p:nvPr/>
        </p:nvSpPr>
        <p:spPr>
          <a:xfrm>
            <a:off x="487680" y="3155961"/>
            <a:ext cx="5547300" cy="438900"/>
          </a:xfrm>
          <a:prstGeom prst="rect">
            <a:avLst/>
          </a:prstGeom>
          <a:solidFill>
            <a:srgbClr val="E3EEF3"/>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70"/>
          <p:cNvSpPr/>
          <p:nvPr/>
        </p:nvSpPr>
        <p:spPr>
          <a:xfrm>
            <a:off x="633984" y="3180345"/>
            <a:ext cx="16461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500"/>
              <a:buFont typeface="Calibri"/>
              <a:buNone/>
            </a:pPr>
            <a:r>
              <a:rPr b="1" i="0" lang="en-ZA" sz="1700" u="none" cap="none" strike="noStrike">
                <a:solidFill>
                  <a:srgbClr val="0E6E8A"/>
                </a:solidFill>
                <a:latin typeface="Calibri"/>
                <a:ea typeface="Calibri"/>
                <a:cs typeface="Calibri"/>
                <a:sym typeface="Calibri"/>
              </a:rPr>
              <a:t>Apply</a:t>
            </a:r>
            <a:endParaRPr b="0" i="0" sz="1700" u="none" cap="none" strike="noStrike">
              <a:solidFill>
                <a:schemeClr val="dk1"/>
              </a:solidFill>
              <a:latin typeface="Calibri"/>
              <a:ea typeface="Calibri"/>
              <a:cs typeface="Calibri"/>
              <a:sym typeface="Calibri"/>
            </a:endParaRPr>
          </a:p>
        </p:txBody>
      </p:sp>
      <p:sp>
        <p:nvSpPr>
          <p:cNvPr id="686" name="Google Shape;686;p70"/>
          <p:cNvSpPr/>
          <p:nvPr/>
        </p:nvSpPr>
        <p:spPr>
          <a:xfrm>
            <a:off x="2255520" y="3180345"/>
            <a:ext cx="3657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200"/>
              <a:buFont typeface="Calibri"/>
              <a:buNone/>
            </a:pPr>
            <a:r>
              <a:rPr b="0" i="0" lang="en-ZA" sz="1500" u="none" cap="none" strike="noStrike">
                <a:solidFill>
                  <a:srgbClr val="2D2D2D"/>
                </a:solidFill>
                <a:latin typeface="Calibri"/>
                <a:ea typeface="Calibri"/>
                <a:cs typeface="Calibri"/>
                <a:sym typeface="Calibri"/>
              </a:rPr>
              <a:t>Execute a procedure </a:t>
            </a:r>
            <a:endParaRPr b="0" i="0" sz="1500" u="none" cap="none" strike="noStrike">
              <a:solidFill>
                <a:schemeClr val="dk1"/>
              </a:solidFill>
              <a:latin typeface="Calibri"/>
              <a:ea typeface="Calibri"/>
              <a:cs typeface="Calibri"/>
              <a:sym typeface="Calibri"/>
            </a:endParaRPr>
          </a:p>
        </p:txBody>
      </p:sp>
      <p:sp>
        <p:nvSpPr>
          <p:cNvPr id="687" name="Google Shape;687;p70"/>
          <p:cNvSpPr/>
          <p:nvPr/>
        </p:nvSpPr>
        <p:spPr>
          <a:xfrm>
            <a:off x="487680" y="3668025"/>
            <a:ext cx="5547300" cy="438900"/>
          </a:xfrm>
          <a:prstGeom prst="rect">
            <a:avLst/>
          </a:prstGeom>
          <a:solidFill>
            <a:srgbClr val="E3EEF3"/>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70"/>
          <p:cNvSpPr/>
          <p:nvPr/>
        </p:nvSpPr>
        <p:spPr>
          <a:xfrm>
            <a:off x="633984" y="3692409"/>
            <a:ext cx="16461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500"/>
              <a:buFont typeface="Calibri"/>
              <a:buNone/>
            </a:pPr>
            <a:r>
              <a:rPr b="1" i="0" lang="en-ZA" sz="1700" u="none" cap="none" strike="noStrike">
                <a:solidFill>
                  <a:srgbClr val="0E6E8A"/>
                </a:solidFill>
                <a:latin typeface="Calibri"/>
                <a:ea typeface="Calibri"/>
                <a:cs typeface="Calibri"/>
                <a:sym typeface="Calibri"/>
              </a:rPr>
              <a:t>Analyze</a:t>
            </a:r>
            <a:endParaRPr b="0" i="0" sz="1700" u="none" cap="none" strike="noStrike">
              <a:solidFill>
                <a:schemeClr val="dk1"/>
              </a:solidFill>
              <a:latin typeface="Calibri"/>
              <a:ea typeface="Calibri"/>
              <a:cs typeface="Calibri"/>
              <a:sym typeface="Calibri"/>
            </a:endParaRPr>
          </a:p>
        </p:txBody>
      </p:sp>
      <p:sp>
        <p:nvSpPr>
          <p:cNvPr id="689" name="Google Shape;689;p70"/>
          <p:cNvSpPr/>
          <p:nvPr/>
        </p:nvSpPr>
        <p:spPr>
          <a:xfrm>
            <a:off x="2255520" y="3692409"/>
            <a:ext cx="3657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200"/>
              <a:buFont typeface="Calibri"/>
              <a:buNone/>
            </a:pPr>
            <a:r>
              <a:rPr b="0" i="0" lang="en-ZA" sz="1500" u="none" cap="none" strike="noStrike">
                <a:solidFill>
                  <a:srgbClr val="2D2D2D"/>
                </a:solidFill>
                <a:latin typeface="Calibri"/>
                <a:ea typeface="Calibri"/>
                <a:cs typeface="Calibri"/>
                <a:sym typeface="Calibri"/>
              </a:rPr>
              <a:t>Tune hyperparameters; compare training curves</a:t>
            </a:r>
            <a:endParaRPr b="0" i="0" sz="1500" u="none" cap="none" strike="noStrike">
              <a:solidFill>
                <a:schemeClr val="dk1"/>
              </a:solidFill>
              <a:latin typeface="Calibri"/>
              <a:ea typeface="Calibri"/>
              <a:cs typeface="Calibri"/>
              <a:sym typeface="Calibri"/>
            </a:endParaRPr>
          </a:p>
        </p:txBody>
      </p:sp>
      <p:sp>
        <p:nvSpPr>
          <p:cNvPr id="690" name="Google Shape;690;p70"/>
          <p:cNvSpPr/>
          <p:nvPr/>
        </p:nvSpPr>
        <p:spPr>
          <a:xfrm>
            <a:off x="487680" y="4180089"/>
            <a:ext cx="5547300" cy="438900"/>
          </a:xfrm>
          <a:prstGeom prst="rect">
            <a:avLst/>
          </a:prstGeom>
          <a:solidFill>
            <a:srgbClr val="E3EEF3"/>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70"/>
          <p:cNvSpPr/>
          <p:nvPr/>
        </p:nvSpPr>
        <p:spPr>
          <a:xfrm>
            <a:off x="2255520" y="4204473"/>
            <a:ext cx="3657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200"/>
              <a:buFont typeface="Calibri"/>
              <a:buNone/>
            </a:pPr>
            <a:r>
              <a:rPr b="0" i="0" lang="en-ZA" sz="1500" u="none" cap="none" strike="noStrike">
                <a:solidFill>
                  <a:srgbClr val="2D2D2D"/>
                </a:solidFill>
                <a:latin typeface="Calibri"/>
                <a:ea typeface="Calibri"/>
                <a:cs typeface="Calibri"/>
                <a:sym typeface="Calibri"/>
              </a:rPr>
              <a:t>Judge competing design choices</a:t>
            </a:r>
            <a:endParaRPr b="0" i="0" sz="1500" u="none" cap="none" strike="noStrike">
              <a:solidFill>
                <a:schemeClr val="dk1"/>
              </a:solidFill>
              <a:latin typeface="Calibri"/>
              <a:ea typeface="Calibri"/>
              <a:cs typeface="Calibri"/>
              <a:sym typeface="Calibri"/>
            </a:endParaRPr>
          </a:p>
        </p:txBody>
      </p:sp>
      <p:sp>
        <p:nvSpPr>
          <p:cNvPr id="692" name="Google Shape;692;p70"/>
          <p:cNvSpPr/>
          <p:nvPr/>
        </p:nvSpPr>
        <p:spPr>
          <a:xfrm>
            <a:off x="487680" y="4692153"/>
            <a:ext cx="5547300" cy="438900"/>
          </a:xfrm>
          <a:prstGeom prst="rect">
            <a:avLst/>
          </a:prstGeom>
          <a:solidFill>
            <a:srgbClr val="E3EEF3"/>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70"/>
          <p:cNvSpPr/>
          <p:nvPr/>
        </p:nvSpPr>
        <p:spPr>
          <a:xfrm>
            <a:off x="633984" y="4716537"/>
            <a:ext cx="16461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500"/>
              <a:buFont typeface="Calibri"/>
              <a:buNone/>
            </a:pPr>
            <a:r>
              <a:rPr b="1" i="0" lang="en-ZA" sz="1700" u="none" cap="none" strike="noStrike">
                <a:solidFill>
                  <a:srgbClr val="0E6E8A"/>
                </a:solidFill>
                <a:latin typeface="Calibri"/>
                <a:ea typeface="Calibri"/>
                <a:cs typeface="Calibri"/>
                <a:sym typeface="Calibri"/>
              </a:rPr>
              <a:t>Create</a:t>
            </a:r>
            <a:endParaRPr b="0" i="0" sz="1700" u="none" cap="none" strike="noStrike">
              <a:solidFill>
                <a:schemeClr val="dk1"/>
              </a:solidFill>
              <a:latin typeface="Calibri"/>
              <a:ea typeface="Calibri"/>
              <a:cs typeface="Calibri"/>
              <a:sym typeface="Calibri"/>
            </a:endParaRPr>
          </a:p>
        </p:txBody>
      </p:sp>
      <p:sp>
        <p:nvSpPr>
          <p:cNvPr id="694" name="Google Shape;694;p70"/>
          <p:cNvSpPr/>
          <p:nvPr/>
        </p:nvSpPr>
        <p:spPr>
          <a:xfrm>
            <a:off x="2255520" y="4716537"/>
            <a:ext cx="36576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200"/>
              <a:buFont typeface="Calibri"/>
              <a:buNone/>
            </a:pPr>
            <a:r>
              <a:rPr b="0" i="0" lang="en-ZA" sz="1500" u="none" cap="none" strike="noStrike">
                <a:solidFill>
                  <a:srgbClr val="2D2D2D"/>
                </a:solidFill>
                <a:latin typeface="Calibri"/>
                <a:ea typeface="Calibri"/>
                <a:cs typeface="Calibri"/>
                <a:sym typeface="Calibri"/>
              </a:rPr>
              <a:t>Design an MLP architecture</a:t>
            </a:r>
            <a:endParaRPr b="0" i="0" sz="1500" u="none" cap="none" strike="noStrike">
              <a:solidFill>
                <a:schemeClr val="dk1"/>
              </a:solidFill>
              <a:latin typeface="Calibri"/>
              <a:ea typeface="Calibri"/>
              <a:cs typeface="Calibri"/>
              <a:sym typeface="Calibri"/>
            </a:endParaRPr>
          </a:p>
        </p:txBody>
      </p:sp>
      <p:sp>
        <p:nvSpPr>
          <p:cNvPr id="695" name="Google Shape;695;p70"/>
          <p:cNvSpPr/>
          <p:nvPr/>
        </p:nvSpPr>
        <p:spPr>
          <a:xfrm>
            <a:off x="6156960" y="2131833"/>
            <a:ext cx="5547300" cy="438900"/>
          </a:xfrm>
          <a:prstGeom prst="rect">
            <a:avLst/>
          </a:prstGeom>
          <a:solidFill>
            <a:srgbClr val="FFFFFF"/>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70"/>
          <p:cNvSpPr/>
          <p:nvPr/>
        </p:nvSpPr>
        <p:spPr>
          <a:xfrm>
            <a:off x="6303264" y="2156217"/>
            <a:ext cx="18288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500"/>
              <a:buFont typeface="Calibri"/>
              <a:buNone/>
            </a:pPr>
            <a:r>
              <a:rPr b="1" i="0" lang="en-ZA" sz="1700" u="none" cap="none" strike="noStrike">
                <a:solidFill>
                  <a:srgbClr val="6B6B6B"/>
                </a:solidFill>
                <a:latin typeface="Calibri"/>
                <a:ea typeface="Calibri"/>
                <a:cs typeface="Calibri"/>
                <a:sym typeface="Calibri"/>
              </a:rPr>
              <a:t>Receive</a:t>
            </a:r>
            <a:endParaRPr b="0" i="0" sz="1700" u="none" cap="none" strike="noStrike">
              <a:solidFill>
                <a:schemeClr val="dk1"/>
              </a:solidFill>
              <a:latin typeface="Calibri"/>
              <a:ea typeface="Calibri"/>
              <a:cs typeface="Calibri"/>
              <a:sym typeface="Calibri"/>
            </a:endParaRPr>
          </a:p>
        </p:txBody>
      </p:sp>
      <p:sp>
        <p:nvSpPr>
          <p:cNvPr id="697" name="Google Shape;697;p70"/>
          <p:cNvSpPr/>
          <p:nvPr/>
        </p:nvSpPr>
        <p:spPr>
          <a:xfrm>
            <a:off x="8107680" y="2156217"/>
            <a:ext cx="34749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200"/>
              <a:buFont typeface="Calibri"/>
              <a:buNone/>
            </a:pPr>
            <a:r>
              <a:rPr b="0" i="0" lang="en-ZA" sz="1500" u="none" cap="none" strike="noStrike">
                <a:solidFill>
                  <a:srgbClr val="6B6B6B"/>
                </a:solidFill>
                <a:latin typeface="Calibri"/>
                <a:ea typeface="Calibri"/>
                <a:cs typeface="Calibri"/>
                <a:sym typeface="Calibri"/>
              </a:rPr>
              <a:t>Listen / attend</a:t>
            </a:r>
            <a:endParaRPr b="0" i="0" sz="1500" u="none" cap="none" strike="noStrike">
              <a:solidFill>
                <a:schemeClr val="dk1"/>
              </a:solidFill>
              <a:latin typeface="Calibri"/>
              <a:ea typeface="Calibri"/>
              <a:cs typeface="Calibri"/>
              <a:sym typeface="Calibri"/>
            </a:endParaRPr>
          </a:p>
        </p:txBody>
      </p:sp>
      <p:sp>
        <p:nvSpPr>
          <p:cNvPr id="698" name="Google Shape;698;p70"/>
          <p:cNvSpPr/>
          <p:nvPr/>
        </p:nvSpPr>
        <p:spPr>
          <a:xfrm>
            <a:off x="6156960" y="2643897"/>
            <a:ext cx="5547300" cy="438900"/>
          </a:xfrm>
          <a:prstGeom prst="rect">
            <a:avLst/>
          </a:prstGeom>
          <a:solidFill>
            <a:srgbClr val="FFFFFF"/>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70"/>
          <p:cNvSpPr/>
          <p:nvPr/>
        </p:nvSpPr>
        <p:spPr>
          <a:xfrm>
            <a:off x="6303264" y="2668281"/>
            <a:ext cx="18288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500"/>
              <a:buFont typeface="Calibri"/>
              <a:buNone/>
            </a:pPr>
            <a:r>
              <a:rPr b="1" i="0" lang="en-ZA" sz="1700" u="none" cap="none" strike="noStrike">
                <a:solidFill>
                  <a:srgbClr val="6B6B6B"/>
                </a:solidFill>
                <a:latin typeface="Calibri"/>
                <a:ea typeface="Calibri"/>
                <a:cs typeface="Calibri"/>
                <a:sym typeface="Calibri"/>
              </a:rPr>
              <a:t>Respond</a:t>
            </a:r>
            <a:endParaRPr b="0" i="0" sz="1700" u="none" cap="none" strike="noStrike">
              <a:solidFill>
                <a:schemeClr val="dk1"/>
              </a:solidFill>
              <a:latin typeface="Calibri"/>
              <a:ea typeface="Calibri"/>
              <a:cs typeface="Calibri"/>
              <a:sym typeface="Calibri"/>
            </a:endParaRPr>
          </a:p>
        </p:txBody>
      </p:sp>
      <p:sp>
        <p:nvSpPr>
          <p:cNvPr id="700" name="Google Shape;700;p70"/>
          <p:cNvSpPr/>
          <p:nvPr/>
        </p:nvSpPr>
        <p:spPr>
          <a:xfrm>
            <a:off x="8107680" y="2668281"/>
            <a:ext cx="34749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200"/>
              <a:buFont typeface="Calibri"/>
              <a:buNone/>
            </a:pPr>
            <a:r>
              <a:rPr b="0" i="0" lang="en-ZA" sz="1500" u="none" cap="none" strike="noStrike">
                <a:solidFill>
                  <a:srgbClr val="6B6B6B"/>
                </a:solidFill>
                <a:latin typeface="Calibri"/>
                <a:ea typeface="Calibri"/>
                <a:cs typeface="Calibri"/>
                <a:sym typeface="Calibri"/>
              </a:rPr>
              <a:t>React / participate </a:t>
            </a:r>
            <a:endParaRPr b="0" i="0" sz="1500" u="none" cap="none" strike="noStrike">
              <a:solidFill>
                <a:schemeClr val="dk1"/>
              </a:solidFill>
              <a:latin typeface="Calibri"/>
              <a:ea typeface="Calibri"/>
              <a:cs typeface="Calibri"/>
              <a:sym typeface="Calibri"/>
            </a:endParaRPr>
          </a:p>
        </p:txBody>
      </p:sp>
      <p:sp>
        <p:nvSpPr>
          <p:cNvPr id="701" name="Google Shape;701;p70"/>
          <p:cNvSpPr/>
          <p:nvPr/>
        </p:nvSpPr>
        <p:spPr>
          <a:xfrm>
            <a:off x="6156960" y="3155961"/>
            <a:ext cx="5547300" cy="438900"/>
          </a:xfrm>
          <a:prstGeom prst="rect">
            <a:avLst/>
          </a:prstGeom>
          <a:solidFill>
            <a:srgbClr val="FDF1E0"/>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70"/>
          <p:cNvSpPr/>
          <p:nvPr/>
        </p:nvSpPr>
        <p:spPr>
          <a:xfrm>
            <a:off x="6303264" y="3180345"/>
            <a:ext cx="18288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1500"/>
              <a:buFont typeface="Calibri"/>
              <a:buNone/>
            </a:pPr>
            <a:r>
              <a:rPr b="1" i="0" lang="en-ZA" sz="1700" u="none" cap="none" strike="noStrike">
                <a:solidFill>
                  <a:srgbClr val="B45309"/>
                </a:solidFill>
                <a:latin typeface="Calibri"/>
                <a:ea typeface="Calibri"/>
                <a:cs typeface="Calibri"/>
                <a:sym typeface="Calibri"/>
              </a:rPr>
              <a:t>Value</a:t>
            </a:r>
            <a:endParaRPr b="0" i="0" sz="1700" u="none" cap="none" strike="noStrike">
              <a:solidFill>
                <a:schemeClr val="dk1"/>
              </a:solidFill>
              <a:latin typeface="Calibri"/>
              <a:ea typeface="Calibri"/>
              <a:cs typeface="Calibri"/>
              <a:sym typeface="Calibri"/>
            </a:endParaRPr>
          </a:p>
        </p:txBody>
      </p:sp>
      <p:sp>
        <p:nvSpPr>
          <p:cNvPr id="703" name="Google Shape;703;p70"/>
          <p:cNvSpPr/>
          <p:nvPr/>
        </p:nvSpPr>
        <p:spPr>
          <a:xfrm>
            <a:off x="8107680" y="3180345"/>
            <a:ext cx="34749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200"/>
              <a:buFont typeface="Calibri"/>
              <a:buNone/>
            </a:pPr>
            <a:r>
              <a:rPr b="0" i="0" lang="en-ZA" sz="1500" u="none" cap="none" strike="noStrike">
                <a:solidFill>
                  <a:schemeClr val="dk1"/>
                </a:solidFill>
                <a:latin typeface="Calibri"/>
                <a:ea typeface="Calibri"/>
                <a:cs typeface="Calibri"/>
                <a:sym typeface="Calibri"/>
              </a:rPr>
              <a:t>Demonstrate commitment to something </a:t>
            </a:r>
            <a:endParaRPr b="0" i="0" sz="1500" u="none" cap="none" strike="noStrike">
              <a:solidFill>
                <a:schemeClr val="dk1"/>
              </a:solidFill>
              <a:latin typeface="Calibri"/>
              <a:ea typeface="Calibri"/>
              <a:cs typeface="Calibri"/>
              <a:sym typeface="Calibri"/>
            </a:endParaRPr>
          </a:p>
        </p:txBody>
      </p:sp>
      <p:sp>
        <p:nvSpPr>
          <p:cNvPr id="704" name="Google Shape;704;p70"/>
          <p:cNvSpPr/>
          <p:nvPr/>
        </p:nvSpPr>
        <p:spPr>
          <a:xfrm>
            <a:off x="6156960" y="3668025"/>
            <a:ext cx="5547300" cy="438900"/>
          </a:xfrm>
          <a:prstGeom prst="rect">
            <a:avLst/>
          </a:prstGeom>
          <a:solidFill>
            <a:srgbClr val="FDF1E0"/>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70"/>
          <p:cNvSpPr/>
          <p:nvPr/>
        </p:nvSpPr>
        <p:spPr>
          <a:xfrm>
            <a:off x="6303264" y="3692409"/>
            <a:ext cx="18288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1500"/>
              <a:buFont typeface="Calibri"/>
              <a:buNone/>
            </a:pPr>
            <a:r>
              <a:rPr b="1" i="0" lang="en-ZA" sz="1700" u="none" cap="none" strike="noStrike">
                <a:solidFill>
                  <a:srgbClr val="B45309"/>
                </a:solidFill>
                <a:latin typeface="Calibri"/>
                <a:ea typeface="Calibri"/>
                <a:cs typeface="Calibri"/>
                <a:sym typeface="Calibri"/>
              </a:rPr>
              <a:t>Organize</a:t>
            </a:r>
            <a:endParaRPr b="0" i="0" sz="1700" u="none" cap="none" strike="noStrike">
              <a:solidFill>
                <a:schemeClr val="dk1"/>
              </a:solidFill>
              <a:latin typeface="Calibri"/>
              <a:ea typeface="Calibri"/>
              <a:cs typeface="Calibri"/>
              <a:sym typeface="Calibri"/>
            </a:endParaRPr>
          </a:p>
        </p:txBody>
      </p:sp>
      <p:sp>
        <p:nvSpPr>
          <p:cNvPr id="706" name="Google Shape;706;p70"/>
          <p:cNvSpPr/>
          <p:nvPr/>
        </p:nvSpPr>
        <p:spPr>
          <a:xfrm>
            <a:off x="8107680" y="3692409"/>
            <a:ext cx="34749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200"/>
              <a:buFont typeface="Calibri"/>
              <a:buNone/>
            </a:pPr>
            <a:r>
              <a:rPr b="0" i="0" lang="en-ZA" sz="1500" u="none" cap="none" strike="noStrike">
                <a:solidFill>
                  <a:schemeClr val="dk1"/>
                </a:solidFill>
                <a:latin typeface="Calibri"/>
                <a:ea typeface="Calibri"/>
                <a:cs typeface="Calibri"/>
                <a:sym typeface="Calibri"/>
              </a:rPr>
              <a:t>Integrate different values </a:t>
            </a:r>
            <a:endParaRPr b="0" i="0" sz="1500" u="none" cap="none" strike="noStrike">
              <a:solidFill>
                <a:schemeClr val="dk1"/>
              </a:solidFill>
              <a:latin typeface="Calibri"/>
              <a:ea typeface="Calibri"/>
              <a:cs typeface="Calibri"/>
              <a:sym typeface="Calibri"/>
            </a:endParaRPr>
          </a:p>
        </p:txBody>
      </p:sp>
      <p:sp>
        <p:nvSpPr>
          <p:cNvPr id="707" name="Google Shape;707;p70"/>
          <p:cNvSpPr/>
          <p:nvPr/>
        </p:nvSpPr>
        <p:spPr>
          <a:xfrm>
            <a:off x="6156960" y="4180089"/>
            <a:ext cx="5547300" cy="438900"/>
          </a:xfrm>
          <a:prstGeom prst="rect">
            <a:avLst/>
          </a:prstGeom>
          <a:solidFill>
            <a:srgbClr val="FFFFFF"/>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70"/>
          <p:cNvSpPr/>
          <p:nvPr/>
        </p:nvSpPr>
        <p:spPr>
          <a:xfrm>
            <a:off x="6303264" y="4204473"/>
            <a:ext cx="18288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500"/>
              <a:buFont typeface="Calibri"/>
              <a:buNone/>
            </a:pPr>
            <a:r>
              <a:rPr b="1" i="0" lang="en-ZA" sz="1700" u="none" cap="none" strike="noStrike">
                <a:solidFill>
                  <a:srgbClr val="6B6B6B"/>
                </a:solidFill>
                <a:latin typeface="Calibri"/>
                <a:ea typeface="Calibri"/>
                <a:cs typeface="Calibri"/>
                <a:sym typeface="Calibri"/>
              </a:rPr>
              <a:t>Internalize</a:t>
            </a:r>
            <a:endParaRPr b="0" i="0" sz="1700" u="none" cap="none" strike="noStrike">
              <a:solidFill>
                <a:schemeClr val="dk1"/>
              </a:solidFill>
              <a:latin typeface="Calibri"/>
              <a:ea typeface="Calibri"/>
              <a:cs typeface="Calibri"/>
              <a:sym typeface="Calibri"/>
            </a:endParaRPr>
          </a:p>
        </p:txBody>
      </p:sp>
      <p:sp>
        <p:nvSpPr>
          <p:cNvPr id="709" name="Google Shape;709;p70"/>
          <p:cNvSpPr/>
          <p:nvPr/>
        </p:nvSpPr>
        <p:spPr>
          <a:xfrm>
            <a:off x="8107680" y="4204473"/>
            <a:ext cx="34749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B6B"/>
              </a:buClr>
              <a:buSzPts val="1200"/>
              <a:buFont typeface="Calibri"/>
              <a:buNone/>
            </a:pPr>
            <a:r>
              <a:rPr b="0" i="0" lang="en-ZA" sz="1500" u="none" cap="none" strike="noStrike">
                <a:solidFill>
                  <a:srgbClr val="6B6B6B"/>
                </a:solidFill>
                <a:latin typeface="Calibri"/>
                <a:ea typeface="Calibri"/>
                <a:cs typeface="Calibri"/>
                <a:sym typeface="Calibri"/>
              </a:rPr>
              <a:t>Integrate values into professional practice</a:t>
            </a:r>
            <a:endParaRPr b="0" i="0" sz="1500" u="none" cap="none" strike="noStrike">
              <a:solidFill>
                <a:schemeClr val="dk1"/>
              </a:solidFill>
              <a:latin typeface="Calibri"/>
              <a:ea typeface="Calibri"/>
              <a:cs typeface="Calibri"/>
              <a:sym typeface="Calibri"/>
            </a:endParaRPr>
          </a:p>
        </p:txBody>
      </p:sp>
      <p:sp>
        <p:nvSpPr>
          <p:cNvPr id="710" name="Google Shape;710;p70"/>
          <p:cNvSpPr/>
          <p:nvPr/>
        </p:nvSpPr>
        <p:spPr>
          <a:xfrm>
            <a:off x="634004" y="4204491"/>
            <a:ext cx="1646100" cy="3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500"/>
              <a:buFont typeface="Calibri"/>
              <a:buNone/>
            </a:pPr>
            <a:r>
              <a:rPr b="1" i="0" lang="en-ZA" sz="1700" u="none" cap="none" strike="noStrike">
                <a:solidFill>
                  <a:srgbClr val="0E6E8A"/>
                </a:solidFill>
                <a:latin typeface="Calibri"/>
                <a:ea typeface="Calibri"/>
                <a:cs typeface="Calibri"/>
                <a:sym typeface="Calibri"/>
              </a:rPr>
              <a:t>Evaluate</a:t>
            </a:r>
            <a:endParaRPr b="0" i="0" sz="17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pic>
        <p:nvPicPr>
          <p:cNvPr id="716" name="Google Shape;716;p71"/>
          <p:cNvPicPr preferRelativeResize="0"/>
          <p:nvPr/>
        </p:nvPicPr>
        <p:blipFill rotWithShape="1">
          <a:blip r:embed="rId3">
            <a:alphaModFix/>
          </a:blip>
          <a:srcRect b="1810" l="-450" r="450" t="-1810"/>
          <a:stretch/>
        </p:blipFill>
        <p:spPr>
          <a:xfrm>
            <a:off x="0" y="0"/>
            <a:ext cx="12192000" cy="6858000"/>
          </a:xfrm>
          <a:prstGeom prst="rect">
            <a:avLst/>
          </a:prstGeom>
          <a:noFill/>
          <a:ln>
            <a:noFill/>
          </a:ln>
        </p:spPr>
      </p:pic>
      <p:sp>
        <p:nvSpPr>
          <p:cNvPr id="717" name="Google Shape;717;p71"/>
          <p:cNvSpPr/>
          <p:nvPr/>
        </p:nvSpPr>
        <p:spPr>
          <a:xfrm>
            <a:off x="487680" y="628386"/>
            <a:ext cx="109728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Th</a:t>
            </a:r>
            <a:r>
              <a:rPr b="1" lang="en-ZA" sz="4000">
                <a:solidFill>
                  <a:srgbClr val="2C1458"/>
                </a:solidFill>
                <a:latin typeface="Georgia"/>
                <a:ea typeface="Georgia"/>
                <a:cs typeface="Georgia"/>
                <a:sym typeface="Georgia"/>
              </a:rPr>
              <a:t>e AI Research Foundations Curriculum</a:t>
            </a:r>
            <a:endParaRPr b="0" i="0" sz="4000" u="none" cap="none" strike="noStrike">
              <a:solidFill>
                <a:schemeClr val="dk1"/>
              </a:solidFill>
              <a:latin typeface="Calibri"/>
              <a:ea typeface="Calibri"/>
              <a:cs typeface="Calibri"/>
              <a:sym typeface="Calibri"/>
            </a:endParaRPr>
          </a:p>
        </p:txBody>
      </p:sp>
      <p:pic>
        <p:nvPicPr>
          <p:cNvPr id="718" name="Google Shape;718;p71"/>
          <p:cNvPicPr preferRelativeResize="0"/>
          <p:nvPr/>
        </p:nvPicPr>
        <p:blipFill>
          <a:blip r:embed="rId4">
            <a:alphaModFix/>
          </a:blip>
          <a:stretch>
            <a:fillRect/>
          </a:stretch>
        </p:blipFill>
        <p:spPr>
          <a:xfrm>
            <a:off x="1032050" y="1298875"/>
            <a:ext cx="9742556" cy="5315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pic>
        <p:nvPicPr>
          <p:cNvPr descr="image.jpg" id="724" name="Google Shape;724;p7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25" name="Google Shape;725;p72"/>
          <p:cNvSpPr/>
          <p:nvPr/>
        </p:nvSpPr>
        <p:spPr>
          <a:xfrm>
            <a:off x="484632" y="502920"/>
            <a:ext cx="11219688" cy="6858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spcBef>
                <a:spcPts val="0"/>
              </a:spcBef>
              <a:spcAft>
                <a:spcPts val="0"/>
              </a:spcAft>
              <a:buNone/>
            </a:pPr>
            <a:r>
              <a:rPr b="1" i="0" lang="en-ZA" sz="4000" u="none" cap="none" strike="noStrike">
                <a:solidFill>
                  <a:srgbClr val="2C1458"/>
                </a:solidFill>
                <a:latin typeface="Georgia"/>
                <a:ea typeface="Georgia"/>
                <a:cs typeface="Georgia"/>
                <a:sym typeface="Georgia"/>
              </a:rPr>
              <a:t>UCL Extend: the toolkit's home</a:t>
            </a:r>
            <a:r>
              <a:rPr b="0" i="0" lang="en-ZA" sz="1800" u="none" cap="none" strike="noStrike">
                <a:solidFill>
                  <a:srgbClr val="6B6B6B"/>
                </a:solidFill>
                <a:latin typeface="Calibri"/>
                <a:ea typeface="Calibri"/>
                <a:cs typeface="Calibri"/>
                <a:sym typeface="Calibri"/>
              </a:rPr>
              <a:t>  </a:t>
            </a:r>
            <a:r>
              <a:rPr lang="en-ZA" sz="1800">
                <a:solidFill>
                  <a:srgbClr val="6B6B6B"/>
                </a:solidFill>
                <a:latin typeface="Calibri"/>
                <a:ea typeface="Calibri"/>
                <a:cs typeface="Calibri"/>
                <a:sym typeface="Calibri"/>
              </a:rPr>
              <a:t>: </a:t>
            </a:r>
            <a:r>
              <a:rPr b="0" i="0" lang="en-ZA" sz="3000" u="none" cap="none" strike="noStrike">
                <a:solidFill>
                  <a:srgbClr val="6B6B6B"/>
                </a:solidFill>
                <a:latin typeface="Calibri"/>
                <a:ea typeface="Calibri"/>
                <a:cs typeface="Calibri"/>
                <a:sym typeface="Calibri"/>
              </a:rPr>
              <a:t>extend.ucl.ac.uk</a:t>
            </a:r>
            <a:endParaRPr sz="2600"/>
          </a:p>
        </p:txBody>
      </p:sp>
      <p:pic>
        <p:nvPicPr>
          <p:cNvPr descr="ucl-extend-home-for-slide.png" id="726" name="Google Shape;726;p72"/>
          <p:cNvPicPr preferRelativeResize="0"/>
          <p:nvPr/>
        </p:nvPicPr>
        <p:blipFill rotWithShape="1">
          <a:blip r:embed="rId4">
            <a:alphaModFix/>
          </a:blip>
          <a:srcRect b="0" l="0" r="0" t="0"/>
          <a:stretch/>
        </p:blipFill>
        <p:spPr>
          <a:xfrm>
            <a:off x="978408" y="1371600"/>
            <a:ext cx="10241280" cy="5165167"/>
          </a:xfrm>
          <a:prstGeom prst="rect">
            <a:avLst/>
          </a:prstGeom>
          <a:noFill/>
          <a:ln cap="flat" cmpd="sng" w="12700">
            <a:solidFill>
              <a:srgbClr val="C9C4D4"/>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pic>
        <p:nvPicPr>
          <p:cNvPr descr="image.jpg" id="732" name="Google Shape;732;p7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33" name="Google Shape;733;p73"/>
          <p:cNvSpPr/>
          <p:nvPr/>
        </p:nvSpPr>
        <p:spPr>
          <a:xfrm>
            <a:off x="484632" y="502920"/>
            <a:ext cx="11219688" cy="6858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spcBef>
                <a:spcPts val="0"/>
              </a:spcBef>
              <a:spcAft>
                <a:spcPts val="0"/>
              </a:spcAft>
              <a:buNone/>
            </a:pPr>
            <a:r>
              <a:rPr b="1" i="0" lang="en-ZA" sz="4000" u="none" cap="none" strike="noStrike">
                <a:solidFill>
                  <a:srgbClr val="2C1458"/>
                </a:solidFill>
                <a:latin typeface="Georgia"/>
                <a:ea typeface="Georgia"/>
                <a:cs typeface="Georgia"/>
                <a:sym typeface="Georgia"/>
              </a:rPr>
              <a:t>Ten sessions, one page each</a:t>
            </a:r>
            <a:endParaRPr/>
          </a:p>
        </p:txBody>
      </p:sp>
      <p:pic>
        <p:nvPicPr>
          <p:cNvPr descr="ucl-extend-outline-col1-for-slide.png" id="734" name="Google Shape;734;p73"/>
          <p:cNvPicPr preferRelativeResize="0"/>
          <p:nvPr/>
        </p:nvPicPr>
        <p:blipFill rotWithShape="1">
          <a:blip r:embed="rId4">
            <a:alphaModFix/>
          </a:blip>
          <a:srcRect b="0" l="0" r="0" t="0"/>
          <a:stretch/>
        </p:blipFill>
        <p:spPr>
          <a:xfrm>
            <a:off x="1962717" y="1371600"/>
            <a:ext cx="3858810" cy="5074920"/>
          </a:xfrm>
          <a:prstGeom prst="rect">
            <a:avLst/>
          </a:prstGeom>
          <a:noFill/>
          <a:ln cap="flat" cmpd="sng" w="12700">
            <a:solidFill>
              <a:srgbClr val="C9C4D4"/>
            </a:solidFill>
            <a:prstDash val="solid"/>
            <a:round/>
            <a:headEnd len="sm" w="sm" type="none"/>
            <a:tailEnd len="sm" w="sm" type="none"/>
          </a:ln>
        </p:spPr>
      </p:pic>
      <p:pic>
        <p:nvPicPr>
          <p:cNvPr descr="ucl-extend-outline-col2-for-slide.png" id="735" name="Google Shape;735;p73"/>
          <p:cNvPicPr preferRelativeResize="0"/>
          <p:nvPr/>
        </p:nvPicPr>
        <p:blipFill rotWithShape="1">
          <a:blip r:embed="rId5">
            <a:alphaModFix/>
          </a:blip>
          <a:srcRect b="0" l="0" r="0" t="0"/>
          <a:stretch/>
        </p:blipFill>
        <p:spPr>
          <a:xfrm>
            <a:off x="6370167" y="1371600"/>
            <a:ext cx="3858810" cy="4519485"/>
          </a:xfrm>
          <a:prstGeom prst="rect">
            <a:avLst/>
          </a:prstGeom>
          <a:noFill/>
          <a:ln cap="flat" cmpd="sng" w="12700">
            <a:solidFill>
              <a:srgbClr val="C9C4D4"/>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pic>
        <p:nvPicPr>
          <p:cNvPr descr="image.jpg" id="741" name="Google Shape;741;p7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42" name="Google Shape;742;p74"/>
          <p:cNvSpPr/>
          <p:nvPr/>
        </p:nvSpPr>
        <p:spPr>
          <a:xfrm>
            <a:off x="484632" y="502920"/>
            <a:ext cx="11219688" cy="6858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spcBef>
                <a:spcPts val="0"/>
              </a:spcBef>
              <a:spcAft>
                <a:spcPts val="0"/>
              </a:spcAft>
              <a:buNone/>
            </a:pPr>
            <a:r>
              <a:rPr b="1" i="0" lang="en-ZA" sz="4000" u="none" cap="none" strike="noStrike">
                <a:solidFill>
                  <a:srgbClr val="2C1458"/>
                </a:solidFill>
                <a:latin typeface="Georgia"/>
                <a:ea typeface="Georgia"/>
                <a:cs typeface="Georgia"/>
                <a:sym typeface="Georgia"/>
              </a:rPr>
              <a:t>Inside a session page</a:t>
            </a:r>
            <a:r>
              <a:rPr b="0" i="0" lang="en-ZA" sz="1800" u="none" cap="none" strike="noStrike">
                <a:solidFill>
                  <a:srgbClr val="6B6B6B"/>
                </a:solidFill>
                <a:latin typeface="Calibri"/>
                <a:ea typeface="Calibri"/>
                <a:cs typeface="Calibri"/>
                <a:sym typeface="Calibri"/>
              </a:rPr>
              <a:t>   </a:t>
            </a:r>
            <a:r>
              <a:rPr b="0" i="0" lang="en-ZA" sz="2200" u="none" cap="none" strike="noStrike">
                <a:solidFill>
                  <a:srgbClr val="6B6B6B"/>
                </a:solidFill>
                <a:latin typeface="Calibri"/>
                <a:ea typeface="Calibri"/>
                <a:cs typeface="Calibri"/>
                <a:sym typeface="Calibri"/>
              </a:rPr>
              <a:t>Session 5 shown</a:t>
            </a:r>
            <a:endParaRPr sz="1800"/>
          </a:p>
        </p:txBody>
      </p:sp>
      <p:pic>
        <p:nvPicPr>
          <p:cNvPr descr="ucl-extend-s5-slides-for-slide.png" id="743" name="Google Shape;743;p74"/>
          <p:cNvPicPr preferRelativeResize="0"/>
          <p:nvPr/>
        </p:nvPicPr>
        <p:blipFill rotWithShape="1">
          <a:blip r:embed="rId4">
            <a:alphaModFix/>
          </a:blip>
          <a:srcRect b="0" l="0" r="0" t="0"/>
          <a:stretch/>
        </p:blipFill>
        <p:spPr>
          <a:xfrm>
            <a:off x="1523847" y="1353312"/>
            <a:ext cx="9144000" cy="1711196"/>
          </a:xfrm>
          <a:prstGeom prst="rect">
            <a:avLst/>
          </a:prstGeom>
          <a:noFill/>
          <a:ln cap="flat" cmpd="sng" w="12700">
            <a:solidFill>
              <a:srgbClr val="C9C4D4"/>
            </a:solidFill>
            <a:prstDash val="solid"/>
            <a:round/>
            <a:headEnd len="sm" w="sm" type="none"/>
            <a:tailEnd len="sm" w="sm" type="none"/>
          </a:ln>
        </p:spPr>
      </p:pic>
      <p:pic>
        <p:nvPicPr>
          <p:cNvPr descr="ucl-extend-s5-activities-for-slide.png" id="744" name="Google Shape;744;p74"/>
          <p:cNvPicPr preferRelativeResize="0"/>
          <p:nvPr/>
        </p:nvPicPr>
        <p:blipFill rotWithShape="1">
          <a:blip r:embed="rId5">
            <a:alphaModFix/>
          </a:blip>
          <a:srcRect b="0" l="0" r="0" t="0"/>
          <a:stretch/>
        </p:blipFill>
        <p:spPr>
          <a:xfrm>
            <a:off x="1523847" y="3174236"/>
            <a:ext cx="9144000" cy="1532809"/>
          </a:xfrm>
          <a:prstGeom prst="rect">
            <a:avLst/>
          </a:prstGeom>
          <a:noFill/>
          <a:ln cap="flat" cmpd="sng" w="12700">
            <a:solidFill>
              <a:srgbClr val="C9C4D4"/>
            </a:solidFill>
            <a:prstDash val="solid"/>
            <a:round/>
            <a:headEnd len="sm" w="sm" type="none"/>
            <a:tailEnd len="sm" w="sm" type="none"/>
          </a:ln>
        </p:spPr>
      </p:pic>
      <p:sp>
        <p:nvSpPr>
          <p:cNvPr id="745" name="Google Shape;745;p74"/>
          <p:cNvSpPr/>
          <p:nvPr/>
        </p:nvSpPr>
        <p:spPr>
          <a:xfrm>
            <a:off x="1386687" y="4798485"/>
            <a:ext cx="9144000" cy="274200"/>
          </a:xfrm>
          <a:prstGeom prst="roundRect">
            <a:avLst>
              <a:gd fmla="val 16667" name="adj"/>
            </a:avLst>
          </a:prstGeom>
          <a:noFill/>
          <a:ln>
            <a:noFill/>
          </a:ln>
        </p:spPr>
        <p:txBody>
          <a:bodyPr anchorCtr="0" anchor="ctr" bIns="36575" lIns="137150" spcFirstLastPara="1" rIns="137150" wrap="square" tIns="36575">
            <a:noAutofit/>
          </a:bodyPr>
          <a:lstStyle/>
          <a:p>
            <a:pPr indent="0" lvl="0" marL="0" marR="0" rtl="0" algn="l">
              <a:spcBef>
                <a:spcPts val="0"/>
              </a:spcBef>
              <a:spcAft>
                <a:spcPts val="0"/>
              </a:spcAft>
              <a:buNone/>
            </a:pPr>
            <a:r>
              <a:rPr b="1" i="0" lang="en-ZA" sz="1900" u="none" cap="none" strike="noStrike">
                <a:solidFill>
                  <a:srgbClr val="2C1458"/>
                </a:solidFill>
                <a:latin typeface="Calibri"/>
                <a:ea typeface="Calibri"/>
                <a:cs typeface="Calibri"/>
                <a:sym typeface="Calibri"/>
              </a:rPr>
              <a:t>RI activities</a:t>
            </a:r>
            <a:r>
              <a:rPr b="0" i="0" lang="en-ZA" sz="1800" u="none" cap="none" strike="noStrike">
                <a:solidFill>
                  <a:srgbClr val="6B6B6B"/>
                </a:solidFill>
                <a:latin typeface="Calibri"/>
                <a:ea typeface="Calibri"/>
                <a:cs typeface="Calibri"/>
                <a:sym typeface="Calibri"/>
              </a:rPr>
              <a:t>   5.8 to 5.11, further down the same Activities list</a:t>
            </a:r>
            <a:endParaRPr sz="1900"/>
          </a:p>
        </p:txBody>
      </p:sp>
      <p:pic>
        <p:nvPicPr>
          <p:cNvPr descr="ucl-extend-s5-ri-row-for-slide.png" id="746" name="Google Shape;746;p74"/>
          <p:cNvPicPr preferRelativeResize="0"/>
          <p:nvPr/>
        </p:nvPicPr>
        <p:blipFill rotWithShape="1">
          <a:blip r:embed="rId6">
            <a:alphaModFix/>
          </a:blip>
          <a:srcRect b="0" l="0" r="0" t="0"/>
          <a:stretch/>
        </p:blipFill>
        <p:spPr>
          <a:xfrm>
            <a:off x="1523847" y="5109381"/>
            <a:ext cx="9144000" cy="1083537"/>
          </a:xfrm>
          <a:prstGeom prst="rect">
            <a:avLst/>
          </a:prstGeom>
          <a:noFill/>
          <a:ln cap="flat" cmpd="sng" w="12700">
            <a:solidFill>
              <a:srgbClr val="C9C4D4"/>
            </a:solidFill>
            <a:prstDash val="solid"/>
            <a:round/>
            <a:headEnd len="sm" w="sm" type="none"/>
            <a:tailEnd len="sm" w="sm" type="none"/>
          </a:ln>
        </p:spPr>
      </p:pic>
      <p:sp>
        <p:nvSpPr>
          <p:cNvPr id="747" name="Google Shape;747;p74"/>
          <p:cNvSpPr/>
          <p:nvPr/>
        </p:nvSpPr>
        <p:spPr>
          <a:xfrm>
            <a:off x="1512127" y="6311687"/>
            <a:ext cx="9287100" cy="493500"/>
          </a:xfrm>
          <a:prstGeom prst="roundRect">
            <a:avLst>
              <a:gd fmla="val 16667" name="adj"/>
            </a:avLst>
          </a:prstGeom>
          <a:solidFill>
            <a:srgbClr val="F4F2F8"/>
          </a:solidFill>
          <a:ln>
            <a:noFill/>
          </a:ln>
        </p:spPr>
        <p:txBody>
          <a:bodyPr anchorCtr="0" anchor="ctr" bIns="36575" lIns="137150" spcFirstLastPara="1" rIns="137150" wrap="square" tIns="36575">
            <a:noAutofit/>
          </a:bodyPr>
          <a:lstStyle/>
          <a:p>
            <a:pPr indent="0" lvl="0" marL="0" marR="0" rtl="0" algn="l">
              <a:spcBef>
                <a:spcPts val="0"/>
              </a:spcBef>
              <a:spcAft>
                <a:spcPts val="0"/>
              </a:spcAft>
              <a:buNone/>
            </a:pPr>
            <a:r>
              <a:rPr b="1" i="0" lang="en-ZA" sz="1800" u="none" cap="none" strike="noStrike">
                <a:solidFill>
                  <a:srgbClr val="2C1458"/>
                </a:solidFill>
                <a:latin typeface="Calibri"/>
                <a:ea typeface="Calibri"/>
                <a:cs typeface="Calibri"/>
                <a:sym typeface="Calibri"/>
              </a:rPr>
              <a:t>Every session page: </a:t>
            </a:r>
            <a:r>
              <a:rPr b="0" i="0" lang="en-ZA" sz="1800" u="none" cap="none" strike="noStrike">
                <a:solidFill>
                  <a:srgbClr val="2D2D2D"/>
                </a:solidFill>
                <a:latin typeface="Calibri"/>
                <a:ea typeface="Calibri"/>
                <a:cs typeface="Calibri"/>
                <a:sym typeface="Calibri"/>
              </a:rPr>
              <a:t>intro and aims, spotlight pre-learning, slide-deck, ten AI and RI activity files, lab notebooks, learning designs.</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pic>
        <p:nvPicPr>
          <p:cNvPr id="753" name="Google Shape;753;p7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54" name="Google Shape;754;p75"/>
          <p:cNvSpPr/>
          <p:nvPr/>
        </p:nvSpPr>
        <p:spPr>
          <a:xfrm>
            <a:off x="413500" y="2149876"/>
            <a:ext cx="3666000" cy="3594000"/>
          </a:xfrm>
          <a:prstGeom prst="roundRect">
            <a:avLst>
              <a:gd fmla="val 3279" name="adj"/>
            </a:avLst>
          </a:prstGeom>
          <a:solidFill>
            <a:srgbClr val="F5F2FA"/>
          </a:solidFill>
          <a:ln>
            <a:noFill/>
          </a:ln>
          <a:effectLst>
            <a:outerShdw blurRad="118533" rotWithShape="0" algn="bl" dir="5400000" dist="508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75"/>
          <p:cNvSpPr/>
          <p:nvPr/>
        </p:nvSpPr>
        <p:spPr>
          <a:xfrm>
            <a:off x="743276" y="2489525"/>
            <a:ext cx="717900" cy="739500"/>
          </a:xfrm>
          <a:prstGeom prst="ellipse">
            <a:avLst/>
          </a:prstGeom>
          <a:solidFill>
            <a:srgbClr val="2E1B5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56" name="Google Shape;756;p75"/>
          <p:cNvPicPr preferRelativeResize="0"/>
          <p:nvPr/>
        </p:nvPicPr>
        <p:blipFill rotWithShape="1">
          <a:blip r:embed="rId4">
            <a:alphaModFix/>
          </a:blip>
          <a:srcRect b="0" l="0" r="0" t="0"/>
          <a:stretch/>
        </p:blipFill>
        <p:spPr>
          <a:xfrm>
            <a:off x="937068" y="2689123"/>
            <a:ext cx="330165" cy="340058"/>
          </a:xfrm>
          <a:prstGeom prst="rect">
            <a:avLst/>
          </a:prstGeom>
          <a:noFill/>
          <a:ln>
            <a:noFill/>
          </a:ln>
        </p:spPr>
      </p:pic>
      <p:sp>
        <p:nvSpPr>
          <p:cNvPr id="757" name="Google Shape;757;p75"/>
          <p:cNvSpPr/>
          <p:nvPr/>
        </p:nvSpPr>
        <p:spPr>
          <a:xfrm>
            <a:off x="743276" y="3368639"/>
            <a:ext cx="3084300" cy="41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1B52"/>
              </a:buClr>
              <a:buSzPts val="2300"/>
              <a:buFont typeface="Cambria"/>
              <a:buNone/>
            </a:pPr>
            <a:r>
              <a:rPr b="1" i="0" lang="en-ZA" sz="2300" u="none" cap="none" strike="noStrike">
                <a:solidFill>
                  <a:srgbClr val="2E1B52"/>
                </a:solidFill>
                <a:latin typeface="Cambria"/>
                <a:ea typeface="Cambria"/>
                <a:cs typeface="Cambria"/>
                <a:sym typeface="Cambria"/>
              </a:rPr>
              <a:t>Slides</a:t>
            </a:r>
            <a:endParaRPr b="0" i="0" sz="2300" u="none" cap="none" strike="noStrike">
              <a:solidFill>
                <a:srgbClr val="000000"/>
              </a:solidFill>
              <a:latin typeface="Calibri"/>
              <a:ea typeface="Calibri"/>
              <a:cs typeface="Calibri"/>
              <a:sym typeface="Calibri"/>
            </a:endParaRPr>
          </a:p>
        </p:txBody>
      </p:sp>
      <p:sp>
        <p:nvSpPr>
          <p:cNvPr id="758" name="Google Shape;758;p75"/>
          <p:cNvSpPr/>
          <p:nvPr/>
        </p:nvSpPr>
        <p:spPr>
          <a:xfrm>
            <a:off x="743276" y="3785463"/>
            <a:ext cx="3084300" cy="29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821A"/>
              </a:buClr>
              <a:buSzPts val="1600"/>
              <a:buFont typeface="Calibri"/>
              <a:buNone/>
            </a:pPr>
            <a:r>
              <a:rPr b="1" i="0" lang="en-ZA" sz="1600" u="none" cap="none" strike="noStrike">
                <a:solidFill>
                  <a:srgbClr val="B5821A"/>
                </a:solidFill>
                <a:latin typeface="Calibri"/>
                <a:ea typeface="Calibri"/>
                <a:cs typeface="Calibri"/>
                <a:sym typeface="Calibri"/>
              </a:rPr>
              <a:t>10 decks</a:t>
            </a:r>
            <a:endParaRPr b="0" i="0" sz="1600" u="none" cap="none" strike="noStrike">
              <a:solidFill>
                <a:srgbClr val="000000"/>
              </a:solidFill>
              <a:latin typeface="Calibri"/>
              <a:ea typeface="Calibri"/>
              <a:cs typeface="Calibri"/>
              <a:sym typeface="Calibri"/>
            </a:endParaRPr>
          </a:p>
        </p:txBody>
      </p:sp>
      <p:sp>
        <p:nvSpPr>
          <p:cNvPr id="759" name="Google Shape;759;p75"/>
          <p:cNvSpPr/>
          <p:nvPr/>
        </p:nvSpPr>
        <p:spPr>
          <a:xfrm>
            <a:off x="743276" y="4147854"/>
            <a:ext cx="3065100" cy="9492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A3A3A"/>
              </a:buClr>
              <a:buSzPts val="1700"/>
              <a:buFont typeface="Calibri"/>
              <a:buNone/>
            </a:pPr>
            <a:r>
              <a:rPr b="0" i="0" lang="en-ZA" sz="2000" u="none" cap="none" strike="noStrike">
                <a:solidFill>
                  <a:srgbClr val="3A3A3A"/>
                </a:solidFill>
                <a:latin typeface="Calibri"/>
                <a:ea typeface="Calibri"/>
                <a:cs typeface="Calibri"/>
                <a:sym typeface="Calibri"/>
              </a:rPr>
              <a:t>One ready-to-present lecturer deck for every session, 0 through 9.</a:t>
            </a:r>
            <a:endParaRPr b="0" i="0" sz="2000" u="none" cap="none" strike="noStrike">
              <a:solidFill>
                <a:srgbClr val="000000"/>
              </a:solidFill>
              <a:latin typeface="Calibri"/>
              <a:ea typeface="Calibri"/>
              <a:cs typeface="Calibri"/>
              <a:sym typeface="Calibri"/>
            </a:endParaRPr>
          </a:p>
        </p:txBody>
      </p:sp>
      <p:sp>
        <p:nvSpPr>
          <p:cNvPr id="760" name="Google Shape;760;p75"/>
          <p:cNvSpPr/>
          <p:nvPr/>
        </p:nvSpPr>
        <p:spPr>
          <a:xfrm>
            <a:off x="4370825" y="2149875"/>
            <a:ext cx="3666000" cy="3594000"/>
          </a:xfrm>
          <a:prstGeom prst="roundRect">
            <a:avLst>
              <a:gd fmla="val 3279" name="adj"/>
            </a:avLst>
          </a:prstGeom>
          <a:solidFill>
            <a:srgbClr val="F5F2FA"/>
          </a:solidFill>
          <a:ln>
            <a:noFill/>
          </a:ln>
          <a:effectLst>
            <a:outerShdw blurRad="118533" rotWithShape="0" algn="bl" dir="5400000" dist="508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75"/>
          <p:cNvSpPr/>
          <p:nvPr/>
        </p:nvSpPr>
        <p:spPr>
          <a:xfrm>
            <a:off x="4700593" y="2489525"/>
            <a:ext cx="717900" cy="739500"/>
          </a:xfrm>
          <a:prstGeom prst="ellipse">
            <a:avLst/>
          </a:prstGeom>
          <a:solidFill>
            <a:srgbClr val="2E1B5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62" name="Google Shape;762;p75"/>
          <p:cNvPicPr preferRelativeResize="0"/>
          <p:nvPr/>
        </p:nvPicPr>
        <p:blipFill rotWithShape="1">
          <a:blip r:embed="rId5">
            <a:alphaModFix/>
          </a:blip>
          <a:srcRect b="0" l="0" r="0" t="0"/>
          <a:stretch/>
        </p:blipFill>
        <p:spPr>
          <a:xfrm>
            <a:off x="4894385" y="2689123"/>
            <a:ext cx="330165" cy="340058"/>
          </a:xfrm>
          <a:prstGeom prst="rect">
            <a:avLst/>
          </a:prstGeom>
          <a:noFill/>
          <a:ln>
            <a:noFill/>
          </a:ln>
        </p:spPr>
      </p:pic>
      <p:sp>
        <p:nvSpPr>
          <p:cNvPr id="763" name="Google Shape;763;p75"/>
          <p:cNvSpPr/>
          <p:nvPr/>
        </p:nvSpPr>
        <p:spPr>
          <a:xfrm>
            <a:off x="4700593" y="3368639"/>
            <a:ext cx="3084300" cy="41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1B52"/>
              </a:buClr>
              <a:buSzPts val="2300"/>
              <a:buFont typeface="Cambria"/>
              <a:buNone/>
            </a:pPr>
            <a:r>
              <a:rPr b="1" i="0" lang="en-ZA" sz="2300" u="none" cap="none" strike="noStrike">
                <a:solidFill>
                  <a:srgbClr val="2E1B52"/>
                </a:solidFill>
                <a:latin typeface="Cambria"/>
                <a:ea typeface="Cambria"/>
                <a:cs typeface="Cambria"/>
                <a:sym typeface="Cambria"/>
              </a:rPr>
              <a:t>Learning Activities </a:t>
            </a:r>
            <a:endParaRPr b="0" i="0" sz="2300" u="none" cap="none" strike="noStrike">
              <a:solidFill>
                <a:srgbClr val="000000"/>
              </a:solidFill>
              <a:latin typeface="Calibri"/>
              <a:ea typeface="Calibri"/>
              <a:cs typeface="Calibri"/>
              <a:sym typeface="Calibri"/>
            </a:endParaRPr>
          </a:p>
        </p:txBody>
      </p:sp>
      <p:sp>
        <p:nvSpPr>
          <p:cNvPr id="764" name="Google Shape;764;p75"/>
          <p:cNvSpPr/>
          <p:nvPr/>
        </p:nvSpPr>
        <p:spPr>
          <a:xfrm>
            <a:off x="4700593" y="3823991"/>
            <a:ext cx="3084300" cy="29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821A"/>
              </a:buClr>
              <a:buSzPts val="1600"/>
              <a:buFont typeface="Calibri"/>
              <a:buNone/>
            </a:pPr>
            <a:r>
              <a:rPr b="1" i="0" lang="en-ZA" sz="1600" u="none" cap="none" strike="noStrike">
                <a:solidFill>
                  <a:srgbClr val="B5821A"/>
                </a:solidFill>
                <a:latin typeface="Calibri"/>
                <a:ea typeface="Calibri"/>
                <a:cs typeface="Calibri"/>
                <a:sym typeface="Calibri"/>
              </a:rPr>
              <a:t>10 session pages</a:t>
            </a:r>
            <a:endParaRPr/>
          </a:p>
        </p:txBody>
      </p:sp>
      <p:sp>
        <p:nvSpPr>
          <p:cNvPr id="765" name="Google Shape;765;p75"/>
          <p:cNvSpPr/>
          <p:nvPr/>
        </p:nvSpPr>
        <p:spPr>
          <a:xfrm>
            <a:off x="4700593" y="4147854"/>
            <a:ext cx="3065100" cy="9492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A3A3A"/>
              </a:buClr>
              <a:buSzPts val="1700"/>
              <a:buFont typeface="Calibri"/>
              <a:buNone/>
            </a:pPr>
            <a:r>
              <a:rPr b="0" i="0" lang="en-ZA" sz="1900" u="none" cap="none" strike="noStrike">
                <a:solidFill>
                  <a:srgbClr val="3A3A3A"/>
                </a:solidFill>
                <a:latin typeface="Calibri"/>
                <a:ea typeface="Calibri"/>
                <a:cs typeface="Calibri"/>
                <a:sym typeface="Calibri"/>
              </a:rPr>
              <a:t>AI and Responsible Innovation activities for each session, in Short, Medium and Long formats, wrapped in handbook-style guidance.</a:t>
            </a:r>
            <a:endParaRPr sz="1600"/>
          </a:p>
        </p:txBody>
      </p:sp>
      <p:sp>
        <p:nvSpPr>
          <p:cNvPr id="766" name="Google Shape;766;p75"/>
          <p:cNvSpPr/>
          <p:nvPr/>
        </p:nvSpPr>
        <p:spPr>
          <a:xfrm>
            <a:off x="8328125" y="2149877"/>
            <a:ext cx="3666000" cy="3594000"/>
          </a:xfrm>
          <a:prstGeom prst="roundRect">
            <a:avLst>
              <a:gd fmla="val 3279" name="adj"/>
            </a:avLst>
          </a:prstGeom>
          <a:solidFill>
            <a:srgbClr val="F5F2FA"/>
          </a:solidFill>
          <a:ln>
            <a:noFill/>
          </a:ln>
          <a:effectLst>
            <a:outerShdw blurRad="118533" rotWithShape="0" algn="bl" dir="5400000" dist="508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75"/>
          <p:cNvSpPr/>
          <p:nvPr/>
        </p:nvSpPr>
        <p:spPr>
          <a:xfrm>
            <a:off x="8657910" y="2489525"/>
            <a:ext cx="717900" cy="739500"/>
          </a:xfrm>
          <a:prstGeom prst="ellipse">
            <a:avLst/>
          </a:prstGeom>
          <a:solidFill>
            <a:srgbClr val="2E1B5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68" name="Google Shape;768;p75"/>
          <p:cNvPicPr preferRelativeResize="0"/>
          <p:nvPr/>
        </p:nvPicPr>
        <p:blipFill rotWithShape="1">
          <a:blip r:embed="rId6">
            <a:alphaModFix/>
          </a:blip>
          <a:srcRect b="0" l="0" r="0" t="0"/>
          <a:stretch/>
        </p:blipFill>
        <p:spPr>
          <a:xfrm>
            <a:off x="8851702" y="2689123"/>
            <a:ext cx="330165" cy="340058"/>
          </a:xfrm>
          <a:prstGeom prst="rect">
            <a:avLst/>
          </a:prstGeom>
          <a:noFill/>
          <a:ln>
            <a:noFill/>
          </a:ln>
        </p:spPr>
      </p:pic>
      <p:sp>
        <p:nvSpPr>
          <p:cNvPr id="769" name="Google Shape;769;p75"/>
          <p:cNvSpPr/>
          <p:nvPr/>
        </p:nvSpPr>
        <p:spPr>
          <a:xfrm>
            <a:off x="8657910" y="3368639"/>
            <a:ext cx="3084300" cy="41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1B52"/>
              </a:buClr>
              <a:buSzPts val="2300"/>
              <a:buFont typeface="Cambria"/>
              <a:buNone/>
            </a:pPr>
            <a:r>
              <a:rPr b="1" i="0" lang="en-ZA" sz="2300" u="none" cap="none" strike="noStrike">
                <a:solidFill>
                  <a:srgbClr val="2E1B52"/>
                </a:solidFill>
                <a:latin typeface="Cambria"/>
                <a:ea typeface="Cambria"/>
                <a:cs typeface="Cambria"/>
                <a:sym typeface="Cambria"/>
              </a:rPr>
              <a:t>Notebooks</a:t>
            </a:r>
            <a:endParaRPr b="0" i="0" sz="2300" u="none" cap="none" strike="noStrike">
              <a:solidFill>
                <a:srgbClr val="000000"/>
              </a:solidFill>
              <a:latin typeface="Calibri"/>
              <a:ea typeface="Calibri"/>
              <a:cs typeface="Calibri"/>
              <a:sym typeface="Calibri"/>
            </a:endParaRPr>
          </a:p>
        </p:txBody>
      </p:sp>
      <p:sp>
        <p:nvSpPr>
          <p:cNvPr id="770" name="Google Shape;770;p75"/>
          <p:cNvSpPr/>
          <p:nvPr/>
        </p:nvSpPr>
        <p:spPr>
          <a:xfrm>
            <a:off x="8657910" y="3823991"/>
            <a:ext cx="3084300" cy="29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821A"/>
              </a:buClr>
              <a:buSzPts val="1600"/>
              <a:buFont typeface="Calibri"/>
              <a:buNone/>
            </a:pPr>
            <a:r>
              <a:rPr b="1" i="0" lang="en-ZA" sz="1600" u="none" cap="none" strike="noStrike">
                <a:solidFill>
                  <a:srgbClr val="B5821A"/>
                </a:solidFill>
                <a:latin typeface="Calibri"/>
                <a:ea typeface="Calibri"/>
                <a:cs typeface="Calibri"/>
                <a:sym typeface="Calibri"/>
              </a:rPr>
              <a:t>21 files</a:t>
            </a:r>
            <a:endParaRPr b="0" i="0" sz="1600" u="none" cap="none" strike="noStrike">
              <a:solidFill>
                <a:srgbClr val="000000"/>
              </a:solidFill>
              <a:latin typeface="Calibri"/>
              <a:ea typeface="Calibri"/>
              <a:cs typeface="Calibri"/>
              <a:sym typeface="Calibri"/>
            </a:endParaRPr>
          </a:p>
        </p:txBody>
      </p:sp>
      <p:sp>
        <p:nvSpPr>
          <p:cNvPr id="771" name="Google Shape;771;p75"/>
          <p:cNvSpPr/>
          <p:nvPr/>
        </p:nvSpPr>
        <p:spPr>
          <a:xfrm>
            <a:off x="8657910" y="4147854"/>
            <a:ext cx="3065100" cy="9492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A3A3A"/>
              </a:buClr>
              <a:buSzPts val="1700"/>
              <a:buFont typeface="Calibri"/>
              <a:buNone/>
            </a:pPr>
            <a:r>
              <a:rPr b="0" i="0" lang="en-ZA" sz="2000" u="none" cap="none" strike="noStrike">
                <a:solidFill>
                  <a:srgbClr val="3A3A3A"/>
                </a:solidFill>
                <a:latin typeface="Calibri"/>
                <a:ea typeface="Calibri"/>
                <a:cs typeface="Calibri"/>
                <a:sym typeface="Calibri"/>
              </a:rPr>
              <a:t>Jupyter labs for the AI Long activities </a:t>
            </a:r>
            <a:r>
              <a:rPr lang="en-ZA" sz="2000">
                <a:solidFill>
                  <a:srgbClr val="3A3A3A"/>
                </a:solidFill>
                <a:latin typeface="Calibri"/>
                <a:ea typeface="Calibri"/>
                <a:cs typeface="Calibri"/>
                <a:sym typeface="Calibri"/>
              </a:rPr>
              <a:t>:</a:t>
            </a:r>
            <a:r>
              <a:rPr b="0" i="0" lang="en-ZA" sz="2000" u="none" cap="none" strike="noStrike">
                <a:solidFill>
                  <a:srgbClr val="3A3A3A"/>
                </a:solidFill>
                <a:latin typeface="Calibri"/>
                <a:ea typeface="Calibri"/>
                <a:cs typeface="Calibri"/>
                <a:sym typeface="Calibri"/>
              </a:rPr>
              <a:t> in Student and Teacher versions  plus real datasets.</a:t>
            </a:r>
            <a:endParaRPr b="0" i="0" sz="2000" u="none" cap="none" strike="noStrike">
              <a:solidFill>
                <a:srgbClr val="000000"/>
              </a:solidFill>
              <a:latin typeface="Calibri"/>
              <a:ea typeface="Calibri"/>
              <a:cs typeface="Calibri"/>
              <a:sym typeface="Calibri"/>
            </a:endParaRPr>
          </a:p>
        </p:txBody>
      </p:sp>
      <p:sp>
        <p:nvSpPr>
          <p:cNvPr id="772" name="Google Shape;772;p75"/>
          <p:cNvSpPr/>
          <p:nvPr/>
        </p:nvSpPr>
        <p:spPr>
          <a:xfrm>
            <a:off x="487680" y="314721"/>
            <a:ext cx="109728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One home for everything </a:t>
            </a:r>
            <a:r>
              <a:rPr b="1" lang="en-ZA" sz="4000">
                <a:solidFill>
                  <a:srgbClr val="2C1458"/>
                </a:solidFill>
                <a:latin typeface="Georgia"/>
                <a:ea typeface="Georgia"/>
                <a:cs typeface="Georgia"/>
                <a:sym typeface="Georgia"/>
              </a:rPr>
              <a:t>: </a:t>
            </a:r>
            <a:r>
              <a:rPr b="1" i="0" lang="en-ZA" sz="4000" u="none" cap="none" strike="noStrike">
                <a:solidFill>
                  <a:srgbClr val="2C1458"/>
                </a:solidFill>
                <a:latin typeface="Georgia"/>
                <a:ea typeface="Georgia"/>
                <a:cs typeface="Georgia"/>
                <a:sym typeface="Georgia"/>
              </a:rPr>
              <a:t>UCL Extend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pic>
        <p:nvPicPr>
          <p:cNvPr id="778" name="Google Shape;778;p7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79" name="Google Shape;779;p76"/>
          <p:cNvSpPr/>
          <p:nvPr/>
        </p:nvSpPr>
        <p:spPr>
          <a:xfrm>
            <a:off x="487680" y="314721"/>
            <a:ext cx="109728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Toolkit activities: AI &amp; RI</a:t>
            </a:r>
            <a:endParaRPr/>
          </a:p>
        </p:txBody>
      </p:sp>
      <p:sp>
        <p:nvSpPr>
          <p:cNvPr id="780" name="Google Shape;780;p76"/>
          <p:cNvSpPr/>
          <p:nvPr/>
        </p:nvSpPr>
        <p:spPr>
          <a:xfrm>
            <a:off x="668233" y="2465667"/>
            <a:ext cx="5292000" cy="2781900"/>
          </a:xfrm>
          <a:prstGeom prst="roundRect">
            <a:avLst>
              <a:gd fmla="val 2985" name="adj"/>
            </a:avLst>
          </a:prstGeom>
          <a:solidFill>
            <a:srgbClr val="F5F2FA"/>
          </a:solidFill>
          <a:ln>
            <a:noFill/>
          </a:ln>
          <a:effectLst>
            <a:outerShdw blurRad="118533" rotWithShape="0" algn="bl" dir="5400000" dist="508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76"/>
          <p:cNvSpPr/>
          <p:nvPr/>
        </p:nvSpPr>
        <p:spPr>
          <a:xfrm>
            <a:off x="993900" y="2806100"/>
            <a:ext cx="705600" cy="670500"/>
          </a:xfrm>
          <a:prstGeom prst="ellipse">
            <a:avLst/>
          </a:prstGeom>
          <a:solidFill>
            <a:srgbClr val="3F6FB0"/>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82" name="Google Shape;782;p76"/>
          <p:cNvPicPr preferRelativeResize="0"/>
          <p:nvPr/>
        </p:nvPicPr>
        <p:blipFill rotWithShape="1">
          <a:blip r:embed="rId4">
            <a:alphaModFix/>
          </a:blip>
          <a:srcRect b="0" l="0" r="0" t="0"/>
          <a:stretch/>
        </p:blipFill>
        <p:spPr>
          <a:xfrm>
            <a:off x="1184415" y="2987156"/>
            <a:ext cx="324580" cy="308465"/>
          </a:xfrm>
          <a:prstGeom prst="rect">
            <a:avLst/>
          </a:prstGeom>
          <a:noFill/>
          <a:ln>
            <a:noFill/>
          </a:ln>
        </p:spPr>
      </p:pic>
      <p:sp>
        <p:nvSpPr>
          <p:cNvPr id="783" name="Google Shape;783;p76"/>
          <p:cNvSpPr/>
          <p:nvPr/>
        </p:nvSpPr>
        <p:spPr>
          <a:xfrm>
            <a:off x="1862341" y="2806104"/>
            <a:ext cx="3844500" cy="42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1B52"/>
              </a:buClr>
              <a:buSzPts val="2400"/>
              <a:buFont typeface="Cambria"/>
              <a:buNone/>
            </a:pPr>
            <a:r>
              <a:rPr b="1" i="0" lang="en-ZA" sz="2400" u="none" cap="none" strike="noStrike">
                <a:solidFill>
                  <a:srgbClr val="2E1B52"/>
                </a:solidFill>
                <a:latin typeface="Cambria"/>
                <a:ea typeface="Cambria"/>
                <a:cs typeface="Cambria"/>
                <a:sym typeface="Cambria"/>
              </a:rPr>
              <a:t>AI</a:t>
            </a:r>
            <a:endParaRPr b="0" i="0" sz="2400" u="none" cap="none" strike="noStrike">
              <a:solidFill>
                <a:srgbClr val="000000"/>
              </a:solidFill>
              <a:latin typeface="Calibri"/>
              <a:ea typeface="Calibri"/>
              <a:cs typeface="Calibri"/>
              <a:sym typeface="Calibri"/>
            </a:endParaRPr>
          </a:p>
        </p:txBody>
      </p:sp>
      <p:sp>
        <p:nvSpPr>
          <p:cNvPr id="784" name="Google Shape;784;p76"/>
          <p:cNvSpPr/>
          <p:nvPr/>
        </p:nvSpPr>
        <p:spPr>
          <a:xfrm>
            <a:off x="1862341" y="3096826"/>
            <a:ext cx="3844500" cy="28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6FB0"/>
              </a:buClr>
              <a:buSzPts val="1700"/>
              <a:buFont typeface="Calibri"/>
              <a:buNone/>
            </a:pPr>
            <a:r>
              <a:rPr b="1" i="0" lang="en-ZA" sz="1700" u="none" cap="none" strike="noStrike">
                <a:solidFill>
                  <a:srgbClr val="3F6FB0"/>
                </a:solidFill>
                <a:latin typeface="Calibri"/>
                <a:ea typeface="Calibri"/>
                <a:cs typeface="Calibri"/>
                <a:sym typeface="Calibri"/>
              </a:rPr>
              <a:t>Technical skills</a:t>
            </a:r>
            <a:endParaRPr b="0" i="0" sz="1700" u="none" cap="none" strike="noStrike">
              <a:solidFill>
                <a:srgbClr val="000000"/>
              </a:solidFill>
              <a:latin typeface="Calibri"/>
              <a:ea typeface="Calibri"/>
              <a:cs typeface="Calibri"/>
              <a:sym typeface="Calibri"/>
            </a:endParaRPr>
          </a:p>
        </p:txBody>
      </p:sp>
      <p:sp>
        <p:nvSpPr>
          <p:cNvPr id="785" name="Google Shape;785;p76"/>
          <p:cNvSpPr/>
          <p:nvPr/>
        </p:nvSpPr>
        <p:spPr>
          <a:xfrm>
            <a:off x="1048177" y="3561890"/>
            <a:ext cx="4550400" cy="1536300"/>
          </a:xfrm>
          <a:prstGeom prst="rect">
            <a:avLst/>
          </a:prstGeom>
          <a:noFill/>
          <a:ln>
            <a:noFill/>
          </a:ln>
        </p:spPr>
        <p:txBody>
          <a:bodyPr anchorCtr="0" anchor="t" bIns="0" lIns="0" spcFirstLastPara="1" rIns="0" wrap="square" tIns="0">
            <a:noAutofit/>
          </a:bodyPr>
          <a:lstStyle/>
          <a:p>
            <a:pPr indent="-241300" lvl="0" marL="241300" marR="0" rtl="0" algn="l">
              <a:lnSpc>
                <a:spcPct val="100000"/>
              </a:lnSpc>
              <a:spcBef>
                <a:spcPts val="0"/>
              </a:spcBef>
              <a:spcAft>
                <a:spcPts val="0"/>
              </a:spcAft>
              <a:buClr>
                <a:srgbClr val="3A3A3A"/>
              </a:buClr>
              <a:buSzPts val="1700"/>
              <a:buFont typeface="Calibri"/>
              <a:buChar char="•"/>
            </a:pPr>
            <a:r>
              <a:rPr b="0" i="0" lang="en-ZA" sz="1700" u="none" cap="none" strike="noStrike">
                <a:solidFill>
                  <a:srgbClr val="3A3A3A"/>
                </a:solidFill>
                <a:latin typeface="Calibri"/>
                <a:ea typeface="Calibri"/>
                <a:cs typeface="Calibri"/>
                <a:sym typeface="Calibri"/>
              </a:rPr>
              <a:t>Machine-learning foundations</a:t>
            </a:r>
            <a:endParaRPr b="0" i="0" sz="1700" u="none" cap="none" strike="noStrike">
              <a:solidFill>
                <a:srgbClr val="000000"/>
              </a:solidFill>
              <a:latin typeface="Calibri"/>
              <a:ea typeface="Calibri"/>
              <a:cs typeface="Calibri"/>
              <a:sym typeface="Calibri"/>
            </a:endParaRPr>
          </a:p>
          <a:p>
            <a:pPr indent="-241300" lvl="0" marL="241300" marR="0" rtl="0" algn="l">
              <a:lnSpc>
                <a:spcPct val="100000"/>
              </a:lnSpc>
              <a:spcBef>
                <a:spcPts val="700"/>
              </a:spcBef>
              <a:spcAft>
                <a:spcPts val="0"/>
              </a:spcAft>
              <a:buClr>
                <a:srgbClr val="3A3A3A"/>
              </a:buClr>
              <a:buSzPts val="1700"/>
              <a:buFont typeface="Calibri"/>
              <a:buChar char="•"/>
            </a:pPr>
            <a:r>
              <a:rPr b="0" i="0" lang="en-ZA" sz="1700" u="none" cap="none" strike="noStrike">
                <a:solidFill>
                  <a:srgbClr val="3A3A3A"/>
                </a:solidFill>
                <a:latin typeface="Calibri"/>
                <a:ea typeface="Calibri"/>
                <a:cs typeface="Calibri"/>
                <a:sym typeface="Calibri"/>
              </a:rPr>
              <a:t>Embeddings and neural networks</a:t>
            </a:r>
            <a:endParaRPr b="0" i="0" sz="1700" u="none" cap="none" strike="noStrike">
              <a:solidFill>
                <a:srgbClr val="000000"/>
              </a:solidFill>
              <a:latin typeface="Calibri"/>
              <a:ea typeface="Calibri"/>
              <a:cs typeface="Calibri"/>
              <a:sym typeface="Calibri"/>
            </a:endParaRPr>
          </a:p>
          <a:p>
            <a:pPr indent="-241300" lvl="0" marL="241300" marR="0" rtl="0" algn="l">
              <a:lnSpc>
                <a:spcPct val="100000"/>
              </a:lnSpc>
              <a:spcBef>
                <a:spcPts val="700"/>
              </a:spcBef>
              <a:spcAft>
                <a:spcPts val="0"/>
              </a:spcAft>
              <a:buClr>
                <a:srgbClr val="3A3A3A"/>
              </a:buClr>
              <a:buSzPts val="1700"/>
              <a:buFont typeface="Calibri"/>
              <a:buChar char="•"/>
            </a:pPr>
            <a:r>
              <a:rPr b="0" i="0" lang="en-ZA" sz="1700" u="none" cap="none" strike="noStrike">
                <a:solidFill>
                  <a:srgbClr val="3A3A3A"/>
                </a:solidFill>
                <a:latin typeface="Calibri"/>
                <a:ea typeface="Calibri"/>
                <a:cs typeface="Calibri"/>
                <a:sym typeface="Calibri"/>
              </a:rPr>
              <a:t>Mini-hackathons and end-to-end labs</a:t>
            </a:r>
            <a:endParaRPr b="0" i="0" sz="1700" u="none" cap="none" strike="noStrike">
              <a:solidFill>
                <a:srgbClr val="000000"/>
              </a:solidFill>
              <a:latin typeface="Calibri"/>
              <a:ea typeface="Calibri"/>
              <a:cs typeface="Calibri"/>
              <a:sym typeface="Calibri"/>
            </a:endParaRPr>
          </a:p>
          <a:p>
            <a:pPr indent="-241300" lvl="0" marL="241300" marR="0" rtl="0" algn="l">
              <a:lnSpc>
                <a:spcPct val="100000"/>
              </a:lnSpc>
              <a:spcBef>
                <a:spcPts val="700"/>
              </a:spcBef>
              <a:spcAft>
                <a:spcPts val="0"/>
              </a:spcAft>
              <a:buClr>
                <a:srgbClr val="3A3A3A"/>
              </a:buClr>
              <a:buSzPts val="1700"/>
              <a:buFont typeface="Calibri"/>
              <a:buChar char="•"/>
            </a:pPr>
            <a:r>
              <a:rPr b="0" i="0" lang="en-ZA" sz="1700" u="none" cap="none" strike="noStrike">
                <a:solidFill>
                  <a:srgbClr val="3A3A3A"/>
                </a:solidFill>
                <a:latin typeface="Calibri"/>
                <a:ea typeface="Calibri"/>
                <a:cs typeface="Calibri"/>
                <a:sym typeface="Calibri"/>
              </a:rPr>
              <a:t>Formats: Short - Medium - Long</a:t>
            </a:r>
            <a:endParaRPr b="0" i="0" sz="1700" u="none" cap="none" strike="noStrike">
              <a:solidFill>
                <a:srgbClr val="000000"/>
              </a:solidFill>
              <a:latin typeface="Calibri"/>
              <a:ea typeface="Calibri"/>
              <a:cs typeface="Calibri"/>
              <a:sym typeface="Calibri"/>
            </a:endParaRPr>
          </a:p>
          <a:p>
            <a:pPr indent="-241300" lvl="0" marL="241300" marR="0" rtl="0" algn="l">
              <a:lnSpc>
                <a:spcPct val="100000"/>
              </a:lnSpc>
              <a:spcBef>
                <a:spcPts val="700"/>
              </a:spcBef>
              <a:spcAft>
                <a:spcPts val="0"/>
              </a:spcAft>
              <a:buClr>
                <a:srgbClr val="3A3A3A"/>
              </a:buClr>
              <a:buSzPts val="1700"/>
              <a:buFont typeface="Calibri"/>
              <a:buChar char="•"/>
            </a:pPr>
            <a:r>
              <a:rPr b="0" i="0" lang="en-ZA" sz="1700" u="none" cap="none" strike="noStrike">
                <a:solidFill>
                  <a:srgbClr val="3A3A3A"/>
                </a:solidFill>
                <a:latin typeface="Calibri"/>
                <a:ea typeface="Calibri"/>
                <a:cs typeface="Calibri"/>
                <a:sym typeface="Calibri"/>
              </a:rPr>
              <a:t>Long activities come with lab notebooks</a:t>
            </a:r>
            <a:endParaRPr b="0" i="0" sz="1700" u="none" cap="none" strike="noStrike">
              <a:solidFill>
                <a:srgbClr val="000000"/>
              </a:solidFill>
              <a:latin typeface="Calibri"/>
              <a:ea typeface="Calibri"/>
              <a:cs typeface="Calibri"/>
              <a:sym typeface="Calibri"/>
            </a:endParaRPr>
          </a:p>
        </p:txBody>
      </p:sp>
      <p:sp>
        <p:nvSpPr>
          <p:cNvPr id="786" name="Google Shape;786;p76"/>
          <p:cNvSpPr/>
          <p:nvPr/>
        </p:nvSpPr>
        <p:spPr>
          <a:xfrm>
            <a:off x="6168367" y="2465667"/>
            <a:ext cx="5292000" cy="2781900"/>
          </a:xfrm>
          <a:prstGeom prst="roundRect">
            <a:avLst>
              <a:gd fmla="val 2985" name="adj"/>
            </a:avLst>
          </a:prstGeom>
          <a:solidFill>
            <a:srgbClr val="F5F2FA"/>
          </a:solidFill>
          <a:ln>
            <a:noFill/>
          </a:ln>
          <a:effectLst>
            <a:outerShdw blurRad="118533" rotWithShape="0" algn="bl" dir="5400000" dist="508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76"/>
          <p:cNvSpPr/>
          <p:nvPr/>
        </p:nvSpPr>
        <p:spPr>
          <a:xfrm>
            <a:off x="6494033" y="2806101"/>
            <a:ext cx="705600" cy="670500"/>
          </a:xfrm>
          <a:prstGeom prst="ellipse">
            <a:avLst/>
          </a:prstGeom>
          <a:solidFill>
            <a:srgbClr val="B5821A"/>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88" name="Google Shape;788;p76"/>
          <p:cNvPicPr preferRelativeResize="0"/>
          <p:nvPr/>
        </p:nvPicPr>
        <p:blipFill rotWithShape="1">
          <a:blip r:embed="rId5">
            <a:alphaModFix/>
          </a:blip>
          <a:srcRect b="0" l="0" r="0" t="0"/>
          <a:stretch/>
        </p:blipFill>
        <p:spPr>
          <a:xfrm>
            <a:off x="6684548" y="2987156"/>
            <a:ext cx="324580" cy="308465"/>
          </a:xfrm>
          <a:prstGeom prst="rect">
            <a:avLst/>
          </a:prstGeom>
          <a:noFill/>
          <a:ln>
            <a:noFill/>
          </a:ln>
        </p:spPr>
      </p:pic>
      <p:sp>
        <p:nvSpPr>
          <p:cNvPr id="789" name="Google Shape;789;p76"/>
          <p:cNvSpPr/>
          <p:nvPr/>
        </p:nvSpPr>
        <p:spPr>
          <a:xfrm>
            <a:off x="7362474" y="2843490"/>
            <a:ext cx="3844500" cy="34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1B52"/>
              </a:buClr>
              <a:buSzPts val="2400"/>
              <a:buFont typeface="Cambria"/>
              <a:buNone/>
            </a:pPr>
            <a:r>
              <a:rPr b="1" i="0" lang="en-ZA" sz="2400" u="none" cap="none" strike="noStrike">
                <a:solidFill>
                  <a:srgbClr val="2E1B52"/>
                </a:solidFill>
                <a:latin typeface="Cambria"/>
                <a:ea typeface="Cambria"/>
                <a:cs typeface="Cambria"/>
                <a:sym typeface="Cambria"/>
              </a:rPr>
              <a:t>RI</a:t>
            </a:r>
            <a:endParaRPr b="0" i="0" sz="2400" u="none" cap="none" strike="noStrike">
              <a:solidFill>
                <a:srgbClr val="000000"/>
              </a:solidFill>
              <a:latin typeface="Calibri"/>
              <a:ea typeface="Calibri"/>
              <a:cs typeface="Calibri"/>
              <a:sym typeface="Calibri"/>
            </a:endParaRPr>
          </a:p>
        </p:txBody>
      </p:sp>
      <p:sp>
        <p:nvSpPr>
          <p:cNvPr id="790" name="Google Shape;790;p76"/>
          <p:cNvSpPr/>
          <p:nvPr/>
        </p:nvSpPr>
        <p:spPr>
          <a:xfrm>
            <a:off x="7362474" y="3096826"/>
            <a:ext cx="3844500" cy="28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821A"/>
              </a:buClr>
              <a:buSzPts val="1700"/>
              <a:buFont typeface="Calibri"/>
              <a:buNone/>
            </a:pPr>
            <a:r>
              <a:rPr b="1" i="0" lang="en-ZA" sz="1700" u="none" cap="none" strike="noStrike">
                <a:solidFill>
                  <a:srgbClr val="B5821A"/>
                </a:solidFill>
                <a:latin typeface="Calibri"/>
                <a:ea typeface="Calibri"/>
                <a:cs typeface="Calibri"/>
                <a:sym typeface="Calibri"/>
              </a:rPr>
              <a:t>Responsible innovation</a:t>
            </a:r>
            <a:endParaRPr b="0" i="0" sz="1700" u="none" cap="none" strike="noStrike">
              <a:solidFill>
                <a:srgbClr val="000000"/>
              </a:solidFill>
              <a:latin typeface="Calibri"/>
              <a:ea typeface="Calibri"/>
              <a:cs typeface="Calibri"/>
              <a:sym typeface="Calibri"/>
            </a:endParaRPr>
          </a:p>
        </p:txBody>
      </p:sp>
      <p:sp>
        <p:nvSpPr>
          <p:cNvPr id="791" name="Google Shape;791;p76"/>
          <p:cNvSpPr/>
          <p:nvPr/>
        </p:nvSpPr>
        <p:spPr>
          <a:xfrm>
            <a:off x="6548310" y="3561890"/>
            <a:ext cx="4550400" cy="1536300"/>
          </a:xfrm>
          <a:prstGeom prst="rect">
            <a:avLst/>
          </a:prstGeom>
          <a:noFill/>
          <a:ln>
            <a:noFill/>
          </a:ln>
        </p:spPr>
        <p:txBody>
          <a:bodyPr anchorCtr="0" anchor="t" bIns="0" lIns="0" spcFirstLastPara="1" rIns="0" wrap="square" tIns="0">
            <a:noAutofit/>
          </a:bodyPr>
          <a:lstStyle/>
          <a:p>
            <a:pPr indent="-241300" lvl="0" marL="241300" marR="0" rtl="0" algn="l">
              <a:lnSpc>
                <a:spcPct val="100000"/>
              </a:lnSpc>
              <a:spcBef>
                <a:spcPts val="0"/>
              </a:spcBef>
              <a:spcAft>
                <a:spcPts val="0"/>
              </a:spcAft>
              <a:buClr>
                <a:srgbClr val="3A3A3A"/>
              </a:buClr>
              <a:buSzPts val="1700"/>
              <a:buFont typeface="Calibri"/>
              <a:buChar char="•"/>
            </a:pPr>
            <a:r>
              <a:rPr b="0" i="0" lang="en-ZA" sz="1700" u="none" cap="none" strike="noStrike">
                <a:solidFill>
                  <a:srgbClr val="3A3A3A"/>
                </a:solidFill>
                <a:latin typeface="Calibri"/>
                <a:ea typeface="Calibri"/>
                <a:cs typeface="Calibri"/>
                <a:sym typeface="Calibri"/>
              </a:rPr>
              <a:t>Ethics and responsibility in AI</a:t>
            </a:r>
            <a:endParaRPr b="0" i="0" sz="1700" u="none" cap="none" strike="noStrike">
              <a:solidFill>
                <a:srgbClr val="000000"/>
              </a:solidFill>
              <a:latin typeface="Calibri"/>
              <a:ea typeface="Calibri"/>
              <a:cs typeface="Calibri"/>
              <a:sym typeface="Calibri"/>
            </a:endParaRPr>
          </a:p>
          <a:p>
            <a:pPr indent="-241300" lvl="0" marL="241300" marR="0" rtl="0" algn="l">
              <a:lnSpc>
                <a:spcPct val="100000"/>
              </a:lnSpc>
              <a:spcBef>
                <a:spcPts val="700"/>
              </a:spcBef>
              <a:spcAft>
                <a:spcPts val="0"/>
              </a:spcAft>
              <a:buClr>
                <a:srgbClr val="3A3A3A"/>
              </a:buClr>
              <a:buSzPts val="1700"/>
              <a:buFont typeface="Calibri"/>
              <a:buChar char="•"/>
            </a:pPr>
            <a:r>
              <a:rPr b="0" i="0" lang="en-ZA" sz="1700" u="none" cap="none" strike="noStrike">
                <a:solidFill>
                  <a:srgbClr val="3A3A3A"/>
                </a:solidFill>
                <a:latin typeface="Calibri"/>
                <a:ea typeface="Calibri"/>
                <a:cs typeface="Calibri"/>
                <a:sym typeface="Calibri"/>
              </a:rPr>
              <a:t>Societal impact and fairness</a:t>
            </a:r>
            <a:endParaRPr b="0" i="0" sz="1700" u="none" cap="none" strike="noStrike">
              <a:solidFill>
                <a:srgbClr val="000000"/>
              </a:solidFill>
              <a:latin typeface="Calibri"/>
              <a:ea typeface="Calibri"/>
              <a:cs typeface="Calibri"/>
              <a:sym typeface="Calibri"/>
            </a:endParaRPr>
          </a:p>
          <a:p>
            <a:pPr indent="-241300" lvl="0" marL="241300" marR="0" rtl="0" algn="l">
              <a:lnSpc>
                <a:spcPct val="100000"/>
              </a:lnSpc>
              <a:spcBef>
                <a:spcPts val="700"/>
              </a:spcBef>
              <a:spcAft>
                <a:spcPts val="0"/>
              </a:spcAft>
              <a:buClr>
                <a:srgbClr val="3A3A3A"/>
              </a:buClr>
              <a:buSzPts val="1700"/>
              <a:buFont typeface="Calibri"/>
              <a:buChar char="•"/>
            </a:pPr>
            <a:r>
              <a:rPr b="0" i="0" lang="en-ZA" sz="1700" u="none" cap="none" strike="noStrike">
                <a:solidFill>
                  <a:srgbClr val="3A3A3A"/>
                </a:solidFill>
                <a:latin typeface="Calibri"/>
                <a:ea typeface="Calibri"/>
                <a:cs typeface="Calibri"/>
                <a:sym typeface="Calibri"/>
              </a:rPr>
              <a:t>Reflection and structured discussion</a:t>
            </a:r>
            <a:endParaRPr b="0" i="0" sz="1700" u="none" cap="none" strike="noStrike">
              <a:solidFill>
                <a:srgbClr val="000000"/>
              </a:solidFill>
              <a:latin typeface="Calibri"/>
              <a:ea typeface="Calibri"/>
              <a:cs typeface="Calibri"/>
              <a:sym typeface="Calibri"/>
            </a:endParaRPr>
          </a:p>
          <a:p>
            <a:pPr indent="-241300" lvl="0" marL="241300" marR="0" rtl="0" algn="l">
              <a:lnSpc>
                <a:spcPct val="100000"/>
              </a:lnSpc>
              <a:spcBef>
                <a:spcPts val="700"/>
              </a:spcBef>
              <a:spcAft>
                <a:spcPts val="0"/>
              </a:spcAft>
              <a:buClr>
                <a:srgbClr val="3A3A3A"/>
              </a:buClr>
              <a:buSzPts val="1700"/>
              <a:buFont typeface="Calibri"/>
              <a:buChar char="•"/>
            </a:pPr>
            <a:r>
              <a:rPr b="0" i="0" lang="en-ZA" sz="1700" u="none" cap="none" strike="noStrike">
                <a:solidFill>
                  <a:srgbClr val="3A3A3A"/>
                </a:solidFill>
                <a:latin typeface="Calibri"/>
                <a:ea typeface="Calibri"/>
                <a:cs typeface="Calibri"/>
                <a:sym typeface="Calibri"/>
              </a:rPr>
              <a:t>Formats: Short - Medium</a:t>
            </a:r>
            <a:endParaRPr b="0" i="0" sz="1700" u="none" cap="none" strike="noStrike">
              <a:solidFill>
                <a:srgbClr val="000000"/>
              </a:solidFill>
              <a:latin typeface="Calibri"/>
              <a:ea typeface="Calibri"/>
              <a:cs typeface="Calibri"/>
              <a:sym typeface="Calibri"/>
            </a:endParaRPr>
          </a:p>
          <a:p>
            <a:pPr indent="-241300" lvl="0" marL="241300" marR="0" rtl="0" algn="l">
              <a:lnSpc>
                <a:spcPct val="100000"/>
              </a:lnSpc>
              <a:spcBef>
                <a:spcPts val="700"/>
              </a:spcBef>
              <a:spcAft>
                <a:spcPts val="0"/>
              </a:spcAft>
              <a:buClr>
                <a:srgbClr val="3A3A3A"/>
              </a:buClr>
              <a:buSzPts val="1700"/>
              <a:buFont typeface="Calibri"/>
              <a:buChar char="•"/>
            </a:pPr>
            <a:r>
              <a:rPr b="0" i="0" lang="en-ZA" sz="1700" u="none" cap="none" strike="noStrike">
                <a:solidFill>
                  <a:srgbClr val="3A3A3A"/>
                </a:solidFill>
                <a:latin typeface="Calibri"/>
                <a:ea typeface="Calibri"/>
                <a:cs typeface="Calibri"/>
                <a:sym typeface="Calibri"/>
              </a:rPr>
              <a:t>Facilitation guides</a:t>
            </a:r>
            <a:endParaRPr b="0" i="0" sz="1700" u="none" cap="none" strike="noStrike">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pic>
        <p:nvPicPr>
          <p:cNvPr id="797" name="Google Shape;797;p7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98" name="Google Shape;798;p77"/>
          <p:cNvSpPr/>
          <p:nvPr/>
        </p:nvSpPr>
        <p:spPr>
          <a:xfrm>
            <a:off x="501213" y="759640"/>
            <a:ext cx="85344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The Two Pillars</a:t>
            </a:r>
            <a:endParaRPr b="0" i="0" sz="4000" u="none" cap="none" strike="noStrike">
              <a:solidFill>
                <a:schemeClr val="dk1"/>
              </a:solidFill>
              <a:latin typeface="Calibri"/>
              <a:ea typeface="Calibri"/>
              <a:cs typeface="Calibri"/>
              <a:sym typeface="Calibri"/>
            </a:endParaRPr>
          </a:p>
        </p:txBody>
      </p:sp>
      <p:sp>
        <p:nvSpPr>
          <p:cNvPr id="799" name="Google Shape;799;p77"/>
          <p:cNvSpPr/>
          <p:nvPr/>
        </p:nvSpPr>
        <p:spPr>
          <a:xfrm>
            <a:off x="487675" y="2012300"/>
            <a:ext cx="5547300" cy="30573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77"/>
          <p:cNvSpPr/>
          <p:nvPr/>
        </p:nvSpPr>
        <p:spPr>
          <a:xfrm>
            <a:off x="792480" y="2256151"/>
            <a:ext cx="4998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AI Activities</a:t>
            </a:r>
            <a:endParaRPr b="0" i="0" sz="2900" u="none" cap="none" strike="noStrike">
              <a:solidFill>
                <a:schemeClr val="dk1"/>
              </a:solidFill>
              <a:latin typeface="Calibri"/>
              <a:ea typeface="Calibri"/>
              <a:cs typeface="Calibri"/>
              <a:sym typeface="Calibri"/>
            </a:endParaRPr>
          </a:p>
        </p:txBody>
      </p:sp>
      <p:sp>
        <p:nvSpPr>
          <p:cNvPr id="801" name="Google Shape;801;p77"/>
          <p:cNvSpPr/>
          <p:nvPr/>
        </p:nvSpPr>
        <p:spPr>
          <a:xfrm>
            <a:off x="792480" y="2865751"/>
            <a:ext cx="49989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300"/>
              <a:buFont typeface="Calibri"/>
              <a:buNone/>
            </a:pPr>
            <a:r>
              <a:rPr b="1" i="0" lang="en-ZA" sz="1300" u="none" cap="none" strike="noStrike">
                <a:solidFill>
                  <a:srgbClr val="0E6E8A"/>
                </a:solidFill>
                <a:latin typeface="Calibri"/>
                <a:ea typeface="Calibri"/>
                <a:cs typeface="Calibri"/>
                <a:sym typeface="Calibri"/>
              </a:rPr>
              <a:t>Cognitive domain  -  Technical  -  Hands-on</a:t>
            </a:r>
            <a:endParaRPr b="0" i="0" sz="1300" u="none" cap="none" strike="noStrike">
              <a:solidFill>
                <a:schemeClr val="dk1"/>
              </a:solidFill>
              <a:latin typeface="Calibri"/>
              <a:ea typeface="Calibri"/>
              <a:cs typeface="Calibri"/>
              <a:sym typeface="Calibri"/>
            </a:endParaRPr>
          </a:p>
        </p:txBody>
      </p:sp>
      <p:sp>
        <p:nvSpPr>
          <p:cNvPr id="802" name="Google Shape;802;p77"/>
          <p:cNvSpPr/>
          <p:nvPr/>
        </p:nvSpPr>
        <p:spPr>
          <a:xfrm>
            <a:off x="792480" y="3292471"/>
            <a:ext cx="49989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2000"/>
              <a:buFont typeface="Georgia"/>
              <a:buNone/>
            </a:pPr>
            <a:r>
              <a:rPr b="0" i="1" lang="en-ZA" sz="2000" u="none" cap="none" strike="noStrike">
                <a:solidFill>
                  <a:srgbClr val="2D2D2D"/>
                </a:solidFill>
                <a:latin typeface="Georgia"/>
                <a:ea typeface="Georgia"/>
                <a:cs typeface="Georgia"/>
                <a:sym typeface="Georgia"/>
              </a:rPr>
              <a:t>“How does it work?”</a:t>
            </a:r>
            <a:endParaRPr b="0" i="0" sz="2000" u="none" cap="none" strike="noStrike">
              <a:solidFill>
                <a:schemeClr val="dk1"/>
              </a:solidFill>
              <a:latin typeface="Calibri"/>
              <a:ea typeface="Calibri"/>
              <a:cs typeface="Calibri"/>
              <a:sym typeface="Calibri"/>
            </a:endParaRPr>
          </a:p>
        </p:txBody>
      </p:sp>
      <p:sp>
        <p:nvSpPr>
          <p:cNvPr id="803" name="Google Shape;803;p77"/>
          <p:cNvSpPr/>
          <p:nvPr/>
        </p:nvSpPr>
        <p:spPr>
          <a:xfrm>
            <a:off x="792480" y="3921801"/>
            <a:ext cx="49989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rPr b="0" i="0" lang="en-ZA" sz="2000" u="none" cap="none" strike="noStrike">
                <a:solidFill>
                  <a:srgbClr val="2D2D2D"/>
                </a:solidFill>
                <a:latin typeface="Calibri"/>
                <a:ea typeface="Calibri"/>
                <a:cs typeface="Calibri"/>
                <a:sym typeface="Calibri"/>
              </a:rPr>
              <a:t>Asks learners to implement, compute, train, compare, or design something technical.</a:t>
            </a:r>
            <a:endParaRPr b="0" i="0" sz="2000" u="none" cap="none" strike="noStrike">
              <a:solidFill>
                <a:schemeClr val="dk1"/>
              </a:solidFill>
              <a:latin typeface="Calibri"/>
              <a:ea typeface="Calibri"/>
              <a:cs typeface="Calibri"/>
              <a:sym typeface="Calibri"/>
            </a:endParaRPr>
          </a:p>
        </p:txBody>
      </p:sp>
      <p:sp>
        <p:nvSpPr>
          <p:cNvPr id="804" name="Google Shape;804;p77"/>
          <p:cNvSpPr/>
          <p:nvPr/>
        </p:nvSpPr>
        <p:spPr>
          <a:xfrm>
            <a:off x="6156975" y="2012299"/>
            <a:ext cx="5547300" cy="30573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77"/>
          <p:cNvSpPr/>
          <p:nvPr/>
        </p:nvSpPr>
        <p:spPr>
          <a:xfrm>
            <a:off x="6461760" y="2256151"/>
            <a:ext cx="4998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RI Activities</a:t>
            </a:r>
            <a:endParaRPr b="0" i="0" sz="2900" u="none" cap="none" strike="noStrike">
              <a:solidFill>
                <a:schemeClr val="dk1"/>
              </a:solidFill>
              <a:latin typeface="Calibri"/>
              <a:ea typeface="Calibri"/>
              <a:cs typeface="Calibri"/>
              <a:sym typeface="Calibri"/>
            </a:endParaRPr>
          </a:p>
        </p:txBody>
      </p:sp>
      <p:sp>
        <p:nvSpPr>
          <p:cNvPr id="806" name="Google Shape;806;p77"/>
          <p:cNvSpPr/>
          <p:nvPr/>
        </p:nvSpPr>
        <p:spPr>
          <a:xfrm>
            <a:off x="6461760" y="2865751"/>
            <a:ext cx="49989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1300"/>
              <a:buFont typeface="Calibri"/>
              <a:buNone/>
            </a:pPr>
            <a:r>
              <a:rPr b="1" i="0" lang="en-ZA" sz="1300" u="none" cap="none" strike="noStrike">
                <a:solidFill>
                  <a:srgbClr val="B45309"/>
                </a:solidFill>
                <a:latin typeface="Calibri"/>
                <a:ea typeface="Calibri"/>
                <a:cs typeface="Calibri"/>
                <a:sym typeface="Calibri"/>
              </a:rPr>
              <a:t>Affective domain  -  Ethical  -  Reflective</a:t>
            </a:r>
            <a:endParaRPr b="0" i="0" sz="1300" u="none" cap="none" strike="noStrike">
              <a:solidFill>
                <a:schemeClr val="dk1"/>
              </a:solidFill>
              <a:latin typeface="Calibri"/>
              <a:ea typeface="Calibri"/>
              <a:cs typeface="Calibri"/>
              <a:sym typeface="Calibri"/>
            </a:endParaRPr>
          </a:p>
        </p:txBody>
      </p:sp>
      <p:sp>
        <p:nvSpPr>
          <p:cNvPr id="807" name="Google Shape;807;p77"/>
          <p:cNvSpPr/>
          <p:nvPr/>
        </p:nvSpPr>
        <p:spPr>
          <a:xfrm>
            <a:off x="6461760" y="3395546"/>
            <a:ext cx="49989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2000"/>
              <a:buFont typeface="Georgia"/>
              <a:buNone/>
            </a:pPr>
            <a:r>
              <a:rPr b="0" i="1" lang="en-ZA" sz="2000" u="none" cap="none" strike="noStrike">
                <a:solidFill>
                  <a:srgbClr val="2D2D2D"/>
                </a:solidFill>
                <a:latin typeface="Georgia"/>
                <a:ea typeface="Georgia"/>
                <a:cs typeface="Georgia"/>
                <a:sym typeface="Georgia"/>
              </a:rPr>
              <a:t>“Who does it affect - and why does that matter?”</a:t>
            </a:r>
            <a:endParaRPr b="0" i="0" sz="2000" u="none" cap="none" strike="noStrike">
              <a:solidFill>
                <a:schemeClr val="dk1"/>
              </a:solidFill>
              <a:latin typeface="Calibri"/>
              <a:ea typeface="Calibri"/>
              <a:cs typeface="Calibri"/>
              <a:sym typeface="Calibri"/>
            </a:endParaRPr>
          </a:p>
        </p:txBody>
      </p:sp>
      <p:sp>
        <p:nvSpPr>
          <p:cNvPr id="808" name="Google Shape;808;p77"/>
          <p:cNvSpPr/>
          <p:nvPr/>
        </p:nvSpPr>
        <p:spPr>
          <a:xfrm>
            <a:off x="6431185" y="3986551"/>
            <a:ext cx="49989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rPr b="0" i="0" lang="en-ZA" sz="1900" u="none" cap="none" strike="noStrike">
                <a:solidFill>
                  <a:srgbClr val="2D2D2D"/>
                </a:solidFill>
                <a:latin typeface="Calibri"/>
                <a:ea typeface="Calibri"/>
                <a:cs typeface="Calibri"/>
                <a:sym typeface="Calibri"/>
              </a:rPr>
              <a:t>Asks learners to reflect, discuss, evaluate values, map stakeholders, or surface missing voices.</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pic>
        <p:nvPicPr>
          <p:cNvPr id="814" name="Google Shape;814;p78"/>
          <p:cNvPicPr preferRelativeResize="0"/>
          <p:nvPr/>
        </p:nvPicPr>
        <p:blipFill rotWithShape="1">
          <a:blip r:embed="rId3">
            <a:alphaModFix/>
          </a:blip>
          <a:srcRect b="0" l="0" r="0" t="0"/>
          <a:stretch/>
        </p:blipFill>
        <p:spPr>
          <a:xfrm>
            <a:off x="78800" y="0"/>
            <a:ext cx="12192000" cy="6858000"/>
          </a:xfrm>
          <a:prstGeom prst="rect">
            <a:avLst/>
          </a:prstGeom>
          <a:noFill/>
          <a:ln>
            <a:noFill/>
          </a:ln>
        </p:spPr>
      </p:pic>
      <p:sp>
        <p:nvSpPr>
          <p:cNvPr id="815" name="Google Shape;815;p78"/>
          <p:cNvSpPr/>
          <p:nvPr/>
        </p:nvSpPr>
        <p:spPr>
          <a:xfrm>
            <a:off x="518280" y="570307"/>
            <a:ext cx="85344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Course 1 - Build Your Own SLM</a:t>
            </a:r>
            <a:endParaRPr b="0" i="0" sz="4000" u="none" cap="none" strike="noStrike">
              <a:solidFill>
                <a:srgbClr val="000000"/>
              </a:solidFill>
              <a:latin typeface="Calibri"/>
              <a:ea typeface="Calibri"/>
              <a:cs typeface="Calibri"/>
              <a:sym typeface="Calibri"/>
            </a:endParaRPr>
          </a:p>
        </p:txBody>
      </p:sp>
      <p:sp>
        <p:nvSpPr>
          <p:cNvPr id="816" name="Google Shape;816;p78"/>
          <p:cNvSpPr/>
          <p:nvPr/>
        </p:nvSpPr>
        <p:spPr>
          <a:xfrm>
            <a:off x="518280" y="2438400"/>
            <a:ext cx="5547300" cy="35967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17" name="Google Shape;817;p78"/>
          <p:cNvSpPr/>
          <p:nvPr/>
        </p:nvSpPr>
        <p:spPr>
          <a:xfrm>
            <a:off x="792480" y="2682240"/>
            <a:ext cx="4998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AI Activities</a:t>
            </a:r>
            <a:endParaRPr b="0" i="0" sz="2900" u="none" cap="none" strike="noStrike">
              <a:solidFill>
                <a:srgbClr val="000000"/>
              </a:solidFill>
              <a:latin typeface="Calibri"/>
              <a:ea typeface="Calibri"/>
              <a:cs typeface="Calibri"/>
              <a:sym typeface="Calibri"/>
            </a:endParaRPr>
          </a:p>
        </p:txBody>
      </p:sp>
      <p:sp>
        <p:nvSpPr>
          <p:cNvPr id="818" name="Google Shape;818;p78"/>
          <p:cNvSpPr/>
          <p:nvPr/>
        </p:nvSpPr>
        <p:spPr>
          <a:xfrm>
            <a:off x="792480" y="3718560"/>
            <a:ext cx="49989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2000"/>
              <a:buFont typeface="Georgia"/>
              <a:buNone/>
            </a:pPr>
            <a:r>
              <a:t/>
            </a:r>
            <a:endParaRPr b="0" i="0" sz="2000" u="none" cap="none" strike="noStrike">
              <a:solidFill>
                <a:srgbClr val="000000"/>
              </a:solidFill>
              <a:latin typeface="Calibri"/>
              <a:ea typeface="Calibri"/>
              <a:cs typeface="Calibri"/>
              <a:sym typeface="Calibri"/>
            </a:endParaRPr>
          </a:p>
        </p:txBody>
      </p:sp>
      <p:sp>
        <p:nvSpPr>
          <p:cNvPr id="819" name="Google Shape;819;p78"/>
          <p:cNvSpPr/>
          <p:nvPr/>
        </p:nvSpPr>
        <p:spPr>
          <a:xfrm>
            <a:off x="792480" y="4206240"/>
            <a:ext cx="49989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t/>
            </a:r>
            <a:endParaRPr b="0" i="0" sz="1500" u="none" cap="none" strike="noStrike">
              <a:solidFill>
                <a:srgbClr val="000000"/>
              </a:solidFill>
              <a:latin typeface="Calibri"/>
              <a:ea typeface="Calibri"/>
              <a:cs typeface="Calibri"/>
              <a:sym typeface="Calibri"/>
            </a:endParaRPr>
          </a:p>
        </p:txBody>
      </p:sp>
      <p:sp>
        <p:nvSpPr>
          <p:cNvPr id="820" name="Google Shape;820;p78"/>
          <p:cNvSpPr/>
          <p:nvPr/>
        </p:nvSpPr>
        <p:spPr>
          <a:xfrm>
            <a:off x="761867" y="4007066"/>
            <a:ext cx="4998900" cy="1278300"/>
          </a:xfrm>
          <a:prstGeom prst="rect">
            <a:avLst/>
          </a:prstGeom>
          <a:solidFill>
            <a:srgbClr val="E3EEF3"/>
          </a:solidFill>
          <a:ln cap="flat" cmpd="sng" w="16925">
            <a:solidFill>
              <a:srgbClr val="E3EEF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21" name="Google Shape;821;p78"/>
          <p:cNvSpPr/>
          <p:nvPr/>
        </p:nvSpPr>
        <p:spPr>
          <a:xfrm>
            <a:off x="975367" y="4145367"/>
            <a:ext cx="4632900" cy="94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300"/>
              <a:buFont typeface="Calibri"/>
              <a:buNone/>
            </a:pPr>
            <a:r>
              <a:t/>
            </a: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900"/>
              <a:buFont typeface="Arial"/>
              <a:buNone/>
            </a:pPr>
            <a:r>
              <a:rPr b="1" i="0" lang="en-ZA" sz="1900" u="none" cap="none" strike="noStrike">
                <a:solidFill>
                  <a:srgbClr val="2C1458"/>
                </a:solidFill>
                <a:latin typeface="Calibri"/>
                <a:ea typeface="Calibri"/>
                <a:cs typeface="Calibri"/>
                <a:sym typeface="Calibri"/>
              </a:rPr>
              <a:t>Experiment with N-grams</a:t>
            </a:r>
            <a:endParaRPr b="0" i="0" sz="15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ZA" sz="1500" u="none" cap="none" strike="noStrike">
                <a:solidFill>
                  <a:srgbClr val="2D2D2D"/>
                </a:solidFill>
                <a:latin typeface="Calibri"/>
                <a:ea typeface="Calibri"/>
                <a:cs typeface="Calibri"/>
                <a:sym typeface="Calibri"/>
              </a:rPr>
              <a:t>Build a probabilistic next-word predictor and test its limits on a small corpus.</a:t>
            </a:r>
            <a:endParaRPr b="0" i="0" sz="1500" u="none" cap="none" strike="noStrike">
              <a:solidFill>
                <a:srgbClr val="000000"/>
              </a:solidFill>
              <a:latin typeface="Calibri"/>
              <a:ea typeface="Calibri"/>
              <a:cs typeface="Calibri"/>
              <a:sym typeface="Calibri"/>
            </a:endParaRPr>
          </a:p>
        </p:txBody>
      </p:sp>
      <p:sp>
        <p:nvSpPr>
          <p:cNvPr id="822" name="Google Shape;822;p78"/>
          <p:cNvSpPr/>
          <p:nvPr/>
        </p:nvSpPr>
        <p:spPr>
          <a:xfrm>
            <a:off x="6156960" y="2438400"/>
            <a:ext cx="5547300" cy="35967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23" name="Google Shape;823;p78"/>
          <p:cNvSpPr/>
          <p:nvPr/>
        </p:nvSpPr>
        <p:spPr>
          <a:xfrm>
            <a:off x="6461760" y="2682240"/>
            <a:ext cx="4998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RI Activities</a:t>
            </a:r>
            <a:endParaRPr b="0" i="0" sz="2900" u="none" cap="none" strike="noStrike">
              <a:solidFill>
                <a:srgbClr val="000000"/>
              </a:solidFill>
              <a:latin typeface="Calibri"/>
              <a:ea typeface="Calibri"/>
              <a:cs typeface="Calibri"/>
              <a:sym typeface="Calibri"/>
            </a:endParaRPr>
          </a:p>
        </p:txBody>
      </p:sp>
      <p:sp>
        <p:nvSpPr>
          <p:cNvPr id="824" name="Google Shape;824;p78"/>
          <p:cNvSpPr/>
          <p:nvPr/>
        </p:nvSpPr>
        <p:spPr>
          <a:xfrm>
            <a:off x="6461760" y="3718560"/>
            <a:ext cx="49989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2000"/>
              <a:buFont typeface="Georgia"/>
              <a:buNone/>
            </a:pPr>
            <a:r>
              <a:t/>
            </a:r>
            <a:endParaRPr b="0" i="0" sz="2000" u="none" cap="none" strike="noStrike">
              <a:solidFill>
                <a:srgbClr val="000000"/>
              </a:solidFill>
              <a:latin typeface="Calibri"/>
              <a:ea typeface="Calibri"/>
              <a:cs typeface="Calibri"/>
              <a:sym typeface="Calibri"/>
            </a:endParaRPr>
          </a:p>
        </p:txBody>
      </p:sp>
      <p:sp>
        <p:nvSpPr>
          <p:cNvPr id="825" name="Google Shape;825;p78"/>
          <p:cNvSpPr/>
          <p:nvPr/>
        </p:nvSpPr>
        <p:spPr>
          <a:xfrm>
            <a:off x="6461760" y="4206240"/>
            <a:ext cx="49989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t/>
            </a:r>
            <a:endParaRPr b="0" i="0" sz="1500" u="none" cap="none" strike="noStrike">
              <a:solidFill>
                <a:srgbClr val="000000"/>
              </a:solidFill>
              <a:latin typeface="Calibri"/>
              <a:ea typeface="Calibri"/>
              <a:cs typeface="Calibri"/>
              <a:sym typeface="Calibri"/>
            </a:endParaRPr>
          </a:p>
        </p:txBody>
      </p:sp>
      <p:sp>
        <p:nvSpPr>
          <p:cNvPr id="826" name="Google Shape;826;p78"/>
          <p:cNvSpPr/>
          <p:nvPr/>
        </p:nvSpPr>
        <p:spPr>
          <a:xfrm>
            <a:off x="6431167" y="4007033"/>
            <a:ext cx="4998900" cy="1278300"/>
          </a:xfrm>
          <a:prstGeom prst="rect">
            <a:avLst/>
          </a:prstGeom>
          <a:solidFill>
            <a:srgbClr val="FDF1E0"/>
          </a:solidFill>
          <a:ln cap="flat" cmpd="sng" w="16925">
            <a:solidFill>
              <a:srgbClr val="FDF1E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27" name="Google Shape;827;p78"/>
          <p:cNvSpPr/>
          <p:nvPr/>
        </p:nvSpPr>
        <p:spPr>
          <a:xfrm>
            <a:off x="6644767" y="4096967"/>
            <a:ext cx="4632900" cy="94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1300"/>
              <a:buFont typeface="Calibri"/>
              <a:buNone/>
            </a:pPr>
            <a:r>
              <a:t/>
            </a: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900"/>
              <a:buFont typeface="Arial"/>
              <a:buNone/>
            </a:pPr>
            <a:r>
              <a:rPr b="1" i="0" lang="en-ZA" sz="1900" u="none" cap="none" strike="noStrike">
                <a:solidFill>
                  <a:srgbClr val="B45309"/>
                </a:solidFill>
                <a:latin typeface="Calibri"/>
                <a:ea typeface="Calibri"/>
                <a:cs typeface="Calibri"/>
                <a:sym typeface="Calibri"/>
              </a:rPr>
              <a:t>Applying a local ethical lens to the trolley problem</a:t>
            </a:r>
            <a:endParaRPr b="0" i="0" sz="15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ZA" sz="1500" u="none" cap="none" strike="noStrike">
                <a:solidFill>
                  <a:srgbClr val="2D2D2D"/>
                </a:solidFill>
                <a:latin typeface="Calibri"/>
                <a:ea typeface="Calibri"/>
                <a:cs typeface="Calibri"/>
                <a:sym typeface="Calibri"/>
              </a:rPr>
              <a:t>Explore your own ethical framework: thoughts, feelings, and values.</a:t>
            </a:r>
            <a:endParaRPr b="0" i="0" sz="1500" u="none" cap="none" strike="noStrike">
              <a:solidFill>
                <a:srgbClr val="000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pic>
        <p:nvPicPr>
          <p:cNvPr id="833" name="Google Shape;833;p7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34" name="Google Shape;834;p79"/>
          <p:cNvSpPr/>
          <p:nvPr/>
        </p:nvSpPr>
        <p:spPr>
          <a:xfrm>
            <a:off x="487667" y="653033"/>
            <a:ext cx="112443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Course 2 - Represent Your Language Data</a:t>
            </a:r>
            <a:endParaRPr b="0" i="0" sz="4000" u="none" cap="none" strike="noStrike">
              <a:solidFill>
                <a:srgbClr val="000000"/>
              </a:solidFill>
              <a:latin typeface="Calibri"/>
              <a:ea typeface="Calibri"/>
              <a:cs typeface="Calibri"/>
              <a:sym typeface="Calibri"/>
            </a:endParaRPr>
          </a:p>
        </p:txBody>
      </p:sp>
      <p:sp>
        <p:nvSpPr>
          <p:cNvPr id="835" name="Google Shape;835;p79"/>
          <p:cNvSpPr/>
          <p:nvPr/>
        </p:nvSpPr>
        <p:spPr>
          <a:xfrm>
            <a:off x="487680" y="2385848"/>
            <a:ext cx="5547300" cy="35967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36" name="Google Shape;836;p79"/>
          <p:cNvSpPr/>
          <p:nvPr/>
        </p:nvSpPr>
        <p:spPr>
          <a:xfrm>
            <a:off x="792480" y="2629688"/>
            <a:ext cx="4998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AI Activities</a:t>
            </a:r>
            <a:endParaRPr b="0" i="0" sz="2900" u="none" cap="none" strike="noStrike">
              <a:solidFill>
                <a:srgbClr val="000000"/>
              </a:solidFill>
              <a:latin typeface="Calibri"/>
              <a:ea typeface="Calibri"/>
              <a:cs typeface="Calibri"/>
              <a:sym typeface="Calibri"/>
            </a:endParaRPr>
          </a:p>
        </p:txBody>
      </p:sp>
      <p:sp>
        <p:nvSpPr>
          <p:cNvPr id="837" name="Google Shape;837;p79"/>
          <p:cNvSpPr/>
          <p:nvPr/>
        </p:nvSpPr>
        <p:spPr>
          <a:xfrm>
            <a:off x="792480" y="3666008"/>
            <a:ext cx="49989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2000"/>
              <a:buFont typeface="Georgia"/>
              <a:buNone/>
            </a:pPr>
            <a:r>
              <a:t/>
            </a:r>
            <a:endParaRPr b="0" i="0" sz="2000" u="none" cap="none" strike="noStrike">
              <a:solidFill>
                <a:srgbClr val="000000"/>
              </a:solidFill>
              <a:latin typeface="Calibri"/>
              <a:ea typeface="Calibri"/>
              <a:cs typeface="Calibri"/>
              <a:sym typeface="Calibri"/>
            </a:endParaRPr>
          </a:p>
        </p:txBody>
      </p:sp>
      <p:sp>
        <p:nvSpPr>
          <p:cNvPr id="838" name="Google Shape;838;p79"/>
          <p:cNvSpPr/>
          <p:nvPr/>
        </p:nvSpPr>
        <p:spPr>
          <a:xfrm>
            <a:off x="792480" y="4153688"/>
            <a:ext cx="49989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t/>
            </a:r>
            <a:endParaRPr b="0" i="0" sz="1500" u="none" cap="none" strike="noStrike">
              <a:solidFill>
                <a:srgbClr val="000000"/>
              </a:solidFill>
              <a:latin typeface="Calibri"/>
              <a:ea typeface="Calibri"/>
              <a:cs typeface="Calibri"/>
              <a:sym typeface="Calibri"/>
            </a:endParaRPr>
          </a:p>
        </p:txBody>
      </p:sp>
      <p:sp>
        <p:nvSpPr>
          <p:cNvPr id="839" name="Google Shape;839;p79"/>
          <p:cNvSpPr/>
          <p:nvPr/>
        </p:nvSpPr>
        <p:spPr>
          <a:xfrm>
            <a:off x="792467" y="4017003"/>
            <a:ext cx="4998900" cy="1431600"/>
          </a:xfrm>
          <a:prstGeom prst="rect">
            <a:avLst/>
          </a:prstGeom>
          <a:solidFill>
            <a:srgbClr val="E3EEF3"/>
          </a:solidFill>
          <a:ln cap="flat" cmpd="sng" w="16925">
            <a:solidFill>
              <a:srgbClr val="E3EEF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40" name="Google Shape;840;p79"/>
          <p:cNvSpPr/>
          <p:nvPr/>
        </p:nvSpPr>
        <p:spPr>
          <a:xfrm>
            <a:off x="975367" y="3726967"/>
            <a:ext cx="4632900" cy="1567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300"/>
              <a:buFont typeface="Calibri"/>
              <a:buNone/>
            </a:pPr>
            <a:r>
              <a:t/>
            </a: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900"/>
              <a:buFont typeface="Arial"/>
              <a:buNone/>
            </a:pPr>
            <a:r>
              <a:rPr b="1" i="0" lang="en-ZA" sz="1900" u="none" cap="none" strike="noStrike">
                <a:solidFill>
                  <a:srgbClr val="2C1458"/>
                </a:solidFill>
                <a:latin typeface="Calibri"/>
                <a:ea typeface="Calibri"/>
                <a:cs typeface="Calibri"/>
                <a:sym typeface="Calibri"/>
              </a:rPr>
              <a:t>Lab: Implement a BPE Tokenizer</a:t>
            </a:r>
            <a:endParaRPr b="0" i="0" sz="15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ZA" sz="1500" u="none" cap="none" strike="noStrike">
                <a:solidFill>
                  <a:srgbClr val="2D2D2D"/>
                </a:solidFill>
                <a:latin typeface="Calibri"/>
                <a:ea typeface="Calibri"/>
                <a:cs typeface="Calibri"/>
                <a:sym typeface="Calibri"/>
              </a:rPr>
              <a:t>Iteratively merge subword tokens on a small corpus to see how modern tokenizers learn.</a:t>
            </a:r>
            <a:endParaRPr b="0" i="0" sz="1500" u="none" cap="none" strike="noStrike">
              <a:solidFill>
                <a:srgbClr val="000000"/>
              </a:solidFill>
              <a:latin typeface="Calibri"/>
              <a:ea typeface="Calibri"/>
              <a:cs typeface="Calibri"/>
              <a:sym typeface="Calibri"/>
            </a:endParaRPr>
          </a:p>
        </p:txBody>
      </p:sp>
      <p:sp>
        <p:nvSpPr>
          <p:cNvPr id="841" name="Google Shape;841;p79"/>
          <p:cNvSpPr/>
          <p:nvPr/>
        </p:nvSpPr>
        <p:spPr>
          <a:xfrm>
            <a:off x="6156960" y="2385848"/>
            <a:ext cx="5547300" cy="35967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42" name="Google Shape;842;p79"/>
          <p:cNvSpPr/>
          <p:nvPr/>
        </p:nvSpPr>
        <p:spPr>
          <a:xfrm>
            <a:off x="6461760" y="2629688"/>
            <a:ext cx="4998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RI Activities</a:t>
            </a:r>
            <a:endParaRPr b="0" i="0" sz="2900" u="none" cap="none" strike="noStrike">
              <a:solidFill>
                <a:srgbClr val="000000"/>
              </a:solidFill>
              <a:latin typeface="Calibri"/>
              <a:ea typeface="Calibri"/>
              <a:cs typeface="Calibri"/>
              <a:sym typeface="Calibri"/>
            </a:endParaRPr>
          </a:p>
        </p:txBody>
      </p:sp>
      <p:sp>
        <p:nvSpPr>
          <p:cNvPr id="843" name="Google Shape;843;p79"/>
          <p:cNvSpPr/>
          <p:nvPr/>
        </p:nvSpPr>
        <p:spPr>
          <a:xfrm>
            <a:off x="6461760" y="4153688"/>
            <a:ext cx="49989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t/>
            </a:r>
            <a:endParaRPr b="0" i="0" sz="1500" u="none" cap="none" strike="noStrike">
              <a:solidFill>
                <a:srgbClr val="000000"/>
              </a:solidFill>
              <a:latin typeface="Calibri"/>
              <a:ea typeface="Calibri"/>
              <a:cs typeface="Calibri"/>
              <a:sym typeface="Calibri"/>
            </a:endParaRPr>
          </a:p>
        </p:txBody>
      </p:sp>
      <p:sp>
        <p:nvSpPr>
          <p:cNvPr id="844" name="Google Shape;844;p79"/>
          <p:cNvSpPr/>
          <p:nvPr/>
        </p:nvSpPr>
        <p:spPr>
          <a:xfrm>
            <a:off x="6461767" y="4017200"/>
            <a:ext cx="4998900" cy="1431600"/>
          </a:xfrm>
          <a:prstGeom prst="rect">
            <a:avLst/>
          </a:prstGeom>
          <a:solidFill>
            <a:srgbClr val="FDF1E0"/>
          </a:solidFill>
          <a:ln cap="flat" cmpd="sng" w="16925">
            <a:solidFill>
              <a:srgbClr val="FDF1E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45" name="Google Shape;845;p79"/>
          <p:cNvSpPr/>
          <p:nvPr/>
        </p:nvSpPr>
        <p:spPr>
          <a:xfrm>
            <a:off x="6644633" y="3928230"/>
            <a:ext cx="4632900" cy="1261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1300"/>
              <a:buFont typeface="Calibri"/>
              <a:buNone/>
            </a:pPr>
            <a:r>
              <a:t/>
            </a: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900"/>
              <a:buFont typeface="Arial"/>
              <a:buNone/>
            </a:pPr>
            <a:r>
              <a:rPr b="1" i="0" lang="en-ZA" sz="1900" u="none" cap="none" strike="noStrike">
                <a:solidFill>
                  <a:srgbClr val="B45309"/>
                </a:solidFill>
                <a:latin typeface="Calibri"/>
                <a:ea typeface="Calibri"/>
                <a:cs typeface="Calibri"/>
                <a:sym typeface="Calibri"/>
              </a:rPr>
              <a:t>Whose voice is missing?</a:t>
            </a:r>
            <a:endParaRPr b="0" i="0" sz="15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ZA" sz="1500" u="none" cap="none" strike="noStrike">
                <a:solidFill>
                  <a:srgbClr val="2D2D2D"/>
                </a:solidFill>
                <a:latin typeface="Calibri"/>
                <a:ea typeface="Calibri"/>
                <a:cs typeface="Calibri"/>
                <a:sym typeface="Calibri"/>
              </a:rPr>
              <a:t>Reflect on the exclusion introduced by dataset selection when training LLMs.</a:t>
            </a:r>
            <a:endParaRPr b="0" i="0" sz="1500" u="none" cap="none" strike="noStrike">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pic>
        <p:nvPicPr>
          <p:cNvPr id="851" name="Google Shape;851;p80"/>
          <p:cNvPicPr preferRelativeResize="0"/>
          <p:nvPr/>
        </p:nvPicPr>
        <p:blipFill rotWithShape="1">
          <a:blip r:embed="rId3">
            <a:alphaModFix/>
          </a:blip>
          <a:srcRect b="0" l="0" r="0" t="0"/>
          <a:stretch/>
        </p:blipFill>
        <p:spPr>
          <a:xfrm>
            <a:off x="0" y="-118233"/>
            <a:ext cx="12192000" cy="6858000"/>
          </a:xfrm>
          <a:prstGeom prst="rect">
            <a:avLst/>
          </a:prstGeom>
          <a:noFill/>
          <a:ln>
            <a:noFill/>
          </a:ln>
        </p:spPr>
      </p:pic>
      <p:sp>
        <p:nvSpPr>
          <p:cNvPr id="852" name="Google Shape;852;p80"/>
          <p:cNvSpPr/>
          <p:nvPr/>
        </p:nvSpPr>
        <p:spPr>
          <a:xfrm>
            <a:off x="487667" y="644667"/>
            <a:ext cx="114813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Course 3 - Design &amp; Train Neural Networks</a:t>
            </a:r>
            <a:endParaRPr b="0" i="0" sz="4000" u="none" cap="none" strike="noStrike">
              <a:solidFill>
                <a:srgbClr val="000000"/>
              </a:solidFill>
              <a:latin typeface="Calibri"/>
              <a:ea typeface="Calibri"/>
              <a:cs typeface="Calibri"/>
              <a:sym typeface="Calibri"/>
            </a:endParaRPr>
          </a:p>
        </p:txBody>
      </p:sp>
      <p:sp>
        <p:nvSpPr>
          <p:cNvPr id="853" name="Google Shape;853;p80"/>
          <p:cNvSpPr/>
          <p:nvPr/>
        </p:nvSpPr>
        <p:spPr>
          <a:xfrm>
            <a:off x="487680" y="2438400"/>
            <a:ext cx="5547300" cy="35967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54" name="Google Shape;854;p80"/>
          <p:cNvSpPr/>
          <p:nvPr/>
        </p:nvSpPr>
        <p:spPr>
          <a:xfrm>
            <a:off x="792480" y="2682240"/>
            <a:ext cx="4998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AI Activities</a:t>
            </a:r>
            <a:endParaRPr b="0" i="0" sz="2900" u="none" cap="none" strike="noStrike">
              <a:solidFill>
                <a:srgbClr val="000000"/>
              </a:solidFill>
              <a:latin typeface="Calibri"/>
              <a:ea typeface="Calibri"/>
              <a:cs typeface="Calibri"/>
              <a:sym typeface="Calibri"/>
            </a:endParaRPr>
          </a:p>
        </p:txBody>
      </p:sp>
      <p:sp>
        <p:nvSpPr>
          <p:cNvPr id="855" name="Google Shape;855;p80"/>
          <p:cNvSpPr/>
          <p:nvPr/>
        </p:nvSpPr>
        <p:spPr>
          <a:xfrm>
            <a:off x="792480" y="3718560"/>
            <a:ext cx="49989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2000"/>
              <a:buFont typeface="Georgia"/>
              <a:buNone/>
            </a:pPr>
            <a:r>
              <a:t/>
            </a:r>
            <a:endParaRPr b="0" i="0" sz="2000" u="none" cap="none" strike="noStrike">
              <a:solidFill>
                <a:srgbClr val="000000"/>
              </a:solidFill>
              <a:latin typeface="Calibri"/>
              <a:ea typeface="Calibri"/>
              <a:cs typeface="Calibri"/>
              <a:sym typeface="Calibri"/>
            </a:endParaRPr>
          </a:p>
        </p:txBody>
      </p:sp>
      <p:sp>
        <p:nvSpPr>
          <p:cNvPr id="856" name="Google Shape;856;p80"/>
          <p:cNvSpPr/>
          <p:nvPr/>
        </p:nvSpPr>
        <p:spPr>
          <a:xfrm>
            <a:off x="792480" y="4206240"/>
            <a:ext cx="49989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t/>
            </a:r>
            <a:endParaRPr b="0" i="0" sz="1500" u="none" cap="none" strike="noStrike">
              <a:solidFill>
                <a:srgbClr val="000000"/>
              </a:solidFill>
              <a:latin typeface="Calibri"/>
              <a:ea typeface="Calibri"/>
              <a:cs typeface="Calibri"/>
              <a:sym typeface="Calibri"/>
            </a:endParaRPr>
          </a:p>
        </p:txBody>
      </p:sp>
      <p:sp>
        <p:nvSpPr>
          <p:cNvPr id="857" name="Google Shape;857;p80"/>
          <p:cNvSpPr/>
          <p:nvPr/>
        </p:nvSpPr>
        <p:spPr>
          <a:xfrm>
            <a:off x="792467" y="3828870"/>
            <a:ext cx="4998900" cy="1569600"/>
          </a:xfrm>
          <a:prstGeom prst="rect">
            <a:avLst/>
          </a:prstGeom>
          <a:solidFill>
            <a:srgbClr val="E3EEF3"/>
          </a:solidFill>
          <a:ln cap="flat" cmpd="sng" w="16925">
            <a:solidFill>
              <a:srgbClr val="E3EEF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58" name="Google Shape;858;p80"/>
          <p:cNvSpPr/>
          <p:nvPr/>
        </p:nvSpPr>
        <p:spPr>
          <a:xfrm>
            <a:off x="975367" y="3889736"/>
            <a:ext cx="4632900" cy="127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300"/>
              <a:buFont typeface="Calibri"/>
              <a:buNone/>
            </a:pPr>
            <a:r>
              <a:t/>
            </a: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900"/>
              <a:buFont typeface="Arial"/>
              <a:buNone/>
            </a:pPr>
            <a:r>
              <a:rPr b="1" i="0" lang="en-ZA" sz="1900" u="none" cap="none" strike="noStrike">
                <a:solidFill>
                  <a:srgbClr val="2C1458"/>
                </a:solidFill>
                <a:latin typeface="Calibri"/>
                <a:ea typeface="Calibri"/>
                <a:cs typeface="Calibri"/>
                <a:sym typeface="Calibri"/>
              </a:rPr>
              <a:t>Lab: Mitigate Overfitting</a:t>
            </a:r>
            <a:endParaRPr b="0" i="0" sz="15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ZA" sz="1500" u="none" cap="none" strike="noStrike">
                <a:solidFill>
                  <a:srgbClr val="2D2D2D"/>
                </a:solidFill>
                <a:latin typeface="Calibri"/>
                <a:ea typeface="Calibri"/>
                <a:cs typeface="Calibri"/>
                <a:sym typeface="Calibri"/>
              </a:rPr>
              <a:t>Apply early stopping, dropout and regularization to build models that generalise.</a:t>
            </a:r>
            <a:endParaRPr b="0" i="0" sz="1500" u="none" cap="none" strike="noStrike">
              <a:solidFill>
                <a:srgbClr val="000000"/>
              </a:solidFill>
              <a:latin typeface="Calibri"/>
              <a:ea typeface="Calibri"/>
              <a:cs typeface="Calibri"/>
              <a:sym typeface="Calibri"/>
            </a:endParaRPr>
          </a:p>
        </p:txBody>
      </p:sp>
      <p:sp>
        <p:nvSpPr>
          <p:cNvPr id="859" name="Google Shape;859;p80"/>
          <p:cNvSpPr/>
          <p:nvPr/>
        </p:nvSpPr>
        <p:spPr>
          <a:xfrm>
            <a:off x="6156960" y="2438400"/>
            <a:ext cx="5547300" cy="35967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60" name="Google Shape;860;p80"/>
          <p:cNvSpPr/>
          <p:nvPr/>
        </p:nvSpPr>
        <p:spPr>
          <a:xfrm>
            <a:off x="6461760" y="2682240"/>
            <a:ext cx="4998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RI Activities</a:t>
            </a:r>
            <a:endParaRPr b="0" i="0" sz="2900" u="none" cap="none" strike="noStrike">
              <a:solidFill>
                <a:srgbClr val="000000"/>
              </a:solidFill>
              <a:latin typeface="Calibri"/>
              <a:ea typeface="Calibri"/>
              <a:cs typeface="Calibri"/>
              <a:sym typeface="Calibri"/>
            </a:endParaRPr>
          </a:p>
        </p:txBody>
      </p:sp>
      <p:sp>
        <p:nvSpPr>
          <p:cNvPr id="861" name="Google Shape;861;p80"/>
          <p:cNvSpPr/>
          <p:nvPr/>
        </p:nvSpPr>
        <p:spPr>
          <a:xfrm>
            <a:off x="6461760" y="3718560"/>
            <a:ext cx="49989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2000"/>
              <a:buFont typeface="Georgia"/>
              <a:buNone/>
            </a:pPr>
            <a:r>
              <a:t/>
            </a:r>
            <a:endParaRPr b="0" i="0" sz="2000" u="none" cap="none" strike="noStrike">
              <a:solidFill>
                <a:srgbClr val="000000"/>
              </a:solidFill>
              <a:latin typeface="Calibri"/>
              <a:ea typeface="Calibri"/>
              <a:cs typeface="Calibri"/>
              <a:sym typeface="Calibri"/>
            </a:endParaRPr>
          </a:p>
        </p:txBody>
      </p:sp>
      <p:sp>
        <p:nvSpPr>
          <p:cNvPr id="862" name="Google Shape;862;p80"/>
          <p:cNvSpPr/>
          <p:nvPr/>
        </p:nvSpPr>
        <p:spPr>
          <a:xfrm>
            <a:off x="6461760" y="4206240"/>
            <a:ext cx="49989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t/>
            </a:r>
            <a:endParaRPr b="0" i="0" sz="1500" u="none" cap="none" strike="noStrike">
              <a:solidFill>
                <a:srgbClr val="000000"/>
              </a:solidFill>
              <a:latin typeface="Calibri"/>
              <a:ea typeface="Calibri"/>
              <a:cs typeface="Calibri"/>
              <a:sym typeface="Calibri"/>
            </a:endParaRPr>
          </a:p>
        </p:txBody>
      </p:sp>
      <p:sp>
        <p:nvSpPr>
          <p:cNvPr id="863" name="Google Shape;863;p80"/>
          <p:cNvSpPr/>
          <p:nvPr/>
        </p:nvSpPr>
        <p:spPr>
          <a:xfrm>
            <a:off x="6461767" y="3787588"/>
            <a:ext cx="4998900" cy="1569600"/>
          </a:xfrm>
          <a:prstGeom prst="rect">
            <a:avLst/>
          </a:prstGeom>
          <a:solidFill>
            <a:srgbClr val="FDF1E0"/>
          </a:solidFill>
          <a:ln cap="flat" cmpd="sng" w="16925">
            <a:solidFill>
              <a:srgbClr val="FDF1E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64" name="Google Shape;864;p80"/>
          <p:cNvSpPr/>
          <p:nvPr/>
        </p:nvSpPr>
        <p:spPr>
          <a:xfrm>
            <a:off x="6644767" y="3909620"/>
            <a:ext cx="4632900" cy="127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1300"/>
              <a:buFont typeface="Calibri"/>
              <a:buNone/>
            </a:pPr>
            <a:r>
              <a:t/>
            </a: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900"/>
              <a:buFont typeface="Arial"/>
              <a:buNone/>
            </a:pPr>
            <a:r>
              <a:rPr b="1" i="0" lang="en-ZA" sz="1900" u="none" cap="none" strike="noStrike">
                <a:solidFill>
                  <a:srgbClr val="B45309"/>
                </a:solidFill>
                <a:latin typeface="Calibri"/>
                <a:ea typeface="Calibri"/>
                <a:cs typeface="Calibri"/>
                <a:sym typeface="Calibri"/>
              </a:rPr>
              <a:t>Anticipating risks</a:t>
            </a:r>
            <a:endParaRPr b="0" i="0" sz="15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ZA" sz="1500" u="none" cap="none" strike="noStrike">
                <a:solidFill>
                  <a:srgbClr val="2D2D2D"/>
                </a:solidFill>
                <a:latin typeface="Calibri"/>
                <a:ea typeface="Calibri"/>
                <a:cs typeface="Calibri"/>
                <a:sym typeface="Calibri"/>
              </a:rPr>
              <a:t>What can be learned from the challenges identified for LLMs in the research literature?</a:t>
            </a:r>
            <a:endParaRPr b="0" i="0" sz="1500" u="none" cap="none" strike="noStrik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pic>
        <p:nvPicPr>
          <p:cNvPr id="870" name="Google Shape;870;p81"/>
          <p:cNvPicPr preferRelativeResize="0"/>
          <p:nvPr/>
        </p:nvPicPr>
        <p:blipFill rotWithShape="1">
          <a:blip r:embed="rId3">
            <a:alphaModFix/>
          </a:blip>
          <a:srcRect b="0" l="0" r="0" t="0"/>
          <a:stretch/>
        </p:blipFill>
        <p:spPr>
          <a:xfrm>
            <a:off x="39400" y="105100"/>
            <a:ext cx="12192000" cy="6858000"/>
          </a:xfrm>
          <a:prstGeom prst="rect">
            <a:avLst/>
          </a:prstGeom>
          <a:noFill/>
          <a:ln>
            <a:noFill/>
          </a:ln>
        </p:spPr>
      </p:pic>
      <p:sp>
        <p:nvSpPr>
          <p:cNvPr id="871" name="Google Shape;871;p81"/>
          <p:cNvSpPr/>
          <p:nvPr/>
        </p:nvSpPr>
        <p:spPr>
          <a:xfrm>
            <a:off x="302167" y="722600"/>
            <a:ext cx="12270900" cy="8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Course 4 - Discover the Transformer Architecture</a:t>
            </a:r>
            <a:endParaRPr b="0" i="0" sz="4000" u="none" cap="none" strike="noStrike">
              <a:solidFill>
                <a:srgbClr val="000000"/>
              </a:solidFill>
              <a:latin typeface="Calibri"/>
              <a:ea typeface="Calibri"/>
              <a:cs typeface="Calibri"/>
              <a:sym typeface="Calibri"/>
            </a:endParaRPr>
          </a:p>
        </p:txBody>
      </p:sp>
      <p:sp>
        <p:nvSpPr>
          <p:cNvPr id="872" name="Google Shape;872;p81"/>
          <p:cNvSpPr/>
          <p:nvPr/>
        </p:nvSpPr>
        <p:spPr>
          <a:xfrm>
            <a:off x="487680" y="2438400"/>
            <a:ext cx="5547300" cy="35967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73" name="Google Shape;873;p81"/>
          <p:cNvSpPr/>
          <p:nvPr/>
        </p:nvSpPr>
        <p:spPr>
          <a:xfrm>
            <a:off x="792480" y="2682240"/>
            <a:ext cx="4998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AI Activities</a:t>
            </a:r>
            <a:endParaRPr b="0" i="0" sz="2900" u="none" cap="none" strike="noStrike">
              <a:solidFill>
                <a:srgbClr val="000000"/>
              </a:solidFill>
              <a:latin typeface="Calibri"/>
              <a:ea typeface="Calibri"/>
              <a:cs typeface="Calibri"/>
              <a:sym typeface="Calibri"/>
            </a:endParaRPr>
          </a:p>
        </p:txBody>
      </p:sp>
      <p:sp>
        <p:nvSpPr>
          <p:cNvPr id="874" name="Google Shape;874;p81"/>
          <p:cNvSpPr/>
          <p:nvPr/>
        </p:nvSpPr>
        <p:spPr>
          <a:xfrm>
            <a:off x="792480" y="3718560"/>
            <a:ext cx="49989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2000"/>
              <a:buFont typeface="Georgia"/>
              <a:buNone/>
            </a:pPr>
            <a:r>
              <a:t/>
            </a:r>
            <a:endParaRPr b="0" i="0" sz="2000" u="none" cap="none" strike="noStrike">
              <a:solidFill>
                <a:srgbClr val="000000"/>
              </a:solidFill>
              <a:latin typeface="Calibri"/>
              <a:ea typeface="Calibri"/>
              <a:cs typeface="Calibri"/>
              <a:sym typeface="Calibri"/>
            </a:endParaRPr>
          </a:p>
        </p:txBody>
      </p:sp>
      <p:sp>
        <p:nvSpPr>
          <p:cNvPr id="875" name="Google Shape;875;p81"/>
          <p:cNvSpPr/>
          <p:nvPr/>
        </p:nvSpPr>
        <p:spPr>
          <a:xfrm>
            <a:off x="792480" y="4206240"/>
            <a:ext cx="49989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t/>
            </a:r>
            <a:endParaRPr b="0" i="0" sz="1500" u="none" cap="none" strike="noStrike">
              <a:solidFill>
                <a:srgbClr val="000000"/>
              </a:solidFill>
              <a:latin typeface="Calibri"/>
              <a:ea typeface="Calibri"/>
              <a:cs typeface="Calibri"/>
              <a:sym typeface="Calibri"/>
            </a:endParaRPr>
          </a:p>
        </p:txBody>
      </p:sp>
      <p:sp>
        <p:nvSpPr>
          <p:cNvPr id="876" name="Google Shape;876;p81"/>
          <p:cNvSpPr/>
          <p:nvPr/>
        </p:nvSpPr>
        <p:spPr>
          <a:xfrm>
            <a:off x="871300" y="3704328"/>
            <a:ext cx="4998900" cy="1445100"/>
          </a:xfrm>
          <a:prstGeom prst="rect">
            <a:avLst/>
          </a:prstGeom>
          <a:solidFill>
            <a:srgbClr val="E3EEF3"/>
          </a:solidFill>
          <a:ln cap="flat" cmpd="sng" w="16925">
            <a:solidFill>
              <a:srgbClr val="E3EEF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77" name="Google Shape;877;p81"/>
          <p:cNvSpPr/>
          <p:nvPr/>
        </p:nvSpPr>
        <p:spPr>
          <a:xfrm>
            <a:off x="1105921" y="3735184"/>
            <a:ext cx="4632900" cy="10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300"/>
              <a:buFont typeface="Calibri"/>
              <a:buNone/>
            </a:pPr>
            <a:r>
              <a:t/>
            </a: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900"/>
              <a:buFont typeface="Arial"/>
              <a:buNone/>
            </a:pPr>
            <a:r>
              <a:rPr b="1" i="0" lang="en-ZA" sz="1900" u="none" cap="none" strike="noStrike">
                <a:solidFill>
                  <a:srgbClr val="2C1458"/>
                </a:solidFill>
                <a:latin typeface="Calibri"/>
                <a:ea typeface="Calibri"/>
                <a:cs typeface="Calibri"/>
                <a:sym typeface="Calibri"/>
              </a:rPr>
              <a:t>Lab: Implement Masked Multi-Head Attention</a:t>
            </a:r>
            <a:endParaRPr b="0" i="0" sz="15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ZA" sz="1500" u="none" cap="none" strike="noStrike">
                <a:solidFill>
                  <a:srgbClr val="2D2D2D"/>
                </a:solidFill>
                <a:latin typeface="Calibri"/>
                <a:ea typeface="Calibri"/>
                <a:cs typeface="Calibri"/>
                <a:sym typeface="Calibri"/>
              </a:rPr>
              <a:t>Extend a single attention head and investigate which dependencies different heads capture.</a:t>
            </a:r>
            <a:endParaRPr b="0" i="0" sz="1500" u="none" cap="none" strike="noStrike">
              <a:solidFill>
                <a:srgbClr val="000000"/>
              </a:solidFill>
              <a:latin typeface="Calibri"/>
              <a:ea typeface="Calibri"/>
              <a:cs typeface="Calibri"/>
              <a:sym typeface="Calibri"/>
            </a:endParaRPr>
          </a:p>
        </p:txBody>
      </p:sp>
      <p:sp>
        <p:nvSpPr>
          <p:cNvPr id="878" name="Google Shape;878;p81"/>
          <p:cNvSpPr/>
          <p:nvPr/>
        </p:nvSpPr>
        <p:spPr>
          <a:xfrm>
            <a:off x="6156960" y="2438400"/>
            <a:ext cx="5547300" cy="35967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79" name="Google Shape;879;p81"/>
          <p:cNvSpPr/>
          <p:nvPr/>
        </p:nvSpPr>
        <p:spPr>
          <a:xfrm>
            <a:off x="6461760" y="2682240"/>
            <a:ext cx="4998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RI Activities</a:t>
            </a:r>
            <a:endParaRPr b="0" i="0" sz="2900" u="none" cap="none" strike="noStrike">
              <a:solidFill>
                <a:srgbClr val="000000"/>
              </a:solidFill>
              <a:latin typeface="Calibri"/>
              <a:ea typeface="Calibri"/>
              <a:cs typeface="Calibri"/>
              <a:sym typeface="Calibri"/>
            </a:endParaRPr>
          </a:p>
        </p:txBody>
      </p:sp>
      <p:sp>
        <p:nvSpPr>
          <p:cNvPr id="880" name="Google Shape;880;p81"/>
          <p:cNvSpPr/>
          <p:nvPr/>
        </p:nvSpPr>
        <p:spPr>
          <a:xfrm>
            <a:off x="6461760" y="3718560"/>
            <a:ext cx="49989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2000"/>
              <a:buFont typeface="Georgia"/>
              <a:buNone/>
            </a:pPr>
            <a:r>
              <a:t/>
            </a:r>
            <a:endParaRPr b="0" i="0" sz="2000" u="none" cap="none" strike="noStrike">
              <a:solidFill>
                <a:srgbClr val="000000"/>
              </a:solidFill>
              <a:latin typeface="Calibri"/>
              <a:ea typeface="Calibri"/>
              <a:cs typeface="Calibri"/>
              <a:sym typeface="Calibri"/>
            </a:endParaRPr>
          </a:p>
        </p:txBody>
      </p:sp>
      <p:sp>
        <p:nvSpPr>
          <p:cNvPr id="881" name="Google Shape;881;p81"/>
          <p:cNvSpPr/>
          <p:nvPr/>
        </p:nvSpPr>
        <p:spPr>
          <a:xfrm>
            <a:off x="6461760" y="4206240"/>
            <a:ext cx="49989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t/>
            </a:r>
            <a:endParaRPr b="0" i="0" sz="1500" u="none" cap="none" strike="noStrike">
              <a:solidFill>
                <a:srgbClr val="000000"/>
              </a:solidFill>
              <a:latin typeface="Calibri"/>
              <a:ea typeface="Calibri"/>
              <a:cs typeface="Calibri"/>
              <a:sym typeface="Calibri"/>
            </a:endParaRPr>
          </a:p>
        </p:txBody>
      </p:sp>
      <p:sp>
        <p:nvSpPr>
          <p:cNvPr id="882" name="Google Shape;882;p81"/>
          <p:cNvSpPr/>
          <p:nvPr/>
        </p:nvSpPr>
        <p:spPr>
          <a:xfrm>
            <a:off x="6461767" y="3704330"/>
            <a:ext cx="4998900" cy="1445100"/>
          </a:xfrm>
          <a:prstGeom prst="rect">
            <a:avLst/>
          </a:prstGeom>
          <a:solidFill>
            <a:srgbClr val="FDF1E0"/>
          </a:solidFill>
          <a:ln cap="flat" cmpd="sng" w="16925">
            <a:solidFill>
              <a:srgbClr val="FDF1E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83" name="Google Shape;883;p81"/>
          <p:cNvSpPr/>
          <p:nvPr/>
        </p:nvSpPr>
        <p:spPr>
          <a:xfrm>
            <a:off x="6644633" y="3476795"/>
            <a:ext cx="4632900" cy="167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1300"/>
              <a:buFont typeface="Calibri"/>
              <a:buNone/>
            </a:pPr>
            <a:r>
              <a:t/>
            </a: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900"/>
              <a:buFont typeface="Arial"/>
              <a:buNone/>
            </a:pPr>
            <a:r>
              <a:rPr b="1" i="0" lang="en-ZA" sz="1900" u="none" cap="none" strike="noStrike">
                <a:solidFill>
                  <a:srgbClr val="B45309"/>
                </a:solidFill>
                <a:latin typeface="Calibri"/>
                <a:ea typeface="Calibri"/>
                <a:cs typeface="Calibri"/>
                <a:sym typeface="Calibri"/>
              </a:rPr>
              <a:t>Community values and meaning in an automated world</a:t>
            </a:r>
            <a:endParaRPr b="0" i="0" sz="15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ZA" sz="1500" u="none" cap="none" strike="noStrike">
                <a:solidFill>
                  <a:srgbClr val="2D2D2D"/>
                </a:solidFill>
                <a:latin typeface="Calibri"/>
                <a:ea typeface="Calibri"/>
                <a:cs typeface="Calibri"/>
                <a:sym typeface="Calibri"/>
              </a:rPr>
              <a:t>How do human interactions create shared meaning, and what may be lost when automated?</a:t>
            </a:r>
            <a:endParaRPr b="0" i="0" sz="1500" u="none" cap="none" strike="noStrike">
              <a:solidFill>
                <a:srgbClr val="0000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pic>
        <p:nvPicPr>
          <p:cNvPr id="889" name="Google Shape;889;p82"/>
          <p:cNvPicPr preferRelativeResize="0"/>
          <p:nvPr/>
        </p:nvPicPr>
        <p:blipFill rotWithShape="1">
          <a:blip r:embed="rId3">
            <a:alphaModFix/>
          </a:blip>
          <a:srcRect b="0" l="0" r="0" t="0"/>
          <a:stretch/>
        </p:blipFill>
        <p:spPr>
          <a:xfrm>
            <a:off x="65700" y="0"/>
            <a:ext cx="12192000" cy="6858000"/>
          </a:xfrm>
          <a:prstGeom prst="rect">
            <a:avLst/>
          </a:prstGeom>
          <a:noFill/>
          <a:ln>
            <a:noFill/>
          </a:ln>
        </p:spPr>
      </p:pic>
      <p:sp>
        <p:nvSpPr>
          <p:cNvPr id="890" name="Google Shape;890;p82"/>
          <p:cNvSpPr/>
          <p:nvPr/>
        </p:nvSpPr>
        <p:spPr>
          <a:xfrm>
            <a:off x="487665" y="516133"/>
            <a:ext cx="95496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Course 5 - Fine-Tune Your Model</a:t>
            </a:r>
            <a:endParaRPr b="0" i="0" sz="4000" u="none" cap="none" strike="noStrike">
              <a:solidFill>
                <a:srgbClr val="000000"/>
              </a:solidFill>
              <a:latin typeface="Calibri"/>
              <a:ea typeface="Calibri"/>
              <a:cs typeface="Calibri"/>
              <a:sym typeface="Calibri"/>
            </a:endParaRPr>
          </a:p>
        </p:txBody>
      </p:sp>
      <p:sp>
        <p:nvSpPr>
          <p:cNvPr id="891" name="Google Shape;891;p82"/>
          <p:cNvSpPr/>
          <p:nvPr/>
        </p:nvSpPr>
        <p:spPr>
          <a:xfrm>
            <a:off x="487680" y="2438400"/>
            <a:ext cx="5547300" cy="35967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92" name="Google Shape;892;p82"/>
          <p:cNvSpPr/>
          <p:nvPr/>
        </p:nvSpPr>
        <p:spPr>
          <a:xfrm>
            <a:off x="792480" y="2682240"/>
            <a:ext cx="4998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AI Activities</a:t>
            </a:r>
            <a:endParaRPr b="0" i="0" sz="2900" u="none" cap="none" strike="noStrike">
              <a:solidFill>
                <a:srgbClr val="000000"/>
              </a:solidFill>
              <a:latin typeface="Calibri"/>
              <a:ea typeface="Calibri"/>
              <a:cs typeface="Calibri"/>
              <a:sym typeface="Calibri"/>
            </a:endParaRPr>
          </a:p>
        </p:txBody>
      </p:sp>
      <p:sp>
        <p:nvSpPr>
          <p:cNvPr id="893" name="Google Shape;893;p82"/>
          <p:cNvSpPr/>
          <p:nvPr/>
        </p:nvSpPr>
        <p:spPr>
          <a:xfrm>
            <a:off x="792480" y="3718560"/>
            <a:ext cx="49989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2000"/>
              <a:buFont typeface="Georgia"/>
              <a:buNone/>
            </a:pPr>
            <a:r>
              <a:t/>
            </a:r>
            <a:endParaRPr b="0" i="0" sz="2000" u="none" cap="none" strike="noStrike">
              <a:solidFill>
                <a:srgbClr val="000000"/>
              </a:solidFill>
              <a:latin typeface="Calibri"/>
              <a:ea typeface="Calibri"/>
              <a:cs typeface="Calibri"/>
              <a:sym typeface="Calibri"/>
            </a:endParaRPr>
          </a:p>
        </p:txBody>
      </p:sp>
      <p:sp>
        <p:nvSpPr>
          <p:cNvPr id="894" name="Google Shape;894;p82"/>
          <p:cNvSpPr/>
          <p:nvPr/>
        </p:nvSpPr>
        <p:spPr>
          <a:xfrm>
            <a:off x="792480" y="4206240"/>
            <a:ext cx="49989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t/>
            </a:r>
            <a:endParaRPr b="0" i="0" sz="1500" u="none" cap="none" strike="noStrike">
              <a:solidFill>
                <a:srgbClr val="000000"/>
              </a:solidFill>
              <a:latin typeface="Calibri"/>
              <a:ea typeface="Calibri"/>
              <a:cs typeface="Calibri"/>
              <a:sym typeface="Calibri"/>
            </a:endParaRPr>
          </a:p>
        </p:txBody>
      </p:sp>
      <p:sp>
        <p:nvSpPr>
          <p:cNvPr id="895" name="Google Shape;895;p82"/>
          <p:cNvSpPr/>
          <p:nvPr/>
        </p:nvSpPr>
        <p:spPr>
          <a:xfrm>
            <a:off x="792467" y="3851508"/>
            <a:ext cx="4998900" cy="1646100"/>
          </a:xfrm>
          <a:prstGeom prst="rect">
            <a:avLst/>
          </a:prstGeom>
          <a:solidFill>
            <a:srgbClr val="E3EEF3"/>
          </a:solidFill>
          <a:ln cap="flat" cmpd="sng" w="16925">
            <a:solidFill>
              <a:srgbClr val="E3EEF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96" name="Google Shape;896;p82"/>
          <p:cNvSpPr/>
          <p:nvPr/>
        </p:nvSpPr>
        <p:spPr>
          <a:xfrm>
            <a:off x="975367" y="3915206"/>
            <a:ext cx="4632900" cy="152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500"/>
              </a:spcBef>
              <a:spcAft>
                <a:spcPts val="0"/>
              </a:spcAft>
              <a:buClr>
                <a:srgbClr val="000000"/>
              </a:buClr>
              <a:buSzPts val="1900"/>
              <a:buFont typeface="Arial"/>
              <a:buNone/>
            </a:pPr>
            <a:r>
              <a:rPr b="1" i="0" lang="en-ZA" sz="1900" u="none" cap="none" strike="noStrike">
                <a:solidFill>
                  <a:srgbClr val="2C1458"/>
                </a:solidFill>
                <a:latin typeface="Calibri"/>
                <a:ea typeface="Calibri"/>
                <a:cs typeface="Calibri"/>
                <a:sym typeface="Calibri"/>
              </a:rPr>
              <a:t>How will your model respond? </a:t>
            </a:r>
            <a:endParaRPr b="0" i="0" sz="15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ZA" sz="1500" u="none" cap="none" strike="noStrike">
                <a:solidFill>
                  <a:srgbClr val="2D2D2D"/>
                </a:solidFill>
                <a:latin typeface="Calibri"/>
                <a:ea typeface="Calibri"/>
                <a:cs typeface="Calibri"/>
                <a:sym typeface="Calibri"/>
              </a:rPr>
              <a:t>Work out by hand how to format prompts for different tasks. </a:t>
            </a:r>
            <a:endParaRPr b="0" i="0" sz="1500" u="none" cap="none" strike="noStrike">
              <a:solidFill>
                <a:srgbClr val="000000"/>
              </a:solidFill>
              <a:latin typeface="Calibri"/>
              <a:ea typeface="Calibri"/>
              <a:cs typeface="Calibri"/>
              <a:sym typeface="Calibri"/>
            </a:endParaRPr>
          </a:p>
        </p:txBody>
      </p:sp>
      <p:sp>
        <p:nvSpPr>
          <p:cNvPr id="897" name="Google Shape;897;p82"/>
          <p:cNvSpPr/>
          <p:nvPr/>
        </p:nvSpPr>
        <p:spPr>
          <a:xfrm>
            <a:off x="6156960" y="2438400"/>
            <a:ext cx="5547300" cy="35967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98" name="Google Shape;898;p82"/>
          <p:cNvSpPr/>
          <p:nvPr/>
        </p:nvSpPr>
        <p:spPr>
          <a:xfrm>
            <a:off x="6461760" y="2682240"/>
            <a:ext cx="49989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RI Activities</a:t>
            </a:r>
            <a:endParaRPr b="0" i="0" sz="2900" u="none" cap="none" strike="noStrike">
              <a:solidFill>
                <a:srgbClr val="000000"/>
              </a:solidFill>
              <a:latin typeface="Calibri"/>
              <a:ea typeface="Calibri"/>
              <a:cs typeface="Calibri"/>
              <a:sym typeface="Calibri"/>
            </a:endParaRPr>
          </a:p>
        </p:txBody>
      </p:sp>
      <p:sp>
        <p:nvSpPr>
          <p:cNvPr id="899" name="Google Shape;899;p82"/>
          <p:cNvSpPr/>
          <p:nvPr/>
        </p:nvSpPr>
        <p:spPr>
          <a:xfrm>
            <a:off x="6461760" y="3718560"/>
            <a:ext cx="4998900" cy="4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2000"/>
              <a:buFont typeface="Georgia"/>
              <a:buNone/>
            </a:pPr>
            <a:r>
              <a:t/>
            </a:r>
            <a:endParaRPr b="0" i="0" sz="2000" u="none" cap="none" strike="noStrike">
              <a:solidFill>
                <a:srgbClr val="000000"/>
              </a:solidFill>
              <a:latin typeface="Calibri"/>
              <a:ea typeface="Calibri"/>
              <a:cs typeface="Calibri"/>
              <a:sym typeface="Calibri"/>
            </a:endParaRPr>
          </a:p>
        </p:txBody>
      </p:sp>
      <p:sp>
        <p:nvSpPr>
          <p:cNvPr id="900" name="Google Shape;900;p82"/>
          <p:cNvSpPr/>
          <p:nvPr/>
        </p:nvSpPr>
        <p:spPr>
          <a:xfrm>
            <a:off x="6461760" y="4206240"/>
            <a:ext cx="49989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t/>
            </a:r>
            <a:endParaRPr b="0" i="0" sz="1500" u="none" cap="none" strike="noStrike">
              <a:solidFill>
                <a:srgbClr val="000000"/>
              </a:solidFill>
              <a:latin typeface="Calibri"/>
              <a:ea typeface="Calibri"/>
              <a:cs typeface="Calibri"/>
              <a:sym typeface="Calibri"/>
            </a:endParaRPr>
          </a:p>
        </p:txBody>
      </p:sp>
      <p:sp>
        <p:nvSpPr>
          <p:cNvPr id="901" name="Google Shape;901;p82"/>
          <p:cNvSpPr/>
          <p:nvPr/>
        </p:nvSpPr>
        <p:spPr>
          <a:xfrm>
            <a:off x="6461767" y="3816917"/>
            <a:ext cx="4998900" cy="1706700"/>
          </a:xfrm>
          <a:prstGeom prst="rect">
            <a:avLst/>
          </a:prstGeom>
          <a:solidFill>
            <a:srgbClr val="FDF1E0"/>
          </a:solidFill>
          <a:ln cap="flat" cmpd="sng" w="16925">
            <a:solidFill>
              <a:srgbClr val="FDF1E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02" name="Google Shape;902;p82"/>
          <p:cNvSpPr/>
          <p:nvPr/>
        </p:nvSpPr>
        <p:spPr>
          <a:xfrm>
            <a:off x="6644633" y="3941382"/>
            <a:ext cx="4632900" cy="152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500"/>
              </a:spcBef>
              <a:spcAft>
                <a:spcPts val="0"/>
              </a:spcAft>
              <a:buClr>
                <a:srgbClr val="000000"/>
              </a:buClr>
              <a:buSzPts val="1900"/>
              <a:buFont typeface="Arial"/>
              <a:buNone/>
            </a:pPr>
            <a:r>
              <a:rPr b="1" i="0" lang="en-ZA" sz="1900" u="none" cap="none" strike="noStrike">
                <a:solidFill>
                  <a:srgbClr val="B45309"/>
                </a:solidFill>
                <a:latin typeface="Calibri"/>
                <a:ea typeface="Calibri"/>
                <a:cs typeface="Calibri"/>
                <a:sym typeface="Calibri"/>
              </a:rPr>
              <a:t>Imagining AI in cultural contexts </a:t>
            </a:r>
            <a:endParaRPr b="0" i="0" sz="15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ZA" sz="1500" u="none" cap="none" strike="noStrike">
                <a:solidFill>
                  <a:srgbClr val="2D2D2D"/>
                </a:solidFill>
                <a:latin typeface="Calibri"/>
                <a:ea typeface="Calibri"/>
                <a:cs typeface="Calibri"/>
                <a:sym typeface="Calibri"/>
              </a:rPr>
              <a:t>Write a short story exploring local values and meanings around AI in your context. </a:t>
            </a:r>
            <a:endParaRPr b="0" i="0" sz="1500" u="none" cap="none" strike="noStrike">
              <a:solidFill>
                <a:srgbClr val="000000"/>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pic>
        <p:nvPicPr>
          <p:cNvPr id="908" name="Google Shape;908;p8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09" name="Google Shape;909;p83"/>
          <p:cNvSpPr/>
          <p:nvPr/>
        </p:nvSpPr>
        <p:spPr>
          <a:xfrm>
            <a:off x="487667" y="387300"/>
            <a:ext cx="9733500" cy="75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Course 7 - Accelerate Your Model</a:t>
            </a:r>
            <a:endParaRPr b="0" i="0" sz="4000" u="none" cap="none" strike="noStrike">
              <a:solidFill>
                <a:srgbClr val="000000"/>
              </a:solidFill>
              <a:latin typeface="Calibri"/>
              <a:ea typeface="Calibri"/>
              <a:cs typeface="Calibri"/>
              <a:sym typeface="Calibri"/>
            </a:endParaRPr>
          </a:p>
        </p:txBody>
      </p:sp>
      <p:sp>
        <p:nvSpPr>
          <p:cNvPr id="910" name="Google Shape;910;p83"/>
          <p:cNvSpPr/>
          <p:nvPr/>
        </p:nvSpPr>
        <p:spPr>
          <a:xfrm>
            <a:off x="487667" y="1959258"/>
            <a:ext cx="5547300" cy="40761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11" name="Google Shape;911;p83"/>
          <p:cNvSpPr/>
          <p:nvPr/>
        </p:nvSpPr>
        <p:spPr>
          <a:xfrm>
            <a:off x="792467" y="2235581"/>
            <a:ext cx="4998900" cy="69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AI Activities</a:t>
            </a:r>
            <a:endParaRPr b="0" i="0" sz="2900" u="none" cap="none" strike="noStrike">
              <a:solidFill>
                <a:srgbClr val="000000"/>
              </a:solidFill>
              <a:latin typeface="Calibri"/>
              <a:ea typeface="Calibri"/>
              <a:cs typeface="Calibri"/>
              <a:sym typeface="Calibri"/>
            </a:endParaRPr>
          </a:p>
        </p:txBody>
      </p:sp>
      <p:sp>
        <p:nvSpPr>
          <p:cNvPr id="912" name="Google Shape;912;p83"/>
          <p:cNvSpPr/>
          <p:nvPr/>
        </p:nvSpPr>
        <p:spPr>
          <a:xfrm>
            <a:off x="792467" y="3409952"/>
            <a:ext cx="4998900" cy="483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2000"/>
              <a:buFont typeface="Georgia"/>
              <a:buNone/>
            </a:pPr>
            <a:r>
              <a:t/>
            </a:r>
            <a:endParaRPr b="0" i="0" sz="2000" u="none" cap="none" strike="noStrike">
              <a:solidFill>
                <a:srgbClr val="000000"/>
              </a:solidFill>
              <a:latin typeface="Calibri"/>
              <a:ea typeface="Calibri"/>
              <a:cs typeface="Calibri"/>
              <a:sym typeface="Calibri"/>
            </a:endParaRPr>
          </a:p>
        </p:txBody>
      </p:sp>
      <p:sp>
        <p:nvSpPr>
          <p:cNvPr id="913" name="Google Shape;913;p83"/>
          <p:cNvSpPr/>
          <p:nvPr/>
        </p:nvSpPr>
        <p:spPr>
          <a:xfrm>
            <a:off x="792467" y="3962598"/>
            <a:ext cx="4998900" cy="75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t/>
            </a:r>
            <a:endParaRPr b="0" i="0" sz="1500" u="none" cap="none" strike="noStrike">
              <a:solidFill>
                <a:srgbClr val="000000"/>
              </a:solidFill>
              <a:latin typeface="Calibri"/>
              <a:ea typeface="Calibri"/>
              <a:cs typeface="Calibri"/>
              <a:sym typeface="Calibri"/>
            </a:endParaRPr>
          </a:p>
        </p:txBody>
      </p:sp>
      <p:sp>
        <p:nvSpPr>
          <p:cNvPr id="914" name="Google Shape;914;p83"/>
          <p:cNvSpPr/>
          <p:nvPr/>
        </p:nvSpPr>
        <p:spPr>
          <a:xfrm>
            <a:off x="792467" y="3402773"/>
            <a:ext cx="4998900" cy="1807500"/>
          </a:xfrm>
          <a:prstGeom prst="rect">
            <a:avLst/>
          </a:prstGeom>
          <a:solidFill>
            <a:srgbClr val="E3EEF3"/>
          </a:solidFill>
          <a:ln cap="flat" cmpd="sng" w="16925">
            <a:solidFill>
              <a:srgbClr val="E3EEF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15" name="Google Shape;915;p83"/>
          <p:cNvSpPr/>
          <p:nvPr/>
        </p:nvSpPr>
        <p:spPr>
          <a:xfrm>
            <a:off x="975333" y="3205710"/>
            <a:ext cx="4632900" cy="157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6E8A"/>
              </a:buClr>
              <a:buSzPts val="1300"/>
              <a:buFont typeface="Calibri"/>
              <a:buNone/>
            </a:pPr>
            <a:r>
              <a:t/>
            </a: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900"/>
              <a:buFont typeface="Arial"/>
              <a:buNone/>
            </a:pPr>
            <a:r>
              <a:rPr b="1" i="0" lang="en-ZA" sz="1900" u="none" cap="none" strike="noStrike">
                <a:solidFill>
                  <a:srgbClr val="2C1458"/>
                </a:solidFill>
                <a:latin typeface="Calibri"/>
                <a:ea typeface="Calibri"/>
                <a:cs typeface="Calibri"/>
                <a:sym typeface="Calibri"/>
              </a:rPr>
              <a:t>Smart numbers </a:t>
            </a:r>
            <a:endParaRPr b="0" i="0" sz="15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ZA" sz="1500" u="none" cap="none" strike="noStrike">
                <a:solidFill>
                  <a:srgbClr val="2D2D2D"/>
                </a:solidFill>
                <a:latin typeface="Calibri"/>
                <a:ea typeface="Calibri"/>
                <a:cs typeface="Calibri"/>
                <a:sym typeface="Calibri"/>
              </a:rPr>
              <a:t>Reason through how lower-precision numbers let you train bigger, more powerful models. </a:t>
            </a:r>
            <a:endParaRPr b="0" i="0" sz="1500" u="none" cap="none" strike="noStrike">
              <a:solidFill>
                <a:srgbClr val="000000"/>
              </a:solidFill>
              <a:latin typeface="Calibri"/>
              <a:ea typeface="Calibri"/>
              <a:cs typeface="Calibri"/>
              <a:sym typeface="Calibri"/>
            </a:endParaRPr>
          </a:p>
        </p:txBody>
      </p:sp>
      <p:sp>
        <p:nvSpPr>
          <p:cNvPr id="916" name="Google Shape;916;p83"/>
          <p:cNvSpPr/>
          <p:nvPr/>
        </p:nvSpPr>
        <p:spPr>
          <a:xfrm>
            <a:off x="6156957" y="1959258"/>
            <a:ext cx="5547300" cy="40761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17" name="Google Shape;917;p83"/>
          <p:cNvSpPr/>
          <p:nvPr/>
        </p:nvSpPr>
        <p:spPr>
          <a:xfrm>
            <a:off x="6461757" y="2235581"/>
            <a:ext cx="4998900" cy="69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2900"/>
              <a:buFont typeface="Georgia"/>
              <a:buNone/>
            </a:pPr>
            <a:r>
              <a:rPr b="1" i="0" lang="en-ZA" sz="2900" u="none" cap="none" strike="noStrike">
                <a:solidFill>
                  <a:srgbClr val="2C1458"/>
                </a:solidFill>
                <a:latin typeface="Georgia"/>
                <a:ea typeface="Georgia"/>
                <a:cs typeface="Georgia"/>
                <a:sym typeface="Georgia"/>
              </a:rPr>
              <a:t>RI Activities</a:t>
            </a:r>
            <a:endParaRPr b="0" i="0" sz="2900" u="none" cap="none" strike="noStrike">
              <a:solidFill>
                <a:srgbClr val="000000"/>
              </a:solidFill>
              <a:latin typeface="Calibri"/>
              <a:ea typeface="Calibri"/>
              <a:cs typeface="Calibri"/>
              <a:sym typeface="Calibri"/>
            </a:endParaRPr>
          </a:p>
        </p:txBody>
      </p:sp>
      <p:sp>
        <p:nvSpPr>
          <p:cNvPr id="918" name="Google Shape;918;p83"/>
          <p:cNvSpPr/>
          <p:nvPr/>
        </p:nvSpPr>
        <p:spPr>
          <a:xfrm>
            <a:off x="6461757" y="3409952"/>
            <a:ext cx="4998900" cy="483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2000"/>
              <a:buFont typeface="Georgia"/>
              <a:buNone/>
            </a:pPr>
            <a:r>
              <a:t/>
            </a:r>
            <a:endParaRPr b="0" i="0" sz="2000" u="none" cap="none" strike="noStrike">
              <a:solidFill>
                <a:srgbClr val="000000"/>
              </a:solidFill>
              <a:latin typeface="Calibri"/>
              <a:ea typeface="Calibri"/>
              <a:cs typeface="Calibri"/>
              <a:sym typeface="Calibri"/>
            </a:endParaRPr>
          </a:p>
        </p:txBody>
      </p:sp>
      <p:sp>
        <p:nvSpPr>
          <p:cNvPr id="919" name="Google Shape;919;p83"/>
          <p:cNvSpPr/>
          <p:nvPr/>
        </p:nvSpPr>
        <p:spPr>
          <a:xfrm>
            <a:off x="6461757" y="3962598"/>
            <a:ext cx="4998900" cy="75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t/>
            </a:r>
            <a:endParaRPr b="0" i="0" sz="1500" u="none" cap="none" strike="noStrike">
              <a:solidFill>
                <a:srgbClr val="000000"/>
              </a:solidFill>
              <a:latin typeface="Calibri"/>
              <a:ea typeface="Calibri"/>
              <a:cs typeface="Calibri"/>
              <a:sym typeface="Calibri"/>
            </a:endParaRPr>
          </a:p>
        </p:txBody>
      </p:sp>
      <p:sp>
        <p:nvSpPr>
          <p:cNvPr id="920" name="Google Shape;920;p83"/>
          <p:cNvSpPr/>
          <p:nvPr/>
        </p:nvSpPr>
        <p:spPr>
          <a:xfrm>
            <a:off x="6461767" y="3356443"/>
            <a:ext cx="4998900" cy="1865100"/>
          </a:xfrm>
          <a:prstGeom prst="rect">
            <a:avLst/>
          </a:prstGeom>
          <a:solidFill>
            <a:srgbClr val="FDF1E0"/>
          </a:solidFill>
          <a:ln cap="flat" cmpd="sng" w="16925">
            <a:solidFill>
              <a:srgbClr val="FDF1E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21" name="Google Shape;921;p83"/>
          <p:cNvSpPr/>
          <p:nvPr/>
        </p:nvSpPr>
        <p:spPr>
          <a:xfrm>
            <a:off x="6644767" y="3361480"/>
            <a:ext cx="4632900" cy="151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500"/>
              </a:spcBef>
              <a:spcAft>
                <a:spcPts val="0"/>
              </a:spcAft>
              <a:buClr>
                <a:srgbClr val="000000"/>
              </a:buClr>
              <a:buSzPts val="1900"/>
              <a:buFont typeface="Arial"/>
              <a:buNone/>
            </a:pPr>
            <a:r>
              <a:rPr b="1" i="0" lang="en-ZA" sz="1900" u="none" cap="none" strike="noStrike">
                <a:solidFill>
                  <a:srgbClr val="B45309"/>
                </a:solidFill>
                <a:latin typeface="Calibri"/>
                <a:ea typeface="Calibri"/>
                <a:cs typeface="Calibri"/>
                <a:sym typeface="Calibri"/>
              </a:rPr>
              <a:t>Environmental impacts of LLMs </a:t>
            </a:r>
            <a:endParaRPr b="0" i="0" sz="1500" u="none" cap="none" strike="noStrike">
              <a:solidFill>
                <a:srgbClr val="000000"/>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ZA" sz="1500" u="none" cap="none" strike="noStrike">
                <a:solidFill>
                  <a:srgbClr val="2D2D2D"/>
                </a:solidFill>
                <a:latin typeface="Calibri"/>
                <a:ea typeface="Calibri"/>
                <a:cs typeface="Calibri"/>
                <a:sym typeface="Calibri"/>
              </a:rPr>
              <a:t>Map how stakeholders are affected by the environmental costs of fine-tuning LLMs.</a:t>
            </a:r>
            <a:endParaRPr b="0" i="0" sz="1500" u="none" cap="none" strike="noStrike">
              <a:solidFill>
                <a:srgbClr val="00000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pic>
        <p:nvPicPr>
          <p:cNvPr id="927" name="Google Shape;927;p8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28" name="Google Shape;928;p84"/>
          <p:cNvSpPr/>
          <p:nvPr/>
        </p:nvSpPr>
        <p:spPr>
          <a:xfrm>
            <a:off x="487680" y="1225290"/>
            <a:ext cx="109728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Classify an Activity, AI? RI? Which level?</a:t>
            </a:r>
            <a:endParaRPr b="0" i="0" sz="4000" u="none" cap="none" strike="noStrike">
              <a:solidFill>
                <a:schemeClr val="dk1"/>
              </a:solidFill>
              <a:latin typeface="Calibri"/>
              <a:ea typeface="Calibri"/>
              <a:cs typeface="Calibri"/>
              <a:sym typeface="Calibri"/>
            </a:endParaRPr>
          </a:p>
        </p:txBody>
      </p:sp>
      <p:sp>
        <p:nvSpPr>
          <p:cNvPr id="929" name="Google Shape;929;p84"/>
          <p:cNvSpPr/>
          <p:nvPr/>
        </p:nvSpPr>
        <p:spPr>
          <a:xfrm>
            <a:off x="487680" y="2536336"/>
            <a:ext cx="5547300" cy="24993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84"/>
          <p:cNvSpPr/>
          <p:nvPr/>
        </p:nvSpPr>
        <p:spPr>
          <a:xfrm>
            <a:off x="487680" y="2536336"/>
            <a:ext cx="5547300" cy="390000"/>
          </a:xfrm>
          <a:prstGeom prst="rect">
            <a:avLst/>
          </a:prstGeom>
          <a:solidFill>
            <a:srgbClr val="0E6E8A"/>
          </a:solidFill>
          <a:ln cap="flat" cmpd="sng" w="16925">
            <a:solidFill>
              <a:srgbClr val="0E6E8A"/>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84"/>
          <p:cNvSpPr/>
          <p:nvPr/>
        </p:nvSpPr>
        <p:spPr>
          <a:xfrm>
            <a:off x="670560" y="2585104"/>
            <a:ext cx="5181600" cy="29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ZA" sz="1700" u="none" cap="none" strike="noStrike">
                <a:solidFill>
                  <a:srgbClr val="FFFFFF"/>
                </a:solidFill>
                <a:latin typeface="Calibri"/>
                <a:ea typeface="Calibri"/>
                <a:cs typeface="Calibri"/>
                <a:sym typeface="Calibri"/>
              </a:rPr>
              <a:t>Example 1</a:t>
            </a:r>
            <a:endParaRPr b="0" i="0" sz="1700" u="none" cap="none" strike="noStrike">
              <a:solidFill>
                <a:schemeClr val="dk1"/>
              </a:solidFill>
              <a:latin typeface="Calibri"/>
              <a:ea typeface="Calibri"/>
              <a:cs typeface="Calibri"/>
              <a:sym typeface="Calibri"/>
            </a:endParaRPr>
          </a:p>
        </p:txBody>
      </p:sp>
      <p:sp>
        <p:nvSpPr>
          <p:cNvPr id="932" name="Google Shape;932;p84"/>
          <p:cNvSpPr/>
          <p:nvPr/>
        </p:nvSpPr>
        <p:spPr>
          <a:xfrm>
            <a:off x="572534" y="3084989"/>
            <a:ext cx="5340900" cy="12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700"/>
              <a:buFont typeface="Georgia"/>
              <a:buNone/>
            </a:pPr>
            <a:r>
              <a:rPr b="0" i="1" lang="en-ZA" sz="1800" u="none" cap="none" strike="noStrike">
                <a:solidFill>
                  <a:srgbClr val="2D2D2D"/>
                </a:solidFill>
                <a:latin typeface="Georgia"/>
                <a:ea typeface="Georgia"/>
                <a:cs typeface="Georgia"/>
                <a:sym typeface="Georgia"/>
              </a:rPr>
              <a:t>“Train a convolutional neural network to classify maize leaf images as healthy, blighted, or rust-infected using a labelled dataset of 5,000 photographs from Kenyan smallholder farms”</a:t>
            </a:r>
            <a:endParaRPr b="0" i="0" sz="1800" u="none" cap="none" strike="noStrike">
              <a:solidFill>
                <a:schemeClr val="dk1"/>
              </a:solidFill>
              <a:latin typeface="Calibri"/>
              <a:ea typeface="Calibri"/>
              <a:cs typeface="Calibri"/>
              <a:sym typeface="Calibri"/>
            </a:endParaRPr>
          </a:p>
        </p:txBody>
      </p:sp>
      <p:sp>
        <p:nvSpPr>
          <p:cNvPr id="933" name="Google Shape;933;p84"/>
          <p:cNvSpPr/>
          <p:nvPr/>
        </p:nvSpPr>
        <p:spPr>
          <a:xfrm>
            <a:off x="731520" y="4365136"/>
            <a:ext cx="914400" cy="390000"/>
          </a:xfrm>
          <a:prstGeom prst="roundRect">
            <a:avLst>
              <a:gd fmla="val 37500" name="adj"/>
            </a:avLst>
          </a:prstGeom>
          <a:solidFill>
            <a:srgbClr val="E3EEF3"/>
          </a:solidFill>
          <a:ln cap="flat" cmpd="sng" w="16925">
            <a:solidFill>
              <a:srgbClr val="E3EEF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84"/>
          <p:cNvSpPr/>
          <p:nvPr/>
        </p:nvSpPr>
        <p:spPr>
          <a:xfrm>
            <a:off x="731520" y="4365136"/>
            <a:ext cx="914400" cy="39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E6E8A"/>
              </a:buClr>
              <a:buSzPts val="1500"/>
              <a:buFont typeface="Calibri"/>
              <a:buNone/>
            </a:pPr>
            <a:r>
              <a:rPr b="1" i="0" lang="en-ZA" sz="1500" u="none" cap="none" strike="noStrike">
                <a:solidFill>
                  <a:srgbClr val="0E6E8A"/>
                </a:solidFill>
                <a:latin typeface="Calibri"/>
                <a:ea typeface="Calibri"/>
                <a:cs typeface="Calibri"/>
                <a:sym typeface="Calibri"/>
              </a:rPr>
              <a:t>AI</a:t>
            </a:r>
            <a:endParaRPr b="0" i="0" sz="1500" u="none" cap="none" strike="noStrike">
              <a:solidFill>
                <a:schemeClr val="dk1"/>
              </a:solidFill>
              <a:latin typeface="Calibri"/>
              <a:ea typeface="Calibri"/>
              <a:cs typeface="Calibri"/>
              <a:sym typeface="Calibri"/>
            </a:endParaRPr>
          </a:p>
        </p:txBody>
      </p:sp>
      <p:sp>
        <p:nvSpPr>
          <p:cNvPr id="935" name="Google Shape;935;p84"/>
          <p:cNvSpPr/>
          <p:nvPr/>
        </p:nvSpPr>
        <p:spPr>
          <a:xfrm>
            <a:off x="1767840" y="4365136"/>
            <a:ext cx="1463100" cy="390000"/>
          </a:xfrm>
          <a:prstGeom prst="roundRect">
            <a:avLst>
              <a:gd fmla="val 37500" name="adj"/>
            </a:avLst>
          </a:prstGeom>
          <a:solidFill>
            <a:srgbClr val="F4F2F8"/>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84"/>
          <p:cNvSpPr/>
          <p:nvPr/>
        </p:nvSpPr>
        <p:spPr>
          <a:xfrm>
            <a:off x="1767840" y="4365136"/>
            <a:ext cx="1463100" cy="39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C1458"/>
              </a:buClr>
              <a:buSzPts val="1500"/>
              <a:buFont typeface="Calibri"/>
              <a:buNone/>
            </a:pPr>
            <a:r>
              <a:rPr b="0" i="0" lang="en-ZA" sz="1500" u="none" cap="none" strike="noStrike">
                <a:solidFill>
                  <a:srgbClr val="2C1458"/>
                </a:solidFill>
                <a:latin typeface="Calibri"/>
                <a:ea typeface="Calibri"/>
                <a:cs typeface="Calibri"/>
                <a:sym typeface="Calibri"/>
              </a:rPr>
              <a:t>Apply</a:t>
            </a:r>
            <a:endParaRPr b="0" i="0" sz="1500" u="none" cap="none" strike="noStrike">
              <a:solidFill>
                <a:schemeClr val="dk1"/>
              </a:solidFill>
              <a:latin typeface="Calibri"/>
              <a:ea typeface="Calibri"/>
              <a:cs typeface="Calibri"/>
              <a:sym typeface="Calibri"/>
            </a:endParaRPr>
          </a:p>
        </p:txBody>
      </p:sp>
      <p:sp>
        <p:nvSpPr>
          <p:cNvPr id="937" name="Google Shape;937;p84"/>
          <p:cNvSpPr/>
          <p:nvPr/>
        </p:nvSpPr>
        <p:spPr>
          <a:xfrm>
            <a:off x="6156960" y="2536336"/>
            <a:ext cx="5547300" cy="24993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84"/>
          <p:cNvSpPr/>
          <p:nvPr/>
        </p:nvSpPr>
        <p:spPr>
          <a:xfrm>
            <a:off x="6156960" y="2536336"/>
            <a:ext cx="5547300" cy="390000"/>
          </a:xfrm>
          <a:prstGeom prst="rect">
            <a:avLst/>
          </a:prstGeom>
          <a:solidFill>
            <a:srgbClr val="B45309"/>
          </a:solidFill>
          <a:ln cap="flat" cmpd="sng" w="16925">
            <a:solidFill>
              <a:srgbClr val="B4530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84"/>
          <p:cNvSpPr/>
          <p:nvPr/>
        </p:nvSpPr>
        <p:spPr>
          <a:xfrm>
            <a:off x="6339840" y="2585104"/>
            <a:ext cx="5181600" cy="29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ZA" sz="1700" u="none" cap="none" strike="noStrike">
                <a:solidFill>
                  <a:srgbClr val="FFFFFF"/>
                </a:solidFill>
                <a:latin typeface="Calibri"/>
                <a:ea typeface="Calibri"/>
                <a:cs typeface="Calibri"/>
                <a:sym typeface="Calibri"/>
              </a:rPr>
              <a:t>Example 2</a:t>
            </a:r>
            <a:endParaRPr b="0" i="0" sz="1700" u="none" cap="none" strike="noStrike">
              <a:solidFill>
                <a:schemeClr val="dk1"/>
              </a:solidFill>
              <a:latin typeface="Calibri"/>
              <a:ea typeface="Calibri"/>
              <a:cs typeface="Calibri"/>
              <a:sym typeface="Calibri"/>
            </a:endParaRPr>
          </a:p>
        </p:txBody>
      </p:sp>
      <p:sp>
        <p:nvSpPr>
          <p:cNvPr id="940" name="Google Shape;940;p84"/>
          <p:cNvSpPr/>
          <p:nvPr/>
        </p:nvSpPr>
        <p:spPr>
          <a:xfrm>
            <a:off x="6400800" y="3024016"/>
            <a:ext cx="5181600" cy="128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Georgia"/>
              <a:buNone/>
            </a:pPr>
            <a:r>
              <a:rPr b="0" i="1" lang="en-ZA" sz="1900" u="none" cap="none" strike="noStrike">
                <a:solidFill>
                  <a:srgbClr val="2D2D2D"/>
                </a:solidFill>
                <a:latin typeface="Georgia"/>
                <a:ea typeface="Georgia"/>
                <a:cs typeface="Georgia"/>
                <a:sym typeface="Georgia"/>
              </a:rPr>
              <a:t>“If your model misdiagnoses a smallholder farmer's only crop, who bears the cost?”</a:t>
            </a:r>
            <a:endParaRPr b="0" i="0" sz="1900" u="none" cap="none" strike="noStrike">
              <a:solidFill>
                <a:schemeClr val="dk1"/>
              </a:solidFill>
              <a:latin typeface="Calibri"/>
              <a:ea typeface="Calibri"/>
              <a:cs typeface="Calibri"/>
              <a:sym typeface="Calibri"/>
            </a:endParaRPr>
          </a:p>
        </p:txBody>
      </p:sp>
      <p:sp>
        <p:nvSpPr>
          <p:cNvPr id="941" name="Google Shape;941;p84"/>
          <p:cNvSpPr/>
          <p:nvPr/>
        </p:nvSpPr>
        <p:spPr>
          <a:xfrm>
            <a:off x="6400800" y="4365136"/>
            <a:ext cx="914400" cy="390000"/>
          </a:xfrm>
          <a:prstGeom prst="roundRect">
            <a:avLst>
              <a:gd fmla="val 37500" name="adj"/>
            </a:avLst>
          </a:prstGeom>
          <a:solidFill>
            <a:srgbClr val="FDF1E0"/>
          </a:solidFill>
          <a:ln cap="flat" cmpd="sng" w="16925">
            <a:solidFill>
              <a:srgbClr val="FDF1E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84"/>
          <p:cNvSpPr/>
          <p:nvPr/>
        </p:nvSpPr>
        <p:spPr>
          <a:xfrm>
            <a:off x="6400800" y="4365136"/>
            <a:ext cx="914400" cy="39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45309"/>
              </a:buClr>
              <a:buSzPts val="1500"/>
              <a:buFont typeface="Calibri"/>
              <a:buNone/>
            </a:pPr>
            <a:r>
              <a:rPr b="1" i="0" lang="en-ZA" sz="1500" u="none" cap="none" strike="noStrike">
                <a:solidFill>
                  <a:srgbClr val="B45309"/>
                </a:solidFill>
                <a:latin typeface="Calibri"/>
                <a:ea typeface="Calibri"/>
                <a:cs typeface="Calibri"/>
                <a:sym typeface="Calibri"/>
              </a:rPr>
              <a:t>RI</a:t>
            </a:r>
            <a:endParaRPr b="0" i="0" sz="1500" u="none" cap="none" strike="noStrike">
              <a:solidFill>
                <a:schemeClr val="dk1"/>
              </a:solidFill>
              <a:latin typeface="Calibri"/>
              <a:ea typeface="Calibri"/>
              <a:cs typeface="Calibri"/>
              <a:sym typeface="Calibri"/>
            </a:endParaRPr>
          </a:p>
        </p:txBody>
      </p:sp>
      <p:sp>
        <p:nvSpPr>
          <p:cNvPr id="943" name="Google Shape;943;p84"/>
          <p:cNvSpPr/>
          <p:nvPr/>
        </p:nvSpPr>
        <p:spPr>
          <a:xfrm>
            <a:off x="7437120" y="4365136"/>
            <a:ext cx="1463100" cy="390000"/>
          </a:xfrm>
          <a:prstGeom prst="roundRect">
            <a:avLst>
              <a:gd fmla="val 37500" name="adj"/>
            </a:avLst>
          </a:prstGeom>
          <a:solidFill>
            <a:srgbClr val="F4F2F8"/>
          </a:solidFill>
          <a:ln cap="flat" cmpd="sng" w="16925">
            <a:solidFill>
              <a:srgbClr val="E0DDE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84"/>
          <p:cNvSpPr/>
          <p:nvPr/>
        </p:nvSpPr>
        <p:spPr>
          <a:xfrm>
            <a:off x="7437120" y="4365136"/>
            <a:ext cx="1463100" cy="39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C1458"/>
              </a:buClr>
              <a:buSzPts val="1500"/>
              <a:buFont typeface="Calibri"/>
              <a:buNone/>
            </a:pPr>
            <a:r>
              <a:rPr b="0" i="0" lang="en-ZA" sz="1500" u="none" cap="none" strike="noStrike">
                <a:solidFill>
                  <a:srgbClr val="2C1458"/>
                </a:solidFill>
                <a:latin typeface="Calibri"/>
                <a:ea typeface="Calibri"/>
                <a:cs typeface="Calibri"/>
                <a:sym typeface="Calibri"/>
              </a:rPr>
              <a:t>Respond</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pic>
        <p:nvPicPr>
          <p:cNvPr id="950" name="Google Shape;950;p8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51" name="Google Shape;951;p85"/>
          <p:cNvSpPr txBox="1"/>
          <p:nvPr/>
        </p:nvSpPr>
        <p:spPr>
          <a:xfrm>
            <a:off x="86125" y="2691817"/>
            <a:ext cx="11693700" cy="14775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000"/>
              <a:buFont typeface="Arial"/>
              <a:buNone/>
            </a:pPr>
            <a:r>
              <a:rPr b="1" lang="en-ZA" sz="4000">
                <a:solidFill>
                  <a:srgbClr val="2C1458"/>
                </a:solidFill>
                <a:latin typeface="Georgia"/>
                <a:ea typeface="Georgia"/>
                <a:cs typeface="Georgia"/>
                <a:sym typeface="Georgia"/>
              </a:rPr>
              <a:t>AI Activity or RI Activity?</a:t>
            </a:r>
            <a:endParaRPr b="1" sz="4000">
              <a:solidFill>
                <a:srgbClr val="2C1458"/>
              </a:solidFill>
              <a:latin typeface="Georgia"/>
              <a:ea typeface="Georgia"/>
              <a:cs typeface="Georgia"/>
              <a:sym typeface="Georgia"/>
            </a:endParaRPr>
          </a:p>
          <a:p>
            <a:pPr indent="0" lvl="0" marL="0" marR="0" rtl="0" algn="ctr">
              <a:lnSpc>
                <a:spcPct val="100000"/>
              </a:lnSpc>
              <a:spcBef>
                <a:spcPts val="0"/>
              </a:spcBef>
              <a:spcAft>
                <a:spcPts val="0"/>
              </a:spcAft>
              <a:buClr>
                <a:srgbClr val="000000"/>
              </a:buClr>
              <a:buSzPts val="4000"/>
              <a:buFont typeface="Arial"/>
              <a:buNone/>
            </a:pPr>
            <a:r>
              <a:rPr b="1" lang="en-ZA" sz="4000">
                <a:solidFill>
                  <a:srgbClr val="2C1458"/>
                </a:solidFill>
                <a:latin typeface="Georgia"/>
                <a:ea typeface="Georgia"/>
                <a:cs typeface="Georgia"/>
                <a:sym typeface="Georgia"/>
              </a:rPr>
              <a:t>Which level in Bloom’s Taxonomy?</a:t>
            </a:r>
            <a:endParaRPr b="1" sz="4000">
              <a:solidFill>
                <a:srgbClr val="2C1458"/>
              </a:solidFill>
              <a:latin typeface="Georgia"/>
              <a:ea typeface="Georgia"/>
              <a:cs typeface="Georgia"/>
              <a:sym typeface="Georgi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pic>
        <p:nvPicPr>
          <p:cNvPr descr="image.jpg" id="957" name="Google Shape;957;p8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58" name="Google Shape;958;p86"/>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1</a:t>
            </a:r>
            <a:r>
              <a:rPr b="0" i="0" lang="en-ZA" sz="2400" u="none" cap="none" strike="noStrike">
                <a:solidFill>
                  <a:srgbClr val="6B6B6B"/>
                </a:solidFill>
                <a:latin typeface="Georgia"/>
                <a:ea typeface="Georgia"/>
                <a:cs typeface="Georgia"/>
                <a:sym typeface="Georgia"/>
              </a:rPr>
              <a:t>  of 10  ·  AI or RI? Which level?</a:t>
            </a:r>
            <a:endParaRPr sz="1500"/>
          </a:p>
        </p:txBody>
      </p:sp>
      <p:sp>
        <p:nvSpPr>
          <p:cNvPr id="959" name="Google Shape;959;p86"/>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“Implement a BPE tokenizer from scratch and test it on isiZulu text.”</a:t>
            </a:r>
            <a:endParaRPr sz="1500"/>
          </a:p>
        </p:txBody>
      </p:sp>
      <p:sp>
        <p:nvSpPr>
          <p:cNvPr id="960" name="Google Shape;960;p86"/>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Apply</a:t>
            </a:r>
            <a:endParaRPr sz="1500"/>
          </a:p>
        </p:txBody>
      </p:sp>
      <p:sp>
        <p:nvSpPr>
          <p:cNvPr id="961" name="Google Shape;961;p86"/>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RI Activity / Apply</a:t>
            </a:r>
            <a:endParaRPr sz="1500"/>
          </a:p>
        </p:txBody>
      </p:sp>
      <p:sp>
        <p:nvSpPr>
          <p:cNvPr id="962" name="Google Shape;962;p86"/>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AI Activity / Respond</a:t>
            </a:r>
            <a:endParaRPr sz="1500"/>
          </a:p>
        </p:txBody>
      </p:sp>
      <p:sp>
        <p:nvSpPr>
          <p:cNvPr id="963" name="Google Shape;963;p86"/>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AI Activity / Create</a:t>
            </a:r>
            <a:endParaRPr sz="15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pic>
        <p:nvPicPr>
          <p:cNvPr descr="image.jpg" id="969" name="Google Shape;969;p8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70" name="Google Shape;970;p87"/>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1</a:t>
            </a:r>
            <a:r>
              <a:rPr b="1" i="0" lang="en-ZA" sz="4000" u="none" cap="none" strike="noStrike">
                <a:solidFill>
                  <a:srgbClr val="15803D"/>
                </a:solidFill>
                <a:latin typeface="Georgia"/>
                <a:ea typeface="Georgia"/>
                <a:cs typeface="Georgia"/>
                <a:sym typeface="Georgia"/>
              </a:rPr>
              <a:t>  ·  Answer</a:t>
            </a:r>
            <a:endParaRPr sz="1500"/>
          </a:p>
        </p:txBody>
      </p:sp>
      <p:sp>
        <p:nvSpPr>
          <p:cNvPr id="971" name="Google Shape;971;p87"/>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“Implement a BPE tokenizer from scratch and test it on isiZulu text.”</a:t>
            </a:r>
            <a:endParaRPr sz="1500"/>
          </a:p>
        </p:txBody>
      </p:sp>
      <p:sp>
        <p:nvSpPr>
          <p:cNvPr id="972" name="Google Shape;972;p87"/>
          <p:cNvSpPr/>
          <p:nvPr/>
        </p:nvSpPr>
        <p:spPr>
          <a:xfrm>
            <a:off x="484632" y="342900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A.   ✓  AI Activity / Apply</a:t>
            </a:r>
            <a:endParaRPr sz="1500"/>
          </a:p>
        </p:txBody>
      </p:sp>
      <p:sp>
        <p:nvSpPr>
          <p:cNvPr id="973" name="Google Shape;973;p87"/>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B.   </a:t>
            </a:r>
            <a:r>
              <a:rPr b="0" i="0" lang="en-ZA" sz="1900" u="none" cap="none" strike="noStrike">
                <a:solidFill>
                  <a:srgbClr val="6B6B6B"/>
                </a:solidFill>
                <a:latin typeface="Calibri"/>
                <a:ea typeface="Calibri"/>
                <a:cs typeface="Calibri"/>
                <a:sym typeface="Calibri"/>
              </a:rPr>
              <a:t>RI Activity / Apply</a:t>
            </a:r>
            <a:endParaRPr sz="1500"/>
          </a:p>
        </p:txBody>
      </p:sp>
      <p:sp>
        <p:nvSpPr>
          <p:cNvPr id="974" name="Google Shape;974;p87"/>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C.   </a:t>
            </a:r>
            <a:r>
              <a:rPr b="0" i="0" lang="en-ZA" sz="1900" u="none" cap="none" strike="noStrike">
                <a:solidFill>
                  <a:srgbClr val="6B6B6B"/>
                </a:solidFill>
                <a:latin typeface="Calibri"/>
                <a:ea typeface="Calibri"/>
                <a:cs typeface="Calibri"/>
                <a:sym typeface="Calibri"/>
              </a:rPr>
              <a:t>AI Activity / Respond</a:t>
            </a:r>
            <a:endParaRPr sz="1500"/>
          </a:p>
        </p:txBody>
      </p:sp>
      <p:sp>
        <p:nvSpPr>
          <p:cNvPr id="975" name="Google Shape;975;p87"/>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D.   </a:t>
            </a:r>
            <a:r>
              <a:rPr b="0" i="0" lang="en-ZA" sz="1900" u="none" cap="none" strike="noStrike">
                <a:solidFill>
                  <a:srgbClr val="6B6B6B"/>
                </a:solidFill>
                <a:latin typeface="Calibri"/>
                <a:ea typeface="Calibri"/>
                <a:cs typeface="Calibri"/>
                <a:sym typeface="Calibri"/>
              </a:rPr>
              <a:t>AI Activity / Create</a:t>
            </a:r>
            <a:endParaRPr sz="15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pic>
        <p:nvPicPr>
          <p:cNvPr descr="image.jpg" id="981" name="Google Shape;981;p8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82" name="Google Shape;982;p88"/>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2</a:t>
            </a:r>
            <a:r>
              <a:rPr b="0" i="0" lang="en-ZA" sz="2400" u="none" cap="none" strike="noStrike">
                <a:solidFill>
                  <a:srgbClr val="6B6B6B"/>
                </a:solidFill>
                <a:latin typeface="Georgia"/>
                <a:ea typeface="Georgia"/>
                <a:cs typeface="Georgia"/>
                <a:sym typeface="Georgia"/>
              </a:rPr>
              <a:t>  of 10  ·  AI or RI? Which level?</a:t>
            </a:r>
            <a:endParaRPr sz="1500"/>
          </a:p>
        </p:txBody>
      </p:sp>
      <p:sp>
        <p:nvSpPr>
          <p:cNvPr id="983" name="Google Shape;983;p88"/>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“Discuss who owns the data when companies scrape African language websites. Use the Fair Trade analogy to propose a governance model.”</a:t>
            </a:r>
            <a:endParaRPr sz="1500"/>
          </a:p>
        </p:txBody>
      </p:sp>
      <p:sp>
        <p:nvSpPr>
          <p:cNvPr id="984" name="Google Shape;984;p88"/>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Value</a:t>
            </a:r>
            <a:endParaRPr sz="1500"/>
          </a:p>
        </p:txBody>
      </p:sp>
      <p:sp>
        <p:nvSpPr>
          <p:cNvPr id="985" name="Google Shape;985;p88"/>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RI Activity / Respond</a:t>
            </a:r>
            <a:endParaRPr sz="1500"/>
          </a:p>
        </p:txBody>
      </p:sp>
      <p:sp>
        <p:nvSpPr>
          <p:cNvPr id="986" name="Google Shape;986;p88"/>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RI Activity / Value</a:t>
            </a:r>
            <a:endParaRPr sz="1500"/>
          </a:p>
        </p:txBody>
      </p:sp>
      <p:sp>
        <p:nvSpPr>
          <p:cNvPr id="987" name="Google Shape;987;p88"/>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AI Activity / Analyze</a:t>
            </a:r>
            <a:endParaRPr sz="15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pic>
        <p:nvPicPr>
          <p:cNvPr descr="image.jpg" id="993" name="Google Shape;993;p8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94" name="Google Shape;994;p89"/>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2</a:t>
            </a:r>
            <a:r>
              <a:rPr b="1" i="0" lang="en-ZA" sz="4000" u="none" cap="none" strike="noStrike">
                <a:solidFill>
                  <a:srgbClr val="15803D"/>
                </a:solidFill>
                <a:latin typeface="Georgia"/>
                <a:ea typeface="Georgia"/>
                <a:cs typeface="Georgia"/>
                <a:sym typeface="Georgia"/>
              </a:rPr>
              <a:t>  ·  Answer</a:t>
            </a:r>
            <a:endParaRPr sz="1500"/>
          </a:p>
        </p:txBody>
      </p:sp>
      <p:sp>
        <p:nvSpPr>
          <p:cNvPr id="995" name="Google Shape;995;p89"/>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“Discuss who owns the data when companies scrape African language websites. Use the Fair Trade analogy to propose a governance model.”</a:t>
            </a:r>
            <a:endParaRPr sz="1500"/>
          </a:p>
        </p:txBody>
      </p:sp>
      <p:sp>
        <p:nvSpPr>
          <p:cNvPr id="996" name="Google Shape;996;p89"/>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A.   </a:t>
            </a:r>
            <a:r>
              <a:rPr b="0" i="0" lang="en-ZA" sz="1900" u="none" cap="none" strike="noStrike">
                <a:solidFill>
                  <a:srgbClr val="6B6B6B"/>
                </a:solidFill>
                <a:latin typeface="Calibri"/>
                <a:ea typeface="Calibri"/>
                <a:cs typeface="Calibri"/>
                <a:sym typeface="Calibri"/>
              </a:rPr>
              <a:t>AI Activity / Value</a:t>
            </a:r>
            <a:endParaRPr sz="1500"/>
          </a:p>
        </p:txBody>
      </p:sp>
      <p:sp>
        <p:nvSpPr>
          <p:cNvPr id="997" name="Google Shape;997;p89"/>
          <p:cNvSpPr/>
          <p:nvPr/>
        </p:nvSpPr>
        <p:spPr>
          <a:xfrm>
            <a:off x="6336792" y="342900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B.   ✓  RI Activity / Respond</a:t>
            </a:r>
            <a:endParaRPr sz="1500"/>
          </a:p>
        </p:txBody>
      </p:sp>
      <p:sp>
        <p:nvSpPr>
          <p:cNvPr id="998" name="Google Shape;998;p89"/>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C.   </a:t>
            </a:r>
            <a:r>
              <a:rPr b="0" i="0" lang="en-ZA" sz="1900" u="none" cap="none" strike="noStrike">
                <a:solidFill>
                  <a:srgbClr val="6B6B6B"/>
                </a:solidFill>
                <a:latin typeface="Calibri"/>
                <a:ea typeface="Calibri"/>
                <a:cs typeface="Calibri"/>
                <a:sym typeface="Calibri"/>
              </a:rPr>
              <a:t>RI Activity / Value</a:t>
            </a:r>
            <a:endParaRPr sz="1500"/>
          </a:p>
        </p:txBody>
      </p:sp>
      <p:sp>
        <p:nvSpPr>
          <p:cNvPr id="999" name="Google Shape;999;p89"/>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D.   </a:t>
            </a:r>
            <a:r>
              <a:rPr b="0" i="0" lang="en-ZA" sz="1900" u="none" cap="none" strike="noStrike">
                <a:solidFill>
                  <a:srgbClr val="6B6B6B"/>
                </a:solidFill>
                <a:latin typeface="Calibri"/>
                <a:ea typeface="Calibri"/>
                <a:cs typeface="Calibri"/>
                <a:sym typeface="Calibri"/>
              </a:rPr>
              <a:t>AI Activity / Analyze</a:t>
            </a:r>
            <a:endParaRPr sz="15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pic>
        <p:nvPicPr>
          <p:cNvPr descr="image.jpg" id="1005" name="Google Shape;1005;p9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06" name="Google Shape;1006;p90"/>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3</a:t>
            </a:r>
            <a:r>
              <a:rPr b="0" i="0" lang="en-ZA" sz="2400" u="none" cap="none" strike="noStrike">
                <a:solidFill>
                  <a:srgbClr val="6B6B6B"/>
                </a:solidFill>
                <a:latin typeface="Georgia"/>
                <a:ea typeface="Georgia"/>
                <a:cs typeface="Georgia"/>
                <a:sym typeface="Georgia"/>
              </a:rPr>
              <a:t>  of 10  ·  AI or RI? Which level?</a:t>
            </a:r>
            <a:endParaRPr sz="1500"/>
          </a:p>
        </p:txBody>
      </p:sp>
      <p:sp>
        <p:nvSpPr>
          <p:cNvPr id="1007" name="Google Shape;1007;p90"/>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“Compare models trained for 10, 400, and 1000 epochs. Identify overfitting and underfitting in the loss curves.”</a:t>
            </a:r>
            <a:endParaRPr sz="1500"/>
          </a:p>
        </p:txBody>
      </p:sp>
      <p:sp>
        <p:nvSpPr>
          <p:cNvPr id="1008" name="Google Shape;1008;p90"/>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Apply</a:t>
            </a:r>
            <a:endParaRPr sz="1500"/>
          </a:p>
        </p:txBody>
      </p:sp>
      <p:sp>
        <p:nvSpPr>
          <p:cNvPr id="1009" name="Google Shape;1009;p90"/>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AI Activity / Analyze</a:t>
            </a:r>
            <a:endParaRPr sz="1500"/>
          </a:p>
        </p:txBody>
      </p:sp>
      <p:sp>
        <p:nvSpPr>
          <p:cNvPr id="1010" name="Google Shape;1010;p90"/>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RI Activity / Value</a:t>
            </a:r>
            <a:endParaRPr sz="1500"/>
          </a:p>
        </p:txBody>
      </p:sp>
      <p:sp>
        <p:nvSpPr>
          <p:cNvPr id="1011" name="Google Shape;1011;p90"/>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AI Activity / Value</a:t>
            </a:r>
            <a:endParaRPr sz="15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pic>
        <p:nvPicPr>
          <p:cNvPr descr="image.jpg" id="1017" name="Google Shape;1017;p9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8" name="Google Shape;1018;p91"/>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3</a:t>
            </a:r>
            <a:r>
              <a:rPr b="1" i="0" lang="en-ZA" sz="4000" u="none" cap="none" strike="noStrike">
                <a:solidFill>
                  <a:srgbClr val="15803D"/>
                </a:solidFill>
                <a:latin typeface="Georgia"/>
                <a:ea typeface="Georgia"/>
                <a:cs typeface="Georgia"/>
                <a:sym typeface="Georgia"/>
              </a:rPr>
              <a:t>  ·  Answer</a:t>
            </a:r>
            <a:endParaRPr sz="1500"/>
          </a:p>
        </p:txBody>
      </p:sp>
      <p:sp>
        <p:nvSpPr>
          <p:cNvPr id="1019" name="Google Shape;1019;p91"/>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“Compare models trained for 10, 400, and 1000 epochs. Identify overfitting and underfitting in the loss curves.”</a:t>
            </a:r>
            <a:endParaRPr sz="1500"/>
          </a:p>
        </p:txBody>
      </p:sp>
      <p:sp>
        <p:nvSpPr>
          <p:cNvPr id="1020" name="Google Shape;1020;p91"/>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A.   </a:t>
            </a:r>
            <a:r>
              <a:rPr b="0" i="0" lang="en-ZA" sz="1900" u="none" cap="none" strike="noStrike">
                <a:solidFill>
                  <a:srgbClr val="6B6B6B"/>
                </a:solidFill>
                <a:latin typeface="Calibri"/>
                <a:ea typeface="Calibri"/>
                <a:cs typeface="Calibri"/>
                <a:sym typeface="Calibri"/>
              </a:rPr>
              <a:t>AI Activity / Apply</a:t>
            </a:r>
            <a:endParaRPr sz="1500"/>
          </a:p>
        </p:txBody>
      </p:sp>
      <p:sp>
        <p:nvSpPr>
          <p:cNvPr id="1021" name="Google Shape;1021;p91"/>
          <p:cNvSpPr/>
          <p:nvPr/>
        </p:nvSpPr>
        <p:spPr>
          <a:xfrm>
            <a:off x="6336792" y="342900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B.   ✓  AI Activity / Analyze</a:t>
            </a:r>
            <a:endParaRPr sz="1500"/>
          </a:p>
        </p:txBody>
      </p:sp>
      <p:sp>
        <p:nvSpPr>
          <p:cNvPr id="1022" name="Google Shape;1022;p91"/>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C.   </a:t>
            </a:r>
            <a:r>
              <a:rPr b="0" i="0" lang="en-ZA" sz="1900" u="none" cap="none" strike="noStrike">
                <a:solidFill>
                  <a:srgbClr val="6B6B6B"/>
                </a:solidFill>
                <a:latin typeface="Calibri"/>
                <a:ea typeface="Calibri"/>
                <a:cs typeface="Calibri"/>
                <a:sym typeface="Calibri"/>
              </a:rPr>
              <a:t>RI Activity / Value</a:t>
            </a:r>
            <a:endParaRPr sz="1500"/>
          </a:p>
        </p:txBody>
      </p:sp>
      <p:sp>
        <p:nvSpPr>
          <p:cNvPr id="1023" name="Google Shape;1023;p91"/>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D.   </a:t>
            </a:r>
            <a:r>
              <a:rPr b="0" i="0" lang="en-ZA" sz="1900" u="none" cap="none" strike="noStrike">
                <a:solidFill>
                  <a:srgbClr val="6B6B6B"/>
                </a:solidFill>
                <a:latin typeface="Calibri"/>
                <a:ea typeface="Calibri"/>
                <a:cs typeface="Calibri"/>
                <a:sym typeface="Calibri"/>
              </a:rPr>
              <a:t>AI Activity / Value</a:t>
            </a:r>
            <a:endParaRPr sz="15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pic>
        <p:nvPicPr>
          <p:cNvPr descr="image.jpg" id="1029" name="Google Shape;1029;p9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30" name="Google Shape;1030;p92"/>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4</a:t>
            </a:r>
            <a:r>
              <a:rPr b="0" i="0" lang="en-ZA" sz="2400" u="none" cap="none" strike="noStrike">
                <a:solidFill>
                  <a:srgbClr val="6B6B6B"/>
                </a:solidFill>
                <a:latin typeface="Georgia"/>
                <a:ea typeface="Georgia"/>
                <a:cs typeface="Georgia"/>
                <a:sym typeface="Georgia"/>
              </a:rPr>
              <a:t>  of 10  ·  AI or RI? Which level?</a:t>
            </a:r>
            <a:endParaRPr sz="1500"/>
          </a:p>
        </p:txBody>
      </p:sp>
      <p:sp>
        <p:nvSpPr>
          <p:cNvPr id="1031" name="Google Shape;1031;p92"/>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“Watch the Masakhane video on low-resource languages. Write a paragraph on what 'harnessing potential' means for your institution.”</a:t>
            </a:r>
            <a:endParaRPr sz="1500"/>
          </a:p>
        </p:txBody>
      </p:sp>
      <p:sp>
        <p:nvSpPr>
          <p:cNvPr id="1032" name="Google Shape;1032;p92"/>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Understand</a:t>
            </a:r>
            <a:endParaRPr sz="1500"/>
          </a:p>
        </p:txBody>
      </p:sp>
      <p:sp>
        <p:nvSpPr>
          <p:cNvPr id="1033" name="Google Shape;1033;p92"/>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RI Activity / Respond</a:t>
            </a:r>
            <a:endParaRPr sz="1500"/>
          </a:p>
        </p:txBody>
      </p:sp>
      <p:sp>
        <p:nvSpPr>
          <p:cNvPr id="1034" name="Google Shape;1034;p92"/>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AI Activity / Respond</a:t>
            </a:r>
            <a:endParaRPr sz="1500"/>
          </a:p>
        </p:txBody>
      </p:sp>
      <p:sp>
        <p:nvSpPr>
          <p:cNvPr id="1035" name="Google Shape;1035;p92"/>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RI Activity / Value</a:t>
            </a:r>
            <a:endParaRPr sz="15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pic>
        <p:nvPicPr>
          <p:cNvPr descr="image.jpg" id="1041" name="Google Shape;1041;p9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42" name="Google Shape;1042;p93"/>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4</a:t>
            </a:r>
            <a:r>
              <a:rPr b="1" i="0" lang="en-ZA" sz="4000" u="none" cap="none" strike="noStrike">
                <a:solidFill>
                  <a:srgbClr val="15803D"/>
                </a:solidFill>
                <a:latin typeface="Georgia"/>
                <a:ea typeface="Georgia"/>
                <a:cs typeface="Georgia"/>
                <a:sym typeface="Georgia"/>
              </a:rPr>
              <a:t>  ·  Answer</a:t>
            </a:r>
            <a:endParaRPr sz="1500"/>
          </a:p>
        </p:txBody>
      </p:sp>
      <p:sp>
        <p:nvSpPr>
          <p:cNvPr id="1043" name="Google Shape;1043;p93"/>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“Watch the Masakhane video on low-resource languages. Write a paragraph on what 'harnessing potential' means for your institution.”</a:t>
            </a:r>
            <a:endParaRPr sz="1500"/>
          </a:p>
        </p:txBody>
      </p:sp>
      <p:sp>
        <p:nvSpPr>
          <p:cNvPr id="1044" name="Google Shape;1044;p93"/>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A.   </a:t>
            </a:r>
            <a:r>
              <a:rPr b="0" i="0" lang="en-ZA" sz="1900" u="none" cap="none" strike="noStrike">
                <a:solidFill>
                  <a:srgbClr val="6B6B6B"/>
                </a:solidFill>
                <a:latin typeface="Calibri"/>
                <a:ea typeface="Calibri"/>
                <a:cs typeface="Calibri"/>
                <a:sym typeface="Calibri"/>
              </a:rPr>
              <a:t>AI Activity / Understand</a:t>
            </a:r>
            <a:endParaRPr sz="1500"/>
          </a:p>
        </p:txBody>
      </p:sp>
      <p:sp>
        <p:nvSpPr>
          <p:cNvPr id="1045" name="Google Shape;1045;p93"/>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B.   </a:t>
            </a:r>
            <a:r>
              <a:rPr b="0" i="0" lang="en-ZA" sz="1900" u="none" cap="none" strike="noStrike">
                <a:solidFill>
                  <a:srgbClr val="6B6B6B"/>
                </a:solidFill>
                <a:latin typeface="Calibri"/>
                <a:ea typeface="Calibri"/>
                <a:cs typeface="Calibri"/>
                <a:sym typeface="Calibri"/>
              </a:rPr>
              <a:t>RI Activity / Respond</a:t>
            </a:r>
            <a:endParaRPr sz="1500"/>
          </a:p>
        </p:txBody>
      </p:sp>
      <p:sp>
        <p:nvSpPr>
          <p:cNvPr id="1046" name="Google Shape;1046;p93"/>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C.   </a:t>
            </a:r>
            <a:r>
              <a:rPr b="0" i="0" lang="en-ZA" sz="1900" u="none" cap="none" strike="noStrike">
                <a:solidFill>
                  <a:srgbClr val="6B6B6B"/>
                </a:solidFill>
                <a:latin typeface="Calibri"/>
                <a:ea typeface="Calibri"/>
                <a:cs typeface="Calibri"/>
                <a:sym typeface="Calibri"/>
              </a:rPr>
              <a:t>AI Activity / Respond</a:t>
            </a:r>
            <a:endParaRPr sz="1500"/>
          </a:p>
        </p:txBody>
      </p:sp>
      <p:sp>
        <p:nvSpPr>
          <p:cNvPr id="1047" name="Google Shape;1047;p93"/>
          <p:cNvSpPr/>
          <p:nvPr/>
        </p:nvSpPr>
        <p:spPr>
          <a:xfrm>
            <a:off x="6336792" y="443484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D.   ✓  RI Activity / Value</a:t>
            </a:r>
            <a:endParaRPr sz="15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pic>
        <p:nvPicPr>
          <p:cNvPr descr="image.jpg" id="1053" name="Google Shape;1053;p9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54" name="Google Shape;1054;p94"/>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5</a:t>
            </a:r>
            <a:r>
              <a:rPr b="0" i="0" lang="en-ZA" sz="2400" u="none" cap="none" strike="noStrike">
                <a:solidFill>
                  <a:srgbClr val="6B6B6B"/>
                </a:solidFill>
                <a:latin typeface="Georgia"/>
                <a:ea typeface="Georgia"/>
                <a:cs typeface="Georgia"/>
                <a:sym typeface="Georgia"/>
              </a:rPr>
              <a:t>  of 10  ·  AI or RI? Which level?</a:t>
            </a:r>
            <a:endParaRPr sz="1500"/>
          </a:p>
        </p:txBody>
      </p:sp>
      <p:sp>
        <p:nvSpPr>
          <p:cNvPr id="1055" name="Google Shape;1055;p94"/>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“Estimate the FLOPs needed to fine-tune an SLM. Experiment with bfloat16 to reduce compute cost.”</a:t>
            </a:r>
            <a:endParaRPr sz="1500"/>
          </a:p>
        </p:txBody>
      </p:sp>
      <p:sp>
        <p:nvSpPr>
          <p:cNvPr id="1056" name="Google Shape;1056;p94"/>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Apply</a:t>
            </a:r>
            <a:endParaRPr sz="1500"/>
          </a:p>
        </p:txBody>
      </p:sp>
      <p:sp>
        <p:nvSpPr>
          <p:cNvPr id="1057" name="Google Shape;1057;p94"/>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RI Activity / Respond</a:t>
            </a:r>
            <a:endParaRPr sz="1500"/>
          </a:p>
        </p:txBody>
      </p:sp>
      <p:sp>
        <p:nvSpPr>
          <p:cNvPr id="1058" name="Google Shape;1058;p94"/>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AI Activity / Understand</a:t>
            </a:r>
            <a:endParaRPr sz="1500"/>
          </a:p>
        </p:txBody>
      </p:sp>
      <p:sp>
        <p:nvSpPr>
          <p:cNvPr id="1059" name="Google Shape;1059;p94"/>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AI Activity / Organize</a:t>
            </a:r>
            <a:endParaRPr sz="15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pic>
        <p:nvPicPr>
          <p:cNvPr descr="image.jpg" id="1065" name="Google Shape;1065;p9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66" name="Google Shape;1066;p95"/>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5</a:t>
            </a:r>
            <a:r>
              <a:rPr b="1" i="0" lang="en-ZA" sz="4000" u="none" cap="none" strike="noStrike">
                <a:solidFill>
                  <a:srgbClr val="15803D"/>
                </a:solidFill>
                <a:latin typeface="Georgia"/>
                <a:ea typeface="Georgia"/>
                <a:cs typeface="Georgia"/>
                <a:sym typeface="Georgia"/>
              </a:rPr>
              <a:t>  ·  Answer</a:t>
            </a:r>
            <a:endParaRPr sz="1500"/>
          </a:p>
        </p:txBody>
      </p:sp>
      <p:sp>
        <p:nvSpPr>
          <p:cNvPr id="1067" name="Google Shape;1067;p95"/>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“Estimate the FLOPs needed to fine-tune an SLM. Experiment with bfloat16 to reduce compute cost.”</a:t>
            </a:r>
            <a:endParaRPr sz="1500"/>
          </a:p>
        </p:txBody>
      </p:sp>
      <p:sp>
        <p:nvSpPr>
          <p:cNvPr id="1068" name="Google Shape;1068;p95"/>
          <p:cNvSpPr/>
          <p:nvPr/>
        </p:nvSpPr>
        <p:spPr>
          <a:xfrm>
            <a:off x="484632" y="342900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A.   ✓  AI Activity / Apply</a:t>
            </a:r>
            <a:endParaRPr sz="1500"/>
          </a:p>
        </p:txBody>
      </p:sp>
      <p:sp>
        <p:nvSpPr>
          <p:cNvPr id="1069" name="Google Shape;1069;p95"/>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B.   </a:t>
            </a:r>
            <a:r>
              <a:rPr b="0" i="0" lang="en-ZA" sz="1900" u="none" cap="none" strike="noStrike">
                <a:solidFill>
                  <a:srgbClr val="6B6B6B"/>
                </a:solidFill>
                <a:latin typeface="Calibri"/>
                <a:ea typeface="Calibri"/>
                <a:cs typeface="Calibri"/>
                <a:sym typeface="Calibri"/>
              </a:rPr>
              <a:t>RI Activity / Respond</a:t>
            </a:r>
            <a:endParaRPr sz="1500"/>
          </a:p>
        </p:txBody>
      </p:sp>
      <p:sp>
        <p:nvSpPr>
          <p:cNvPr id="1070" name="Google Shape;1070;p95"/>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C.   </a:t>
            </a:r>
            <a:r>
              <a:rPr b="0" i="0" lang="en-ZA" sz="1900" u="none" cap="none" strike="noStrike">
                <a:solidFill>
                  <a:srgbClr val="6B6B6B"/>
                </a:solidFill>
                <a:latin typeface="Calibri"/>
                <a:ea typeface="Calibri"/>
                <a:cs typeface="Calibri"/>
                <a:sym typeface="Calibri"/>
              </a:rPr>
              <a:t>AI Activity / Understand</a:t>
            </a:r>
            <a:endParaRPr sz="1500"/>
          </a:p>
        </p:txBody>
      </p:sp>
      <p:sp>
        <p:nvSpPr>
          <p:cNvPr id="1071" name="Google Shape;1071;p95"/>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D.   </a:t>
            </a:r>
            <a:r>
              <a:rPr b="0" i="0" lang="en-ZA" sz="1900" u="none" cap="none" strike="noStrike">
                <a:solidFill>
                  <a:srgbClr val="6B6B6B"/>
                </a:solidFill>
                <a:latin typeface="Calibri"/>
                <a:ea typeface="Calibri"/>
                <a:cs typeface="Calibri"/>
                <a:sym typeface="Calibri"/>
              </a:rPr>
              <a:t>AI Activity / Organize</a:t>
            </a:r>
            <a:endParaRPr sz="15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pic>
        <p:nvPicPr>
          <p:cNvPr descr="image.jpg" id="1077" name="Google Shape;1077;p9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78" name="Google Shape;1078;p96"/>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6</a:t>
            </a:r>
            <a:r>
              <a:rPr b="0" i="0" lang="en-ZA" sz="2400" u="none" cap="none" strike="noStrike">
                <a:solidFill>
                  <a:srgbClr val="6B6B6B"/>
                </a:solidFill>
                <a:latin typeface="Georgia"/>
                <a:ea typeface="Georgia"/>
                <a:cs typeface="Georgia"/>
                <a:sym typeface="Georgia"/>
              </a:rPr>
              <a:t>  of 10  ·  AI or RI? Which level?</a:t>
            </a:r>
            <a:endParaRPr sz="1500"/>
          </a:p>
        </p:txBody>
      </p:sp>
      <p:sp>
        <p:nvSpPr>
          <p:cNvPr id="1079" name="Google Shape;1079;p96"/>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“Read Adebara et al. (2025). Identify three communities missing from a popular NLP benchmark and propose how to include them.”</a:t>
            </a:r>
            <a:endParaRPr sz="1500"/>
          </a:p>
        </p:txBody>
      </p:sp>
      <p:sp>
        <p:nvSpPr>
          <p:cNvPr id="1080" name="Google Shape;1080;p96"/>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Analyze</a:t>
            </a:r>
            <a:endParaRPr sz="1500"/>
          </a:p>
        </p:txBody>
      </p:sp>
      <p:sp>
        <p:nvSpPr>
          <p:cNvPr id="1081" name="Google Shape;1081;p96"/>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RI Activity / Respond</a:t>
            </a:r>
            <a:endParaRPr sz="1500"/>
          </a:p>
        </p:txBody>
      </p:sp>
      <p:sp>
        <p:nvSpPr>
          <p:cNvPr id="1082" name="Google Shape;1082;p96"/>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RI Activity / Organize</a:t>
            </a:r>
            <a:endParaRPr sz="1500"/>
          </a:p>
        </p:txBody>
      </p:sp>
      <p:sp>
        <p:nvSpPr>
          <p:cNvPr id="1083" name="Google Shape;1083;p96"/>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AI Activity / Organize</a:t>
            </a:r>
            <a:endParaRPr sz="15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pic>
        <p:nvPicPr>
          <p:cNvPr descr="image.jpg" id="1089" name="Google Shape;1089;p9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90" name="Google Shape;1090;p97"/>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6</a:t>
            </a:r>
            <a:r>
              <a:rPr b="1" i="0" lang="en-ZA" sz="4000" u="none" cap="none" strike="noStrike">
                <a:solidFill>
                  <a:srgbClr val="15803D"/>
                </a:solidFill>
                <a:latin typeface="Georgia"/>
                <a:ea typeface="Georgia"/>
                <a:cs typeface="Georgia"/>
                <a:sym typeface="Georgia"/>
              </a:rPr>
              <a:t>  ·  Answer</a:t>
            </a:r>
            <a:endParaRPr sz="1500"/>
          </a:p>
        </p:txBody>
      </p:sp>
      <p:sp>
        <p:nvSpPr>
          <p:cNvPr id="1091" name="Google Shape;1091;p97"/>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“Read Adebara et al. (2025). Identify three communities missing from a popular NLP benchmark and propose how to include them.”</a:t>
            </a:r>
            <a:endParaRPr sz="1500"/>
          </a:p>
        </p:txBody>
      </p:sp>
      <p:sp>
        <p:nvSpPr>
          <p:cNvPr id="1092" name="Google Shape;1092;p97"/>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A.   </a:t>
            </a:r>
            <a:r>
              <a:rPr b="0" i="0" lang="en-ZA" sz="1900" u="none" cap="none" strike="noStrike">
                <a:solidFill>
                  <a:srgbClr val="6B6B6B"/>
                </a:solidFill>
                <a:latin typeface="Calibri"/>
                <a:ea typeface="Calibri"/>
                <a:cs typeface="Calibri"/>
                <a:sym typeface="Calibri"/>
              </a:rPr>
              <a:t>AI Activity / Analyze</a:t>
            </a:r>
            <a:endParaRPr sz="1500"/>
          </a:p>
        </p:txBody>
      </p:sp>
      <p:sp>
        <p:nvSpPr>
          <p:cNvPr id="1093" name="Google Shape;1093;p97"/>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B.   </a:t>
            </a:r>
            <a:r>
              <a:rPr b="0" i="0" lang="en-ZA" sz="1900" u="none" cap="none" strike="noStrike">
                <a:solidFill>
                  <a:srgbClr val="6B6B6B"/>
                </a:solidFill>
                <a:latin typeface="Calibri"/>
                <a:ea typeface="Calibri"/>
                <a:cs typeface="Calibri"/>
                <a:sym typeface="Calibri"/>
              </a:rPr>
              <a:t>RI Activity / Respond</a:t>
            </a:r>
            <a:endParaRPr sz="1500"/>
          </a:p>
        </p:txBody>
      </p:sp>
      <p:sp>
        <p:nvSpPr>
          <p:cNvPr id="1094" name="Google Shape;1094;p97"/>
          <p:cNvSpPr/>
          <p:nvPr/>
        </p:nvSpPr>
        <p:spPr>
          <a:xfrm>
            <a:off x="484632" y="443484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C.   ✓  RI Activity / Organize</a:t>
            </a:r>
            <a:endParaRPr sz="1500"/>
          </a:p>
        </p:txBody>
      </p:sp>
      <p:sp>
        <p:nvSpPr>
          <p:cNvPr id="1095" name="Google Shape;1095;p97"/>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D.   </a:t>
            </a:r>
            <a:r>
              <a:rPr b="0" i="0" lang="en-ZA" sz="1900" u="none" cap="none" strike="noStrike">
                <a:solidFill>
                  <a:srgbClr val="6B6B6B"/>
                </a:solidFill>
                <a:latin typeface="Calibri"/>
                <a:ea typeface="Calibri"/>
                <a:cs typeface="Calibri"/>
                <a:sym typeface="Calibri"/>
              </a:rPr>
              <a:t>AI Activity / Organize</a:t>
            </a:r>
            <a:endParaRPr sz="15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pic>
        <p:nvPicPr>
          <p:cNvPr descr="image.jpg" id="1101" name="Google Shape;1101;p9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02" name="Google Shape;1102;p98"/>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7</a:t>
            </a:r>
            <a:r>
              <a:rPr b="0" i="0" lang="en-ZA" sz="2400" u="none" cap="none" strike="noStrike">
                <a:solidFill>
                  <a:srgbClr val="6B6B6B"/>
                </a:solidFill>
                <a:latin typeface="Georgia"/>
                <a:ea typeface="Georgia"/>
                <a:cs typeface="Georgia"/>
                <a:sym typeface="Georgia"/>
              </a:rPr>
              <a:t>  of 10  ·  AI or RI? Which level?</a:t>
            </a:r>
            <a:endParaRPr sz="1500"/>
          </a:p>
        </p:txBody>
      </p:sp>
      <p:sp>
        <p:nvSpPr>
          <p:cNvPr id="1103" name="Google Shape;1103;p98"/>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“Implement the LoRA adapter and fine-tune an SLM on a local language dataset.”</a:t>
            </a:r>
            <a:endParaRPr sz="1500"/>
          </a:p>
        </p:txBody>
      </p:sp>
      <p:sp>
        <p:nvSpPr>
          <p:cNvPr id="1104" name="Google Shape;1104;p98"/>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Understand</a:t>
            </a:r>
            <a:endParaRPr sz="1500"/>
          </a:p>
        </p:txBody>
      </p:sp>
      <p:sp>
        <p:nvSpPr>
          <p:cNvPr id="1105" name="Google Shape;1105;p98"/>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AI Activity / Apply</a:t>
            </a:r>
            <a:endParaRPr sz="1500"/>
          </a:p>
        </p:txBody>
      </p:sp>
      <p:sp>
        <p:nvSpPr>
          <p:cNvPr id="1106" name="Google Shape;1106;p98"/>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RI Activity / Apply</a:t>
            </a:r>
            <a:endParaRPr sz="1500"/>
          </a:p>
        </p:txBody>
      </p:sp>
      <p:sp>
        <p:nvSpPr>
          <p:cNvPr id="1107" name="Google Shape;1107;p98"/>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AI Activity / Value</a:t>
            </a:r>
            <a:endParaRPr sz="15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pic>
        <p:nvPicPr>
          <p:cNvPr descr="image.jpg" id="1113" name="Google Shape;1113;p9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14" name="Google Shape;1114;p99"/>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7</a:t>
            </a:r>
            <a:r>
              <a:rPr b="1" i="0" lang="en-ZA" sz="4000" u="none" cap="none" strike="noStrike">
                <a:solidFill>
                  <a:srgbClr val="15803D"/>
                </a:solidFill>
                <a:latin typeface="Georgia"/>
                <a:ea typeface="Georgia"/>
                <a:cs typeface="Georgia"/>
                <a:sym typeface="Georgia"/>
              </a:rPr>
              <a:t>  ·  Answer</a:t>
            </a:r>
            <a:endParaRPr sz="1500"/>
          </a:p>
        </p:txBody>
      </p:sp>
      <p:sp>
        <p:nvSpPr>
          <p:cNvPr id="1115" name="Google Shape;1115;p99"/>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“Implement the LoRA adapter and fine-tune an SLM on a local language dataset.”</a:t>
            </a:r>
            <a:endParaRPr sz="1500"/>
          </a:p>
        </p:txBody>
      </p:sp>
      <p:sp>
        <p:nvSpPr>
          <p:cNvPr id="1116" name="Google Shape;1116;p99"/>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A.   </a:t>
            </a:r>
            <a:r>
              <a:rPr b="0" i="0" lang="en-ZA" sz="1900" u="none" cap="none" strike="noStrike">
                <a:solidFill>
                  <a:srgbClr val="6B6B6B"/>
                </a:solidFill>
                <a:latin typeface="Calibri"/>
                <a:ea typeface="Calibri"/>
                <a:cs typeface="Calibri"/>
                <a:sym typeface="Calibri"/>
              </a:rPr>
              <a:t>AI Activity / Understand</a:t>
            </a:r>
            <a:endParaRPr sz="1500"/>
          </a:p>
        </p:txBody>
      </p:sp>
      <p:sp>
        <p:nvSpPr>
          <p:cNvPr id="1117" name="Google Shape;1117;p99"/>
          <p:cNvSpPr/>
          <p:nvPr/>
        </p:nvSpPr>
        <p:spPr>
          <a:xfrm>
            <a:off x="6336792" y="342900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B.   ✓  AI Activity / Apply</a:t>
            </a:r>
            <a:endParaRPr sz="1500"/>
          </a:p>
        </p:txBody>
      </p:sp>
      <p:sp>
        <p:nvSpPr>
          <p:cNvPr id="1118" name="Google Shape;1118;p99"/>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C.   </a:t>
            </a:r>
            <a:r>
              <a:rPr b="0" i="0" lang="en-ZA" sz="1900" u="none" cap="none" strike="noStrike">
                <a:solidFill>
                  <a:srgbClr val="6B6B6B"/>
                </a:solidFill>
                <a:latin typeface="Calibri"/>
                <a:ea typeface="Calibri"/>
                <a:cs typeface="Calibri"/>
                <a:sym typeface="Calibri"/>
              </a:rPr>
              <a:t>RI Activity / Apply</a:t>
            </a:r>
            <a:endParaRPr sz="1500"/>
          </a:p>
        </p:txBody>
      </p:sp>
      <p:sp>
        <p:nvSpPr>
          <p:cNvPr id="1119" name="Google Shape;1119;p99"/>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D.   </a:t>
            </a:r>
            <a:r>
              <a:rPr b="0" i="0" lang="en-ZA" sz="1900" u="none" cap="none" strike="noStrike">
                <a:solidFill>
                  <a:srgbClr val="6B6B6B"/>
                </a:solidFill>
                <a:latin typeface="Calibri"/>
                <a:ea typeface="Calibri"/>
                <a:cs typeface="Calibri"/>
                <a:sym typeface="Calibri"/>
              </a:rPr>
              <a:t>AI Activity / Value</a:t>
            </a:r>
            <a:endParaRPr sz="15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pic>
        <p:nvPicPr>
          <p:cNvPr descr="image.jpg" id="1125" name="Google Shape;1125;p10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26" name="Google Shape;1126;p100"/>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8</a:t>
            </a:r>
            <a:r>
              <a:rPr b="0" i="0" lang="en-ZA" sz="2400" u="none" cap="none" strike="noStrike">
                <a:solidFill>
                  <a:srgbClr val="6B6B6B"/>
                </a:solidFill>
                <a:latin typeface="Georgia"/>
                <a:ea typeface="Georgia"/>
                <a:cs typeface="Georgia"/>
                <a:sym typeface="Georgia"/>
              </a:rPr>
              <a:t>  of 10  ·  AI or RI? Which level?</a:t>
            </a:r>
            <a:endParaRPr sz="1500"/>
          </a:p>
        </p:txBody>
      </p:sp>
      <p:sp>
        <p:nvSpPr>
          <p:cNvPr id="1127" name="Google Shape;1127;p100"/>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“A Lagos hospital wants to deploy an AI diagnostic tool trained for 1000 epochs with no validation set. Role-play a meeting between the developer, a nurse, and a patient advocate.”</a:t>
            </a:r>
            <a:endParaRPr sz="1500"/>
          </a:p>
        </p:txBody>
      </p:sp>
      <p:sp>
        <p:nvSpPr>
          <p:cNvPr id="1128" name="Google Shape;1128;p100"/>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Analyze</a:t>
            </a:r>
            <a:endParaRPr sz="1500"/>
          </a:p>
        </p:txBody>
      </p:sp>
      <p:sp>
        <p:nvSpPr>
          <p:cNvPr id="1129" name="Google Shape;1129;p100"/>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AI Activity / Value</a:t>
            </a:r>
            <a:endParaRPr sz="1500"/>
          </a:p>
        </p:txBody>
      </p:sp>
      <p:sp>
        <p:nvSpPr>
          <p:cNvPr id="1130" name="Google Shape;1130;p100"/>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RI Activity / Respond</a:t>
            </a:r>
            <a:endParaRPr sz="1500"/>
          </a:p>
        </p:txBody>
      </p:sp>
      <p:sp>
        <p:nvSpPr>
          <p:cNvPr id="1131" name="Google Shape;1131;p100"/>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RI Activity / Value</a:t>
            </a:r>
            <a:endParaRPr sz="15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pic>
        <p:nvPicPr>
          <p:cNvPr descr="image.jpg" id="1137" name="Google Shape;1137;p10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38" name="Google Shape;1138;p101"/>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8</a:t>
            </a:r>
            <a:r>
              <a:rPr b="1" i="0" lang="en-ZA" sz="4000" u="none" cap="none" strike="noStrike">
                <a:solidFill>
                  <a:srgbClr val="15803D"/>
                </a:solidFill>
                <a:latin typeface="Georgia"/>
                <a:ea typeface="Georgia"/>
                <a:cs typeface="Georgia"/>
                <a:sym typeface="Georgia"/>
              </a:rPr>
              <a:t>  ·  Answer</a:t>
            </a:r>
            <a:endParaRPr sz="1500"/>
          </a:p>
        </p:txBody>
      </p:sp>
      <p:sp>
        <p:nvSpPr>
          <p:cNvPr id="1139" name="Google Shape;1139;p101"/>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“A Lagos hospital wants to deploy an AI diagnostic tool trained for 1000 epochs with no validation set. Role-play a meeting between the developer, a nurse, and a patient advocate.”</a:t>
            </a:r>
            <a:endParaRPr sz="1500"/>
          </a:p>
        </p:txBody>
      </p:sp>
      <p:sp>
        <p:nvSpPr>
          <p:cNvPr id="1140" name="Google Shape;1140;p101"/>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A.   </a:t>
            </a:r>
            <a:r>
              <a:rPr b="0" i="0" lang="en-ZA" sz="1900" u="none" cap="none" strike="noStrike">
                <a:solidFill>
                  <a:srgbClr val="6B6B6B"/>
                </a:solidFill>
                <a:latin typeface="Calibri"/>
                <a:ea typeface="Calibri"/>
                <a:cs typeface="Calibri"/>
                <a:sym typeface="Calibri"/>
              </a:rPr>
              <a:t>AI Activity / Analyze</a:t>
            </a:r>
            <a:endParaRPr sz="1500"/>
          </a:p>
        </p:txBody>
      </p:sp>
      <p:sp>
        <p:nvSpPr>
          <p:cNvPr id="1141" name="Google Shape;1141;p101"/>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B.   </a:t>
            </a:r>
            <a:r>
              <a:rPr b="0" i="0" lang="en-ZA" sz="1900" u="none" cap="none" strike="noStrike">
                <a:solidFill>
                  <a:srgbClr val="6B6B6B"/>
                </a:solidFill>
                <a:latin typeface="Calibri"/>
                <a:ea typeface="Calibri"/>
                <a:cs typeface="Calibri"/>
                <a:sym typeface="Calibri"/>
              </a:rPr>
              <a:t>AI Activity / Value</a:t>
            </a:r>
            <a:endParaRPr sz="1500"/>
          </a:p>
        </p:txBody>
      </p:sp>
      <p:sp>
        <p:nvSpPr>
          <p:cNvPr id="1142" name="Google Shape;1142;p101"/>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C.   </a:t>
            </a:r>
            <a:r>
              <a:rPr b="0" i="0" lang="en-ZA" sz="1900" u="none" cap="none" strike="noStrike">
                <a:solidFill>
                  <a:srgbClr val="6B6B6B"/>
                </a:solidFill>
                <a:latin typeface="Calibri"/>
                <a:ea typeface="Calibri"/>
                <a:cs typeface="Calibri"/>
                <a:sym typeface="Calibri"/>
              </a:rPr>
              <a:t>RI Activity / Respond</a:t>
            </a:r>
            <a:endParaRPr sz="1500"/>
          </a:p>
        </p:txBody>
      </p:sp>
      <p:sp>
        <p:nvSpPr>
          <p:cNvPr id="1143" name="Google Shape;1143;p101"/>
          <p:cNvSpPr/>
          <p:nvPr/>
        </p:nvSpPr>
        <p:spPr>
          <a:xfrm>
            <a:off x="6336792" y="443484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D.   ✓  RI Activity / Value</a:t>
            </a:r>
            <a:endParaRPr sz="15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pic>
        <p:nvPicPr>
          <p:cNvPr descr="image.jpg" id="1149" name="Google Shape;1149;p10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50" name="Google Shape;1150;p102"/>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9</a:t>
            </a:r>
            <a:r>
              <a:rPr b="0" i="0" lang="en-ZA" sz="2400" u="none" cap="none" strike="noStrike">
                <a:solidFill>
                  <a:srgbClr val="6B6B6B"/>
                </a:solidFill>
                <a:latin typeface="Georgia"/>
                <a:ea typeface="Georgia"/>
                <a:cs typeface="Georgia"/>
                <a:sym typeface="Georgia"/>
              </a:rPr>
              <a:t>  of 10  ·  AI or RI? Which level?</a:t>
            </a:r>
            <a:endParaRPr sz="1500"/>
          </a:p>
        </p:txBody>
      </p:sp>
      <p:sp>
        <p:nvSpPr>
          <p:cNvPr id="1151" name="Google Shape;1151;p102"/>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“Design an MLP architecture for sentiment analysis on Twi product reviews. Justify your hidden layers and activation functions.”</a:t>
            </a:r>
            <a:endParaRPr sz="1500"/>
          </a:p>
        </p:txBody>
      </p:sp>
      <p:sp>
        <p:nvSpPr>
          <p:cNvPr id="1152" name="Google Shape;1152;p102"/>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Apply</a:t>
            </a:r>
            <a:endParaRPr sz="1500"/>
          </a:p>
        </p:txBody>
      </p:sp>
      <p:sp>
        <p:nvSpPr>
          <p:cNvPr id="1153" name="Google Shape;1153;p102"/>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AI Activity / Create</a:t>
            </a:r>
            <a:endParaRPr sz="1500"/>
          </a:p>
        </p:txBody>
      </p:sp>
      <p:sp>
        <p:nvSpPr>
          <p:cNvPr id="1154" name="Google Shape;1154;p102"/>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RI Activity / Analyze</a:t>
            </a:r>
            <a:endParaRPr sz="1500"/>
          </a:p>
        </p:txBody>
      </p:sp>
      <p:sp>
        <p:nvSpPr>
          <p:cNvPr id="1155" name="Google Shape;1155;p102"/>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AI Activity / Organize</a:t>
            </a:r>
            <a:endParaRPr sz="15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pic>
        <p:nvPicPr>
          <p:cNvPr descr="image.jpg" id="1161" name="Google Shape;1161;p10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62" name="Google Shape;1162;p103"/>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9</a:t>
            </a:r>
            <a:r>
              <a:rPr b="1" i="0" lang="en-ZA" sz="4000" u="none" cap="none" strike="noStrike">
                <a:solidFill>
                  <a:srgbClr val="15803D"/>
                </a:solidFill>
                <a:latin typeface="Georgia"/>
                <a:ea typeface="Georgia"/>
                <a:cs typeface="Georgia"/>
                <a:sym typeface="Georgia"/>
              </a:rPr>
              <a:t>  ·  Answer</a:t>
            </a:r>
            <a:endParaRPr sz="1500"/>
          </a:p>
        </p:txBody>
      </p:sp>
      <p:sp>
        <p:nvSpPr>
          <p:cNvPr id="1163" name="Google Shape;1163;p103"/>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“Design an MLP architecture for sentiment analysis on Twi product reviews. Justify your hidden layers and activation functions.”</a:t>
            </a:r>
            <a:endParaRPr sz="1500"/>
          </a:p>
        </p:txBody>
      </p:sp>
      <p:sp>
        <p:nvSpPr>
          <p:cNvPr id="1164" name="Google Shape;1164;p103"/>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A.   </a:t>
            </a:r>
            <a:r>
              <a:rPr b="0" i="0" lang="en-ZA" sz="1900" u="none" cap="none" strike="noStrike">
                <a:solidFill>
                  <a:srgbClr val="6B6B6B"/>
                </a:solidFill>
                <a:latin typeface="Calibri"/>
                <a:ea typeface="Calibri"/>
                <a:cs typeface="Calibri"/>
                <a:sym typeface="Calibri"/>
              </a:rPr>
              <a:t>AI Activity / Apply</a:t>
            </a:r>
            <a:endParaRPr sz="1500"/>
          </a:p>
        </p:txBody>
      </p:sp>
      <p:sp>
        <p:nvSpPr>
          <p:cNvPr id="1165" name="Google Shape;1165;p103"/>
          <p:cNvSpPr/>
          <p:nvPr/>
        </p:nvSpPr>
        <p:spPr>
          <a:xfrm>
            <a:off x="6336792" y="342900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B.   ✓  AI Activity / Create</a:t>
            </a:r>
            <a:endParaRPr sz="1500"/>
          </a:p>
        </p:txBody>
      </p:sp>
      <p:sp>
        <p:nvSpPr>
          <p:cNvPr id="1166" name="Google Shape;1166;p103"/>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C.   </a:t>
            </a:r>
            <a:r>
              <a:rPr b="0" i="0" lang="en-ZA" sz="1900" u="none" cap="none" strike="noStrike">
                <a:solidFill>
                  <a:srgbClr val="6B6B6B"/>
                </a:solidFill>
                <a:latin typeface="Calibri"/>
                <a:ea typeface="Calibri"/>
                <a:cs typeface="Calibri"/>
                <a:sym typeface="Calibri"/>
              </a:rPr>
              <a:t>RI Activity / Analyze</a:t>
            </a:r>
            <a:endParaRPr sz="1500"/>
          </a:p>
        </p:txBody>
      </p:sp>
      <p:sp>
        <p:nvSpPr>
          <p:cNvPr id="1167" name="Google Shape;1167;p103"/>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D.   </a:t>
            </a:r>
            <a:r>
              <a:rPr b="0" i="0" lang="en-ZA" sz="1900" u="none" cap="none" strike="noStrike">
                <a:solidFill>
                  <a:srgbClr val="6B6B6B"/>
                </a:solidFill>
                <a:latin typeface="Calibri"/>
                <a:ea typeface="Calibri"/>
                <a:cs typeface="Calibri"/>
                <a:sym typeface="Calibri"/>
              </a:rPr>
              <a:t>AI Activity / Organize</a:t>
            </a:r>
            <a:endParaRPr sz="15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pic>
        <p:nvPicPr>
          <p:cNvPr descr="image.jpg" id="1173" name="Google Shape;1173;p10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74" name="Google Shape;1174;p104"/>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10</a:t>
            </a:r>
            <a:r>
              <a:rPr b="0" i="0" lang="en-ZA" sz="2400" u="none" cap="none" strike="noStrike">
                <a:solidFill>
                  <a:srgbClr val="6B6B6B"/>
                </a:solidFill>
                <a:latin typeface="Georgia"/>
                <a:ea typeface="Georgia"/>
                <a:cs typeface="Georgia"/>
                <a:sym typeface="Georgia"/>
              </a:rPr>
              <a:t>  of 10  ·  AI or RI? Which level?</a:t>
            </a:r>
            <a:endParaRPr sz="1500"/>
          </a:p>
        </p:txBody>
      </p:sp>
      <p:sp>
        <p:nvSpPr>
          <p:cNvPr id="1175" name="Google Shape;1175;p104"/>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“Map the stakeholders affected by a gendered chatbot deployed by a Nigerian bank. Design a two-page community engagement plan.”</a:t>
            </a:r>
            <a:endParaRPr sz="1500"/>
          </a:p>
        </p:txBody>
      </p:sp>
      <p:sp>
        <p:nvSpPr>
          <p:cNvPr id="1176" name="Google Shape;1176;p104"/>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A.   </a:t>
            </a:r>
            <a:r>
              <a:rPr b="0" i="0" lang="en-ZA" sz="1900" u="none" cap="none" strike="noStrike">
                <a:solidFill>
                  <a:srgbClr val="2C1458"/>
                </a:solidFill>
                <a:latin typeface="Calibri"/>
                <a:ea typeface="Calibri"/>
                <a:cs typeface="Calibri"/>
                <a:sym typeface="Calibri"/>
              </a:rPr>
              <a:t>AI Activity / Create</a:t>
            </a:r>
            <a:endParaRPr sz="1500"/>
          </a:p>
        </p:txBody>
      </p:sp>
      <p:sp>
        <p:nvSpPr>
          <p:cNvPr id="1177" name="Google Shape;1177;p104"/>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B.   </a:t>
            </a:r>
            <a:r>
              <a:rPr b="0" i="0" lang="en-ZA" sz="1900" u="none" cap="none" strike="noStrike">
                <a:solidFill>
                  <a:srgbClr val="2C1458"/>
                </a:solidFill>
                <a:latin typeface="Calibri"/>
                <a:ea typeface="Calibri"/>
                <a:cs typeface="Calibri"/>
                <a:sym typeface="Calibri"/>
              </a:rPr>
              <a:t>RI Activity / Respond</a:t>
            </a:r>
            <a:endParaRPr sz="1500"/>
          </a:p>
        </p:txBody>
      </p:sp>
      <p:sp>
        <p:nvSpPr>
          <p:cNvPr id="1178" name="Google Shape;1178;p104"/>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C.   </a:t>
            </a:r>
            <a:r>
              <a:rPr b="0" i="0" lang="en-ZA" sz="1900" u="none" cap="none" strike="noStrike">
                <a:solidFill>
                  <a:srgbClr val="2C1458"/>
                </a:solidFill>
                <a:latin typeface="Calibri"/>
                <a:ea typeface="Calibri"/>
                <a:cs typeface="Calibri"/>
                <a:sym typeface="Calibri"/>
              </a:rPr>
              <a:t>RI Activity / Value</a:t>
            </a:r>
            <a:endParaRPr sz="1500"/>
          </a:p>
        </p:txBody>
      </p:sp>
      <p:sp>
        <p:nvSpPr>
          <p:cNvPr id="1179" name="Google Shape;1179;p104"/>
          <p:cNvSpPr/>
          <p:nvPr/>
        </p:nvSpPr>
        <p:spPr>
          <a:xfrm>
            <a:off x="633679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2C1458"/>
                </a:solidFill>
                <a:latin typeface="Calibri"/>
                <a:ea typeface="Calibri"/>
                <a:cs typeface="Calibri"/>
                <a:sym typeface="Calibri"/>
              </a:rPr>
              <a:t>D.   </a:t>
            </a:r>
            <a:r>
              <a:rPr b="0" i="0" lang="en-ZA" sz="1900" u="none" cap="none" strike="noStrike">
                <a:solidFill>
                  <a:srgbClr val="2C1458"/>
                </a:solidFill>
                <a:latin typeface="Calibri"/>
                <a:ea typeface="Calibri"/>
                <a:cs typeface="Calibri"/>
                <a:sym typeface="Calibri"/>
              </a:rPr>
              <a:t>RI Activity / Organize</a:t>
            </a:r>
            <a:endParaRPr sz="15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pic>
        <p:nvPicPr>
          <p:cNvPr descr="image.jpg" id="1185" name="Google Shape;1185;p10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86" name="Google Shape;1186;p105"/>
          <p:cNvSpPr/>
          <p:nvPr/>
        </p:nvSpPr>
        <p:spPr>
          <a:xfrm>
            <a:off x="484632" y="502920"/>
            <a:ext cx="11219700" cy="686100"/>
          </a:xfrm>
          <a:prstGeom prst="roundRect">
            <a:avLst>
              <a:gd fmla="val 16667" name="adj"/>
            </a:avLst>
          </a:prstGeom>
          <a:no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4000" u="none" cap="none" strike="noStrike">
                <a:solidFill>
                  <a:srgbClr val="2C1458"/>
                </a:solidFill>
                <a:latin typeface="Georgia"/>
                <a:ea typeface="Georgia"/>
                <a:cs typeface="Georgia"/>
                <a:sym typeface="Georgia"/>
              </a:rPr>
              <a:t>Question 10</a:t>
            </a:r>
            <a:r>
              <a:rPr b="1" i="0" lang="en-ZA" sz="4000" u="none" cap="none" strike="noStrike">
                <a:solidFill>
                  <a:srgbClr val="15803D"/>
                </a:solidFill>
                <a:latin typeface="Georgia"/>
                <a:ea typeface="Georgia"/>
                <a:cs typeface="Georgia"/>
                <a:sym typeface="Georgia"/>
              </a:rPr>
              <a:t>  ·  Answer</a:t>
            </a:r>
            <a:endParaRPr sz="1500"/>
          </a:p>
        </p:txBody>
      </p:sp>
      <p:sp>
        <p:nvSpPr>
          <p:cNvPr id="1187" name="Google Shape;1187;p105"/>
          <p:cNvSpPr/>
          <p:nvPr/>
        </p:nvSpPr>
        <p:spPr>
          <a:xfrm>
            <a:off x="484632" y="1417320"/>
            <a:ext cx="11219700" cy="1691700"/>
          </a:xfrm>
          <a:prstGeom prst="roundRect">
            <a:avLst>
              <a:gd fmla="val 16667" name="adj"/>
            </a:avLst>
          </a:prstGeom>
          <a:solidFill>
            <a:srgbClr val="FFFFFF"/>
          </a:solidFill>
          <a:ln>
            <a:noFill/>
          </a:ln>
        </p:spPr>
        <p:txBody>
          <a:bodyPr anchorCtr="0" anchor="ctr" bIns="36575" lIns="274300" spcFirstLastPara="1" rIns="274300" wrap="square" tIns="36575">
            <a:noAutofit/>
          </a:bodyPr>
          <a:lstStyle/>
          <a:p>
            <a:pPr indent="0" lvl="0" marL="0" marR="0" rtl="0" algn="l">
              <a:lnSpc>
                <a:spcPct val="100000"/>
              </a:lnSpc>
              <a:spcBef>
                <a:spcPts val="0"/>
              </a:spcBef>
              <a:spcAft>
                <a:spcPts val="0"/>
              </a:spcAft>
              <a:buNone/>
            </a:pPr>
            <a:r>
              <a:rPr b="0" i="0" lang="en-ZA" sz="2000" u="none" cap="none" strike="noStrike">
                <a:solidFill>
                  <a:srgbClr val="2D2D2D"/>
                </a:solidFill>
                <a:latin typeface="Georgia"/>
                <a:ea typeface="Georgia"/>
                <a:cs typeface="Georgia"/>
                <a:sym typeface="Georgia"/>
              </a:rPr>
              <a:t>“Map the stakeholders affected by a gendered chatbot deployed by a Nigerian bank. Design a two-page community engagement plan.”</a:t>
            </a:r>
            <a:endParaRPr sz="1500"/>
          </a:p>
        </p:txBody>
      </p:sp>
      <p:sp>
        <p:nvSpPr>
          <p:cNvPr id="1188" name="Google Shape;1188;p105"/>
          <p:cNvSpPr/>
          <p:nvPr/>
        </p:nvSpPr>
        <p:spPr>
          <a:xfrm>
            <a:off x="48463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A.   </a:t>
            </a:r>
            <a:r>
              <a:rPr b="0" i="0" lang="en-ZA" sz="1900" u="none" cap="none" strike="noStrike">
                <a:solidFill>
                  <a:srgbClr val="6B6B6B"/>
                </a:solidFill>
                <a:latin typeface="Calibri"/>
                <a:ea typeface="Calibri"/>
                <a:cs typeface="Calibri"/>
                <a:sym typeface="Calibri"/>
              </a:rPr>
              <a:t>AI Activity / Create</a:t>
            </a:r>
            <a:endParaRPr sz="1500"/>
          </a:p>
        </p:txBody>
      </p:sp>
      <p:sp>
        <p:nvSpPr>
          <p:cNvPr id="1189" name="Google Shape;1189;p105"/>
          <p:cNvSpPr/>
          <p:nvPr/>
        </p:nvSpPr>
        <p:spPr>
          <a:xfrm>
            <a:off x="6336792" y="342900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B.   </a:t>
            </a:r>
            <a:r>
              <a:rPr b="0" i="0" lang="en-ZA" sz="1900" u="none" cap="none" strike="noStrike">
                <a:solidFill>
                  <a:srgbClr val="6B6B6B"/>
                </a:solidFill>
                <a:latin typeface="Calibri"/>
                <a:ea typeface="Calibri"/>
                <a:cs typeface="Calibri"/>
                <a:sym typeface="Calibri"/>
              </a:rPr>
              <a:t>RI Activity / Respond</a:t>
            </a:r>
            <a:endParaRPr sz="1500"/>
          </a:p>
        </p:txBody>
      </p:sp>
      <p:sp>
        <p:nvSpPr>
          <p:cNvPr id="1190" name="Google Shape;1190;p105"/>
          <p:cNvSpPr/>
          <p:nvPr/>
        </p:nvSpPr>
        <p:spPr>
          <a:xfrm>
            <a:off x="484632" y="4434840"/>
            <a:ext cx="5367600" cy="777300"/>
          </a:xfrm>
          <a:prstGeom prst="roundRect">
            <a:avLst>
              <a:gd fmla="val 16667" name="adj"/>
            </a:avLst>
          </a:prstGeom>
          <a:solidFill>
            <a:srgbClr val="F4F2F8"/>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6B6B6B"/>
                </a:solidFill>
                <a:latin typeface="Calibri"/>
                <a:ea typeface="Calibri"/>
                <a:cs typeface="Calibri"/>
                <a:sym typeface="Calibri"/>
              </a:rPr>
              <a:t>C.   </a:t>
            </a:r>
            <a:r>
              <a:rPr b="0" i="0" lang="en-ZA" sz="1900" u="none" cap="none" strike="noStrike">
                <a:solidFill>
                  <a:srgbClr val="6B6B6B"/>
                </a:solidFill>
                <a:latin typeface="Calibri"/>
                <a:ea typeface="Calibri"/>
                <a:cs typeface="Calibri"/>
                <a:sym typeface="Calibri"/>
              </a:rPr>
              <a:t>RI Activity / Value</a:t>
            </a:r>
            <a:endParaRPr sz="1500"/>
          </a:p>
        </p:txBody>
      </p:sp>
      <p:sp>
        <p:nvSpPr>
          <p:cNvPr id="1191" name="Google Shape;1191;p105"/>
          <p:cNvSpPr/>
          <p:nvPr/>
        </p:nvSpPr>
        <p:spPr>
          <a:xfrm>
            <a:off x="6336792" y="4434840"/>
            <a:ext cx="5367600" cy="777300"/>
          </a:xfrm>
          <a:prstGeom prst="roundRect">
            <a:avLst>
              <a:gd fmla="val 16667" name="adj"/>
            </a:avLst>
          </a:prstGeom>
          <a:solidFill>
            <a:srgbClr val="15803D"/>
          </a:solidFill>
          <a:ln>
            <a:noFill/>
          </a:ln>
        </p:spPr>
        <p:txBody>
          <a:bodyPr anchorCtr="0" anchor="ctr" bIns="36575" lIns="137175" spcFirstLastPara="1" rIns="137175" wrap="square" tIns="36575">
            <a:noAutofit/>
          </a:bodyPr>
          <a:lstStyle/>
          <a:p>
            <a:pPr indent="0" lvl="0" marL="0" marR="0" rtl="0" algn="l">
              <a:lnSpc>
                <a:spcPct val="100000"/>
              </a:lnSpc>
              <a:spcBef>
                <a:spcPts val="0"/>
              </a:spcBef>
              <a:spcAft>
                <a:spcPts val="0"/>
              </a:spcAft>
              <a:buNone/>
            </a:pPr>
            <a:r>
              <a:rPr b="1" i="0" lang="en-ZA" sz="1900" u="none" cap="none" strike="noStrike">
                <a:solidFill>
                  <a:srgbClr val="FFFFFF"/>
                </a:solidFill>
                <a:latin typeface="Calibri"/>
                <a:ea typeface="Calibri"/>
                <a:cs typeface="Calibri"/>
                <a:sym typeface="Calibri"/>
              </a:rPr>
              <a:t>D.   ✓  RI Activity / Organize</a:t>
            </a:r>
            <a:endParaRPr sz="15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pic>
        <p:nvPicPr>
          <p:cNvPr id="1197" name="Google Shape;1197;p10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98" name="Google Shape;1198;p106"/>
          <p:cNvSpPr/>
          <p:nvPr/>
        </p:nvSpPr>
        <p:spPr>
          <a:xfrm>
            <a:off x="487680" y="1097273"/>
            <a:ext cx="10972800" cy="67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4000"/>
              <a:buFont typeface="Georgia"/>
              <a:buNone/>
            </a:pPr>
            <a:r>
              <a:rPr b="1" i="0" lang="en-ZA" sz="4000" u="none" cap="none" strike="noStrike">
                <a:solidFill>
                  <a:srgbClr val="2C1458"/>
                </a:solidFill>
                <a:latin typeface="Georgia"/>
                <a:ea typeface="Georgia"/>
                <a:cs typeface="Georgia"/>
                <a:sym typeface="Georgia"/>
              </a:rPr>
              <a:t>Three takeaways</a:t>
            </a:r>
            <a:endParaRPr b="0" i="0" sz="4000" u="none" cap="none" strike="noStrike">
              <a:solidFill>
                <a:schemeClr val="dk1"/>
              </a:solidFill>
              <a:latin typeface="Calibri"/>
              <a:ea typeface="Calibri"/>
              <a:cs typeface="Calibri"/>
              <a:sym typeface="Calibri"/>
            </a:endParaRPr>
          </a:p>
        </p:txBody>
      </p:sp>
      <p:sp>
        <p:nvSpPr>
          <p:cNvPr id="1199" name="Google Shape;1199;p106"/>
          <p:cNvSpPr/>
          <p:nvPr/>
        </p:nvSpPr>
        <p:spPr>
          <a:xfrm>
            <a:off x="487680" y="2499360"/>
            <a:ext cx="3657600" cy="35355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106"/>
          <p:cNvSpPr/>
          <p:nvPr/>
        </p:nvSpPr>
        <p:spPr>
          <a:xfrm>
            <a:off x="731520" y="2804160"/>
            <a:ext cx="3170100" cy="103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6100"/>
              <a:buFont typeface="Georgia"/>
              <a:buNone/>
            </a:pPr>
            <a:r>
              <a:rPr b="1" i="0" lang="en-ZA" sz="6100" u="none" cap="none" strike="noStrike">
                <a:solidFill>
                  <a:srgbClr val="2C1458"/>
                </a:solidFill>
                <a:latin typeface="Georgia"/>
                <a:ea typeface="Georgia"/>
                <a:cs typeface="Georgia"/>
                <a:sym typeface="Georgia"/>
              </a:rPr>
              <a:t>01</a:t>
            </a:r>
            <a:endParaRPr b="0" i="0" sz="6100" u="none" cap="none" strike="noStrike">
              <a:solidFill>
                <a:schemeClr val="dk1"/>
              </a:solidFill>
              <a:latin typeface="Calibri"/>
              <a:ea typeface="Calibri"/>
              <a:cs typeface="Calibri"/>
              <a:sym typeface="Calibri"/>
            </a:endParaRPr>
          </a:p>
        </p:txBody>
      </p:sp>
      <p:sp>
        <p:nvSpPr>
          <p:cNvPr id="1201" name="Google Shape;1201;p106"/>
          <p:cNvSpPr/>
          <p:nvPr/>
        </p:nvSpPr>
        <p:spPr>
          <a:xfrm>
            <a:off x="792480" y="3962400"/>
            <a:ext cx="30480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1458"/>
              </a:buClr>
              <a:buSzPts val="2000"/>
              <a:buFont typeface="Georgia"/>
              <a:buNone/>
            </a:pPr>
            <a:r>
              <a:rPr b="1" i="0" lang="en-ZA" sz="2000" u="none" cap="none" strike="noStrike">
                <a:solidFill>
                  <a:srgbClr val="2C1458"/>
                </a:solidFill>
                <a:latin typeface="Georgia"/>
                <a:ea typeface="Georgia"/>
                <a:cs typeface="Georgia"/>
                <a:sym typeface="Georgia"/>
              </a:rPr>
              <a:t>Two domains, both essential.</a:t>
            </a:r>
            <a:endParaRPr b="0" i="0" sz="2000" u="none" cap="none" strike="noStrike">
              <a:solidFill>
                <a:schemeClr val="dk1"/>
              </a:solidFill>
              <a:latin typeface="Calibri"/>
              <a:ea typeface="Calibri"/>
              <a:cs typeface="Calibri"/>
              <a:sym typeface="Calibri"/>
            </a:endParaRPr>
          </a:p>
        </p:txBody>
      </p:sp>
      <p:sp>
        <p:nvSpPr>
          <p:cNvPr id="1202" name="Google Shape;1202;p106"/>
          <p:cNvSpPr/>
          <p:nvPr/>
        </p:nvSpPr>
        <p:spPr>
          <a:xfrm>
            <a:off x="792480" y="4876800"/>
            <a:ext cx="3048000" cy="103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rPr b="0" i="0" lang="en-ZA" sz="1800" u="none" cap="none" strike="noStrike">
                <a:solidFill>
                  <a:srgbClr val="2D2D2D"/>
                </a:solidFill>
                <a:latin typeface="Calibri"/>
                <a:ea typeface="Calibri"/>
                <a:cs typeface="Calibri"/>
                <a:sym typeface="Calibri"/>
              </a:rPr>
              <a:t>AI activities build technical skill in the cognitive domain. RI activities build ethical reasoning in the affective domain.</a:t>
            </a:r>
            <a:endParaRPr b="0" i="0" sz="1800" u="none" cap="none" strike="noStrike">
              <a:solidFill>
                <a:schemeClr val="dk1"/>
              </a:solidFill>
              <a:latin typeface="Calibri"/>
              <a:ea typeface="Calibri"/>
              <a:cs typeface="Calibri"/>
              <a:sym typeface="Calibri"/>
            </a:endParaRPr>
          </a:p>
        </p:txBody>
      </p:sp>
      <p:sp>
        <p:nvSpPr>
          <p:cNvPr id="1203" name="Google Shape;1203;p106"/>
          <p:cNvSpPr/>
          <p:nvPr/>
        </p:nvSpPr>
        <p:spPr>
          <a:xfrm>
            <a:off x="4389120" y="2499360"/>
            <a:ext cx="3657600" cy="35355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106"/>
          <p:cNvSpPr/>
          <p:nvPr/>
        </p:nvSpPr>
        <p:spPr>
          <a:xfrm>
            <a:off x="4632960" y="2804160"/>
            <a:ext cx="3170100" cy="103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6100"/>
              <a:buFont typeface="Georgia"/>
              <a:buNone/>
            </a:pPr>
            <a:r>
              <a:rPr b="1" i="0" lang="en-ZA" sz="6100" u="none" cap="none" strike="noStrike">
                <a:solidFill>
                  <a:srgbClr val="2C1458"/>
                </a:solidFill>
                <a:latin typeface="Georgia"/>
                <a:ea typeface="Georgia"/>
                <a:cs typeface="Georgia"/>
                <a:sym typeface="Georgia"/>
              </a:rPr>
              <a:t>02</a:t>
            </a:r>
            <a:endParaRPr b="0" i="0" sz="6100" u="none" cap="none" strike="noStrike">
              <a:solidFill>
                <a:schemeClr val="dk1"/>
              </a:solidFill>
              <a:latin typeface="Calibri"/>
              <a:ea typeface="Calibri"/>
              <a:cs typeface="Calibri"/>
              <a:sym typeface="Calibri"/>
            </a:endParaRPr>
          </a:p>
        </p:txBody>
      </p:sp>
      <p:sp>
        <p:nvSpPr>
          <p:cNvPr id="1205" name="Google Shape;1205;p106"/>
          <p:cNvSpPr/>
          <p:nvPr/>
        </p:nvSpPr>
        <p:spPr>
          <a:xfrm>
            <a:off x="4693920" y="3962400"/>
            <a:ext cx="30480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1458"/>
              </a:buClr>
              <a:buSzPts val="2000"/>
              <a:buFont typeface="Georgia"/>
              <a:buNone/>
            </a:pPr>
            <a:r>
              <a:rPr b="1" i="0" lang="en-ZA" sz="2000" u="none" cap="none" strike="noStrike">
                <a:solidFill>
                  <a:srgbClr val="2C1458"/>
                </a:solidFill>
                <a:latin typeface="Georgia"/>
                <a:ea typeface="Georgia"/>
                <a:cs typeface="Georgia"/>
                <a:sym typeface="Georgia"/>
              </a:rPr>
              <a:t>Longer activities, higher levels.</a:t>
            </a:r>
            <a:endParaRPr b="0" i="0" sz="2000" u="none" cap="none" strike="noStrike">
              <a:solidFill>
                <a:schemeClr val="dk1"/>
              </a:solidFill>
              <a:latin typeface="Calibri"/>
              <a:ea typeface="Calibri"/>
              <a:cs typeface="Calibri"/>
              <a:sym typeface="Calibri"/>
            </a:endParaRPr>
          </a:p>
        </p:txBody>
      </p:sp>
      <p:sp>
        <p:nvSpPr>
          <p:cNvPr id="1206" name="Google Shape;1206;p106"/>
          <p:cNvSpPr/>
          <p:nvPr/>
        </p:nvSpPr>
        <p:spPr>
          <a:xfrm>
            <a:off x="4693920" y="4876800"/>
            <a:ext cx="3048000" cy="103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rPr b="0" i="0" lang="en-ZA" sz="1800" u="none" cap="none" strike="noStrike">
                <a:solidFill>
                  <a:srgbClr val="2D2D2D"/>
                </a:solidFill>
                <a:latin typeface="Calibri"/>
                <a:ea typeface="Calibri"/>
                <a:cs typeface="Calibri"/>
                <a:sym typeface="Calibri"/>
              </a:rPr>
              <a:t>Bloom has two relevant domains: cognitive for AI, affective for RI. Longer activities target higher levels in both.</a:t>
            </a:r>
            <a:endParaRPr b="0" i="0" sz="1800" u="none" cap="none" strike="noStrike">
              <a:solidFill>
                <a:schemeClr val="dk1"/>
              </a:solidFill>
              <a:latin typeface="Calibri"/>
              <a:ea typeface="Calibri"/>
              <a:cs typeface="Calibri"/>
              <a:sym typeface="Calibri"/>
            </a:endParaRPr>
          </a:p>
        </p:txBody>
      </p:sp>
      <p:sp>
        <p:nvSpPr>
          <p:cNvPr id="1207" name="Google Shape;1207;p106"/>
          <p:cNvSpPr/>
          <p:nvPr/>
        </p:nvSpPr>
        <p:spPr>
          <a:xfrm>
            <a:off x="8290560" y="2499360"/>
            <a:ext cx="3657600" cy="3535500"/>
          </a:xfrm>
          <a:prstGeom prst="rect">
            <a:avLst/>
          </a:prstGeom>
          <a:solidFill>
            <a:srgbClr val="FFFFFF"/>
          </a:solidFill>
          <a:ln cap="flat" cmpd="sng" w="16925">
            <a:solidFill>
              <a:srgbClr val="E0DDE8"/>
            </a:solidFill>
            <a:prstDash val="solid"/>
            <a:round/>
            <a:headEnd len="sm" w="sm" type="none"/>
            <a:tailEnd len="sm" w="sm" type="none"/>
          </a:ln>
          <a:effectLst>
            <a:outerShdw blurRad="169333" rotWithShape="0" algn="bl" dir="5400000" dist="33867">
              <a:srgbClr val="000000">
                <a:alpha val="5882"/>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106"/>
          <p:cNvSpPr/>
          <p:nvPr/>
        </p:nvSpPr>
        <p:spPr>
          <a:xfrm>
            <a:off x="8534400" y="2804160"/>
            <a:ext cx="3170100" cy="103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458"/>
              </a:buClr>
              <a:buSzPts val="6100"/>
              <a:buFont typeface="Georgia"/>
              <a:buNone/>
            </a:pPr>
            <a:r>
              <a:rPr b="1" i="0" lang="en-ZA" sz="6100" u="none" cap="none" strike="noStrike">
                <a:solidFill>
                  <a:srgbClr val="2C1458"/>
                </a:solidFill>
                <a:latin typeface="Georgia"/>
                <a:ea typeface="Georgia"/>
                <a:cs typeface="Georgia"/>
                <a:sym typeface="Georgia"/>
              </a:rPr>
              <a:t>03</a:t>
            </a:r>
            <a:endParaRPr b="0" i="0" sz="6100" u="none" cap="none" strike="noStrike">
              <a:solidFill>
                <a:schemeClr val="dk1"/>
              </a:solidFill>
              <a:latin typeface="Calibri"/>
              <a:ea typeface="Calibri"/>
              <a:cs typeface="Calibri"/>
              <a:sym typeface="Calibri"/>
            </a:endParaRPr>
          </a:p>
        </p:txBody>
      </p:sp>
      <p:sp>
        <p:nvSpPr>
          <p:cNvPr id="1209" name="Google Shape;1209;p106"/>
          <p:cNvSpPr/>
          <p:nvPr/>
        </p:nvSpPr>
        <p:spPr>
          <a:xfrm>
            <a:off x="8595360" y="3962400"/>
            <a:ext cx="30480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1458"/>
              </a:buClr>
              <a:buSzPts val="2000"/>
              <a:buFont typeface="Georgia"/>
              <a:buNone/>
            </a:pPr>
            <a:r>
              <a:rPr b="1" i="0" lang="en-ZA" sz="2000" u="none" cap="none" strike="noStrike">
                <a:solidFill>
                  <a:srgbClr val="2C1458"/>
                </a:solidFill>
                <a:latin typeface="Georgia"/>
                <a:ea typeface="Georgia"/>
                <a:cs typeface="Georgia"/>
                <a:sym typeface="Georgia"/>
              </a:rPr>
              <a:t>Protect the pairing.</a:t>
            </a:r>
            <a:endParaRPr b="0" i="0" sz="2000" u="none" cap="none" strike="noStrike">
              <a:solidFill>
                <a:schemeClr val="dk1"/>
              </a:solidFill>
              <a:latin typeface="Calibri"/>
              <a:ea typeface="Calibri"/>
              <a:cs typeface="Calibri"/>
              <a:sym typeface="Calibri"/>
            </a:endParaRPr>
          </a:p>
        </p:txBody>
      </p:sp>
      <p:sp>
        <p:nvSpPr>
          <p:cNvPr id="1210" name="Google Shape;1210;p106"/>
          <p:cNvSpPr/>
          <p:nvPr/>
        </p:nvSpPr>
        <p:spPr>
          <a:xfrm>
            <a:off x="8595360" y="4876800"/>
            <a:ext cx="3048000" cy="103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D2D"/>
              </a:buClr>
              <a:buSzPts val="1500"/>
              <a:buFont typeface="Calibri"/>
              <a:buNone/>
            </a:pPr>
            <a:r>
              <a:rPr b="0" i="0" lang="en-ZA" sz="1800" u="none" cap="none" strike="noStrike">
                <a:solidFill>
                  <a:srgbClr val="2D2D2D"/>
                </a:solidFill>
                <a:latin typeface="Calibri"/>
                <a:ea typeface="Calibri"/>
                <a:cs typeface="Calibri"/>
                <a:sym typeface="Calibri"/>
              </a:rPr>
              <a:t>Every toolkit session pairs AI and RI intentionally. As facilitators, protect that pairing in your own course delivery.</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UCL AIMS Session 1">
      <a:dk1>
        <a:srgbClr val="000000"/>
      </a:dk1>
      <a:lt1>
        <a:srgbClr val="FFFFFF"/>
      </a:lt1>
      <a:dk2>
        <a:srgbClr val="361A54"/>
      </a:dk2>
      <a:lt2>
        <a:srgbClr val="E8E8E8"/>
      </a:lt2>
      <a:accent1>
        <a:srgbClr val="FDD633"/>
      </a:accent1>
      <a:accent2>
        <a:srgbClr val="E97132"/>
      </a:accent2>
      <a:accent3>
        <a:srgbClr val="BA82FF"/>
      </a:accent3>
      <a:accent4>
        <a:srgbClr val="993BFF"/>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UCL AIMS Session 1">
      <a:dk1>
        <a:srgbClr val="000000"/>
      </a:dk1>
      <a:lt1>
        <a:srgbClr val="FFFFFF"/>
      </a:lt1>
      <a:dk2>
        <a:srgbClr val="361A54"/>
      </a:dk2>
      <a:lt2>
        <a:srgbClr val="E8E8E8"/>
      </a:lt2>
      <a:accent1>
        <a:srgbClr val="FDD633"/>
      </a:accent1>
      <a:accent2>
        <a:srgbClr val="E97132"/>
      </a:accent2>
      <a:accent3>
        <a:srgbClr val="BA82FF"/>
      </a:accent3>
      <a:accent4>
        <a:srgbClr val="993BFF"/>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UCL AIMS Session 1">
      <a:dk1>
        <a:srgbClr val="000000"/>
      </a:dk1>
      <a:lt1>
        <a:srgbClr val="FFFFFF"/>
      </a:lt1>
      <a:dk2>
        <a:srgbClr val="361A54"/>
      </a:dk2>
      <a:lt2>
        <a:srgbClr val="E8E8E8"/>
      </a:lt2>
      <a:accent1>
        <a:srgbClr val="FDD633"/>
      </a:accent1>
      <a:accent2>
        <a:srgbClr val="E97132"/>
      </a:accent2>
      <a:accent3>
        <a:srgbClr val="BA82FF"/>
      </a:accent3>
      <a:accent4>
        <a:srgbClr val="993BFF"/>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